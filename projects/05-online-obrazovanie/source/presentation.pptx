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/>
  <p:notesSz cx="5143500" cy="9144000"/>
  <p:embeddedFontLst xmlns:r="http://schemas.openxmlformats.org/officeDocument/2006/relationships">
    <p:embeddedFont>
      <p:font typeface="Manrope" pitchFamily="34" charset="0"/>
      <p:regular r:id="rId27"/>
      <p:bold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Пятнадцать минут о том, что происходит с рынком, на котором мы работаем, и что из этого следует для нас. Все цифры – из открытых отраслевых данных, прогноз – наше собственное построение.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Прежде чем спорить о цифрах – договоримся, откуда они. Почти всё публичное поле пересказывает один источник: Smart Ranking. Разные методики дают разные размеры рынка, и путать их нельзя. Правило чтения: направления надёжны, абсолюты – плюс-минус несколько процентов.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Вся картина одним слайдом: рынок вырос до 154 миллиардов, но реальный рост около нуля. Структура перевернулась – теперь рынок везут дети и экзамены. Венчур ушёл. Дальше – каждая цифра подробно.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приём слайда: столбцы выручки бодро растут – но смотрите на красную линию темпа. Прирост упал с плюс семидесяти до плюс двенадцати процентов, а с поправкой на инфляцию рост нулевой: стагнация – это про скорость, не про сумму. Каждый год добавлял по ограничителю: уход рекламных площадок, дорогой кредит, охлаждение найма в ИТ. Forbes назвал первое полугодие 2025-го эдтех-рецессией.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Венчурные деньги ушли из отрасли почти полностью: с 38 сделок до 4. Покупатель бизнеса сменился: венчур платил за кратный рост, стратеги покупают позицию в экосистеме. Сделок мало, но каждая – стратегическая.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Мостик ко второй части. За пять лет выручка выросла в три и шесть десятых раза – но темп упал почти вшестеро. Дальше разбираем состав: какие сегменты везут рынок, а какие стоят.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рынка перевернулась. Зелёное растёт быстрее рынка, серое – медленнее, то есть в реальном выражении сжимается. Двигатель – экзамены и дети, тормоз – взрослые профессии, худший результат – бизнес-образование.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Двигатель рынка. Причины устойчивые: переток от репетиторов к платформам, конкуренция за места в вузах. Но и двигатель сбавляет обороты – платящая аудитория крупных городов в основном собрана. И внутри есть жертва: детское программирование ушло в минус.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Былое лицо рынка стоит четвёртый год подряд. Три причины: рассрочка стала недоступной, безработица рекордно низкая – нет мотива переучиваться, найм в ИТ охладел. Единственное быстрое течение внутри – обучение работе с самим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источника роста взамен вставшего ДПО. Первый – онлайн-дипломы: у курсов никогда не было диплома государственного образца, а с ним идут образовательные кредиты и отсрочка. Второй – корпоративное обучение: пока частник экономил, компании платили.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рассказывает историю рынка лучше текста. Наверху – Синергия на онлайн-дипломах. Skillbox, лидер тринадцати кварталов из шестнадцати, растёт на уровне инфляции, а в первом квартале 2026-го потерял одиннадцать процентов. За большинством строк – три экосистемы.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Дорогие курсы в России продаются в рассрочку, поэтому ставка 21 процент ударила по несущей конструкции. Зависимость от заёмных денег растёт с ценой: при чеке до 15 тысяч в рассрочку покупает один процент, при 120–200 тысячах – 35. Отсюда: пострадали именно дорогие программы.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Перелом ноября 2023-го: повторные покупки впервые принесли больше денег, чем новые клиенты. Причина – стоимость привлечения: рекламные каналы гибли четыре года подряд, остался Телеграм, и тот с перебоями. Покупатель приходит сам, через осознанный поиск.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Специального закона об онлайн-образовании нет – государство дожало отрасль смежными нормами. Самый болезненный фронт – реклама: весь блогерский инструментарий закрылся за два года. Плюс лицензии из формальности стали знаком качества, а приговоры инфобизнесу дочистили поле.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Количественных прогнозов на 2027-й не публикует никто – это наше собственное построение на пяти зависимостях, главная из которых – траектория ключевой ставки. Базовый сценарий: плюс семь-девять процентов в год, около 180 миллиардов к концу 2027-го. Даже оптимистичный сценарий не возвращает рынок к темпам 2021 года – это арифметика зрелости.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тезисов для нашей повестки. Предлагаю выбрать два-три и превратить их в решения сегодня: по удержанию, по каналам и по платёжной модели у нас есть конкретные развилки.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 для вопросов: прогноз по каждому сегменту с ключевым фактором.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в дискуссии всплывут широко цитируемые цифры – вот их реальный статус. Мы сознательно показываем кухню: так цифрам основной части можно доверять.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Опорный ряд целиком плюс четыре методики измерения одного и того же 2025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группы источников. По любой цифре готов назвать конкретную публикацию.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sv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sv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sv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sv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sv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svg"/><Relationship Id="rId29" Type="http://schemas.openxmlformats.org/officeDocument/2006/relationships/image" Target="../media/image-15-29.png"/><Relationship Id="rId30" Type="http://schemas.openxmlformats.org/officeDocument/2006/relationships/image" Target="../media/image-15-30.svg"/><Relationship Id="rId31" Type="http://schemas.openxmlformats.org/officeDocument/2006/relationships/image" Target="../media/image-15-31.png"/><Relationship Id="rId32" Type="http://schemas.openxmlformats.org/officeDocument/2006/relationships/image" Target="../media/image-15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sv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42A"/>
          </a:solidFill>
          <a:ln/>
        </p:spPr>
      </p:sp>
      <p:sp>
        <p:nvSpPr>
          <p:cNvPr id="4" name="Shape 3"/>
          <p:cNvSpPr/>
          <p:nvPr/>
        </p:nvSpPr>
        <p:spPr>
          <a:xfrm>
            <a:off x="619125" y="578644"/>
            <a:ext cx="85725" cy="85725"/>
          </a:xfrm>
          <a:prstGeom prst="roundRect">
            <a:avLst>
              <a:gd name="adj" fmla="val 22222"/>
            </a:avLst>
          </a:prstGeom>
          <a:solidFill>
            <a:srgbClr val="31B57E"/>
          </a:solidFill>
          <a:ln/>
        </p:spPr>
      </p:sp>
      <p:sp>
        <p:nvSpPr>
          <p:cNvPr id="5" name="TextBox 4"/>
          <p:cNvSpPr/>
          <p:nvPr/>
        </p:nvSpPr>
        <p:spPr>
          <a:xfrm>
            <a:off x="800100" y="523875"/>
            <a:ext cx="374030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СТРАТЕГИЧЕСКАЯ СЕССИЯ · ИЮЛЬ 2026</a:t>
            </a:r>
            <a:endParaRPr lang="en-US" sz="1125" dirty="0"/>
          </a:p>
        </p:txBody>
      </p:sp>
      <p:sp>
        <p:nvSpPr>
          <p:cNvPr id="6" name="TextBox 6"/>
          <p:cNvSpPr/>
          <p:nvPr/>
        </p:nvSpPr>
        <p:spPr>
          <a:xfrm>
            <a:off x="619125" y="1648420"/>
            <a:ext cx="7905750" cy="129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103"/>
              </a:lnSpc>
              <a:buNone/>
            </a:pPr>
            <a:r>
              <a:rPr lang="en-US" sz="4725" b="1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 онлайн-образования России</a:t>
            </a:r>
            <a:endParaRPr lang="en-US" sz="4725" dirty="0"/>
          </a:p>
        </p:txBody>
      </p:sp>
      <p:sp>
        <p:nvSpPr>
          <p:cNvPr id="7" name="TextBox 7"/>
          <p:cNvSpPr/>
          <p:nvPr/>
        </p:nvSpPr>
        <p:spPr>
          <a:xfrm>
            <a:off x="619125" y="3154114"/>
            <a:ext cx="790575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Итоги 2022–2025 и прогноз </a:t>
            </a:r>
            <a:r>
              <a:rPr lang="en-US" sz="1650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конца 2027 года</a:t>
            </a:r>
            <a:endParaRPr lang="en-US" sz="1650" dirty="0"/>
          </a:p>
        </p:txBody>
      </p:sp>
      <p:sp>
        <p:nvSpPr>
          <p:cNvPr id="8" name="Shape 8"/>
          <p:cNvSpPr/>
          <p:nvPr/>
        </p:nvSpPr>
        <p:spPr>
          <a:xfrm>
            <a:off x="619125" y="4376738"/>
            <a:ext cx="7905750" cy="338137"/>
          </a:xfrm>
          <a:prstGeom prst="rect">
            <a:avLst/>
          </a:prstGeom>
          <a:noFill/>
          <a:ln/>
        </p:spPr>
      </p:sp>
      <p:pic>
        <p:nvPicPr>
          <p:cNvPr id="9" name="Picture 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125" y="4376738"/>
            <a:ext cx="7905750" cy="338137"/>
          </a:xfrm>
          <a:prstGeom prst="rect">
            <a:avLst/>
          </a:prstGeom>
        </p:spPr>
      </p:pic>
      <p:sp>
        <p:nvSpPr>
          <p:cNvPr id="10" name="TextBox 9"/>
          <p:cNvSpPr/>
          <p:nvPr/>
        </p:nvSpPr>
        <p:spPr>
          <a:xfrm>
            <a:off x="619125" y="4533900"/>
            <a:ext cx="198204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Обзор для партнёров школы</a:t>
            </a:r>
            <a:endParaRPr lang="en-US" sz="1050" dirty="0"/>
          </a:p>
        </p:txBody>
      </p:sp>
      <p:sp>
        <p:nvSpPr>
          <p:cNvPr id="11" name="TextBox 10"/>
          <p:cNvSpPr/>
          <p:nvPr/>
        </p:nvSpPr>
        <p:spPr>
          <a:xfrm>
            <a:off x="6337474" y="4533900"/>
            <a:ext cx="24061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 · BusinesStat · ЦБ РФ</a:t>
            </a:r>
            <a:endParaRPr lang="en-US" sz="105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МЕТОДОЛОГИЯ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измеряют рынок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001000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Почти все публичные цифры восходят к одному источнику – рейтингу Smart Ranking. Согласие СМИ между собой – точность пересказа, а не независимое подтверждение.</a:t>
            </a:r>
            <a:endParaRPr lang="en-US" sz="975" dirty="0"/>
          </a:p>
        </p:txBody>
      </p:sp>
      <p:sp>
        <p:nvSpPr>
          <p:cNvPr id="7" name="!!m154"/>
          <p:cNvSpPr/>
          <p:nvPr/>
        </p:nvSpPr>
        <p:spPr>
          <a:xfrm>
            <a:off x="571500" y="1117253"/>
            <a:ext cx="800100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8" name="TextBox 8"/>
          <p:cNvSpPr/>
          <p:nvPr/>
        </p:nvSpPr>
        <p:spPr>
          <a:xfrm>
            <a:off x="709613" y="118869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Панель топ-100 Smart Ranking </a:t>
            </a: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– опорный ряд документа</a:t>
            </a:r>
            <a:endParaRPr lang="en-US" sz="975" dirty="0"/>
          </a:p>
        </p:txBody>
      </p:sp>
      <p:sp>
        <p:nvSpPr>
          <p:cNvPr id="9" name="TextBox 9"/>
          <p:cNvSpPr/>
          <p:nvPr/>
        </p:nvSpPr>
        <p:spPr>
          <a:xfrm>
            <a:off x="3471863" y="1243459"/>
            <a:ext cx="157162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~154 млрд ₽</a:t>
            </a:r>
            <a:endParaRPr lang="en-US" sz="1350" dirty="0"/>
          </a:p>
        </p:txBody>
      </p:sp>
      <p:sp>
        <p:nvSpPr>
          <p:cNvPr id="10" name="TextBox 10"/>
          <p:cNvSpPr/>
          <p:nvPr/>
        </p:nvSpPr>
        <p:spPr>
          <a:xfrm>
            <a:off x="4995863" y="1217786"/>
            <a:ext cx="343852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 крупнейших технологичных компаний; единственный регулярный замер</a:t>
            </a:r>
            <a:endParaRPr lang="en-US" sz="863" dirty="0"/>
          </a:p>
        </p:txBody>
      </p:sp>
      <p:sp>
        <p:nvSpPr>
          <p:cNvPr id="11" name="Shape 11"/>
          <p:cNvSpPr/>
          <p:nvPr/>
        </p:nvSpPr>
        <p:spPr>
          <a:xfrm>
            <a:off x="571500" y="1919139"/>
            <a:ext cx="8001000" cy="427583"/>
          </a:xfrm>
          <a:prstGeom prst="roundRect">
            <a:avLst>
              <a:gd name="adj" fmla="val 178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2" name="TextBox 12"/>
          <p:cNvSpPr/>
          <p:nvPr/>
        </p:nvSpPr>
        <p:spPr>
          <a:xfrm>
            <a:off x="709613" y="2047205"/>
            <a:ext cx="2933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Оборот рынка EdTech, BusinesStat</a:t>
            </a:r>
            <a:endParaRPr lang="en-US" sz="975" dirty="0"/>
          </a:p>
        </p:txBody>
      </p:sp>
      <p:sp>
        <p:nvSpPr>
          <p:cNvPr id="13" name="TextBox 13"/>
          <p:cNvSpPr/>
          <p:nvPr/>
        </p:nvSpPr>
        <p:spPr>
          <a:xfrm>
            <a:off x="3471863" y="2016249"/>
            <a:ext cx="157162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~166 млрд ₽</a:t>
            </a:r>
            <a:endParaRPr lang="en-US" sz="1350" dirty="0"/>
          </a:p>
        </p:txBody>
      </p:sp>
      <p:sp>
        <p:nvSpPr>
          <p:cNvPr id="14" name="TextBox 14"/>
          <p:cNvSpPr/>
          <p:nvPr/>
        </p:nvSpPr>
        <p:spPr>
          <a:xfrm>
            <a:off x="4995863" y="1990576"/>
            <a:ext cx="343852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Периметр шире – уровень на 8–14% выше, но динамика совпадает</a:t>
            </a:r>
            <a:endParaRPr lang="en-US" sz="863" dirty="0"/>
          </a:p>
        </p:txBody>
      </p:sp>
      <p:sp>
        <p:nvSpPr>
          <p:cNvPr id="15" name="Shape 15"/>
          <p:cNvSpPr/>
          <p:nvPr/>
        </p:nvSpPr>
        <p:spPr>
          <a:xfrm>
            <a:off x="571500" y="2662758"/>
            <a:ext cx="8001000" cy="427583"/>
          </a:xfrm>
          <a:prstGeom prst="roundRect">
            <a:avLst>
              <a:gd name="adj" fmla="val 178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16"/>
          <p:cNvSpPr/>
          <p:nvPr/>
        </p:nvSpPr>
        <p:spPr>
          <a:xfrm>
            <a:off x="709613" y="2790825"/>
            <a:ext cx="2933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Школы на платформе GetCourse</a:t>
            </a:r>
            <a:endParaRPr lang="en-US" sz="975" dirty="0"/>
          </a:p>
        </p:txBody>
      </p:sp>
      <p:sp>
        <p:nvSpPr>
          <p:cNvPr id="17" name="TextBox 17"/>
          <p:cNvSpPr/>
          <p:nvPr/>
        </p:nvSpPr>
        <p:spPr>
          <a:xfrm>
            <a:off x="3471863" y="2759869"/>
            <a:ext cx="157162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~158 млрд ₽</a:t>
            </a:r>
            <a:endParaRPr lang="en-US" sz="1350" dirty="0"/>
          </a:p>
        </p:txBody>
      </p:sp>
      <p:sp>
        <p:nvSpPr>
          <p:cNvPr id="18" name="TextBox 18"/>
          <p:cNvSpPr/>
          <p:nvPr/>
        </p:nvSpPr>
        <p:spPr>
          <a:xfrm>
            <a:off x="4995863" y="2734196"/>
            <a:ext cx="343852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«Длинный хвост» из десятков тысяч малых школ; в 2025-м впервые упал (−6%)</a:t>
            </a:r>
            <a:endParaRPr lang="en-US" sz="863" dirty="0"/>
          </a:p>
        </p:txBody>
      </p:sp>
      <p:sp>
        <p:nvSpPr>
          <p:cNvPr id="19" name="Shape 19"/>
          <p:cNvSpPr/>
          <p:nvPr/>
        </p:nvSpPr>
        <p:spPr>
          <a:xfrm>
            <a:off x="571500" y="3406453"/>
            <a:ext cx="800100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0" name="TextBox 20"/>
          <p:cNvSpPr/>
          <p:nvPr/>
        </p:nvSpPr>
        <p:spPr>
          <a:xfrm>
            <a:off x="709613" y="347789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Платные образовательные услуги, Росстат/ВШЭ</a:t>
            </a:r>
            <a:endParaRPr lang="en-US" sz="975" dirty="0"/>
          </a:p>
        </p:txBody>
      </p:sp>
      <p:sp>
        <p:nvSpPr>
          <p:cNvPr id="21" name="TextBox 21"/>
          <p:cNvSpPr/>
          <p:nvPr/>
        </p:nvSpPr>
        <p:spPr>
          <a:xfrm>
            <a:off x="3471863" y="3532659"/>
            <a:ext cx="157162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~1,29 трлн ₽</a:t>
            </a:r>
            <a:endParaRPr lang="en-US" sz="1350" dirty="0"/>
          </a:p>
        </p:txBody>
      </p:sp>
      <p:sp>
        <p:nvSpPr>
          <p:cNvPr id="22" name="TextBox 22"/>
          <p:cNvSpPr/>
          <p:nvPr/>
        </p:nvSpPr>
        <p:spPr>
          <a:xfrm>
            <a:off x="4995863" y="3506986"/>
            <a:ext cx="343852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Вся платная сфера, включая вузы и репетиторов; растёт лишь на ~3% в год</a:t>
            </a:r>
            <a:endParaRPr lang="en-US" sz="863" dirty="0"/>
          </a:p>
        </p:txBody>
      </p:sp>
      <p:sp>
        <p:nvSpPr>
          <p:cNvPr id="23" name="TextBox 23"/>
          <p:cNvSpPr/>
          <p:nvPr/>
        </p:nvSpPr>
        <p:spPr>
          <a:xfrm>
            <a:off x="571500" y="4208264"/>
            <a:ext cx="8001000" cy="439936"/>
          </a:xfrm>
          <a:prstGeom prst="roundRect">
            <a:avLst>
              <a:gd name="adj" fmla="val 17321"/>
            </a:avLst>
          </a:prstGeom>
          <a:solidFill>
            <a:srgbClr val="E7F4EE"/>
          </a:solidFill>
          <a:ln w="4763">
            <a:solidFill>
              <a:srgbClr val="BFE3D2"/>
            </a:solidFill>
            <a:prstDash val="solid"/>
          </a:ln>
        </p:spPr>
        <p:txBody>
          <a:bodyPr wrap="square" lIns="123825" tIns="66675" rIns="123825" bIns="66675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7563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читать цифры: направлениям и порядкам величин доверять можно, абсолютные значения точны с погрешностью в несколько процентов. Состав топ-100 пересматривается задним числом – сводка неувязок собрана в приложении Б.</a:t>
            </a:r>
            <a:endParaRPr lang="en-US" sz="900" dirty="0"/>
          </a:p>
        </p:txBody>
      </p:sp>
      <p:sp>
        <p:nvSpPr>
          <p:cNvPr id="24" name="Shape 24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5" name="Picture 2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6" name="TextBox 25"/>
          <p:cNvSpPr/>
          <p:nvPr/>
        </p:nvSpPr>
        <p:spPr>
          <a:xfrm>
            <a:off x="571500" y="4814888"/>
            <a:ext cx="428014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Источники: Smart Ranking · BusinesStat · GetCourse · Росстат/ВШЭ, 2025</a:t>
            </a:r>
            <a:endParaRPr lang="en-US" sz="900" dirty="0"/>
          </a:p>
        </p:txBody>
      </p:sp>
      <p:sp>
        <p:nvSpPr>
          <p:cNvPr id="27" name="TextBox 26"/>
          <p:cNvSpPr/>
          <p:nvPr/>
        </p:nvSpPr>
        <p:spPr>
          <a:xfrm>
            <a:off x="8232056" y="4814888"/>
            <a:ext cx="4004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СВОДКА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Главное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001000" cy="160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 прошёл путь от бума к зрелости: номинальный рост +10–12% при инфляции 8–10% – это почти остановка в реальном выражении.</a:t>
            </a:r>
            <a:endParaRPr lang="en-US" sz="975" dirty="0"/>
          </a:p>
        </p:txBody>
      </p:sp>
      <p:sp>
        <p:nvSpPr>
          <p:cNvPr id="7" name="!!m154"/>
          <p:cNvSpPr/>
          <p:nvPr/>
        </p:nvSpPr>
        <p:spPr>
          <a:xfrm>
            <a:off x="571500" y="956295"/>
            <a:ext cx="2622500" cy="1812578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8" name="TextBox 8"/>
          <p:cNvSpPr/>
          <p:nvPr/>
        </p:nvSpPr>
        <p:spPr>
          <a:xfrm>
            <a:off x="700088" y="1056308"/>
            <a:ext cx="260185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154 млрд ₽</a:t>
            </a:r>
            <a:endParaRPr lang="en-US" sz="1875" dirty="0"/>
          </a:p>
        </p:txBody>
      </p:sp>
      <p:sp>
        <p:nvSpPr>
          <p:cNvPr id="9" name="TextBox 9"/>
          <p:cNvSpPr/>
          <p:nvPr/>
        </p:nvSpPr>
        <p:spPr>
          <a:xfrm>
            <a:off x="700088" y="2384152"/>
            <a:ext cx="236532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топ-100 за 2025 год, ~+12%; в I кв. 2026-го темп снизился до +10,2%</a:t>
            </a:r>
            <a:endParaRPr lang="en-US" sz="863" dirty="0"/>
          </a:p>
        </p:txBody>
      </p:sp>
      <p:sp>
        <p:nvSpPr>
          <p:cNvPr id="10" name="Shape 10"/>
          <p:cNvSpPr/>
          <p:nvPr/>
        </p:nvSpPr>
        <p:spPr>
          <a:xfrm>
            <a:off x="3260675" y="956295"/>
            <a:ext cx="2622575" cy="1812578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1" name="TextBox 11"/>
          <p:cNvSpPr/>
          <p:nvPr/>
        </p:nvSpPr>
        <p:spPr>
          <a:xfrm>
            <a:off x="3389263" y="1056308"/>
            <a:ext cx="260194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36%</a:t>
            </a:r>
            <a:endParaRPr lang="en-US" sz="1875" dirty="0"/>
          </a:p>
        </p:txBody>
      </p:sp>
      <p:sp>
        <p:nvSpPr>
          <p:cNvPr id="12" name="TextBox 12"/>
          <p:cNvSpPr/>
          <p:nvPr/>
        </p:nvSpPr>
        <p:spPr>
          <a:xfrm>
            <a:off x="3389263" y="2241798"/>
            <a:ext cx="2365400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детское образование – впервые крупнейший сегмент; подготовка к ЕГЭ растёт на +50% в год</a:t>
            </a:r>
            <a:endParaRPr lang="en-US" sz="863" dirty="0"/>
          </a:p>
        </p:txBody>
      </p:sp>
      <p:sp>
        <p:nvSpPr>
          <p:cNvPr id="13" name="Shape 13"/>
          <p:cNvSpPr/>
          <p:nvPr/>
        </p:nvSpPr>
        <p:spPr>
          <a:xfrm>
            <a:off x="5949925" y="956295"/>
            <a:ext cx="2622575" cy="1812578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4" name="TextBox 14"/>
          <p:cNvSpPr/>
          <p:nvPr/>
        </p:nvSpPr>
        <p:spPr>
          <a:xfrm>
            <a:off x="6078513" y="1056308"/>
            <a:ext cx="260194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сделки</a:t>
            </a:r>
            <a:endParaRPr lang="en-US" sz="1875" dirty="0"/>
          </a:p>
        </p:txBody>
      </p:sp>
      <p:sp>
        <p:nvSpPr>
          <p:cNvPr id="15" name="TextBox 15"/>
          <p:cNvSpPr/>
          <p:nvPr/>
        </p:nvSpPr>
        <p:spPr>
          <a:xfrm>
            <a:off x="6078513" y="2241798"/>
            <a:ext cx="2365400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венчурных – за весь 2025 год, против 38 в 2020-м; место фондов заняли стратеги-экосистемы</a:t>
            </a:r>
            <a:endParaRPr lang="en-US" sz="863" dirty="0"/>
          </a:p>
        </p:txBody>
      </p:sp>
      <p:sp>
        <p:nvSpPr>
          <p:cNvPr id="16" name="Shape 16"/>
          <p:cNvSpPr/>
          <p:nvPr/>
        </p:nvSpPr>
        <p:spPr>
          <a:xfrm>
            <a:off x="571500" y="2835548"/>
            <a:ext cx="2622500" cy="1812652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7" name="TextBox 17"/>
          <p:cNvSpPr/>
          <p:nvPr/>
        </p:nvSpPr>
        <p:spPr>
          <a:xfrm>
            <a:off x="700088" y="2935560"/>
            <a:ext cx="260185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58%</a:t>
            </a:r>
            <a:endParaRPr lang="en-US" sz="1875" dirty="0"/>
          </a:p>
        </p:txBody>
      </p:sp>
      <p:sp>
        <p:nvSpPr>
          <p:cNvPr id="18" name="TextBox 18"/>
          <p:cNvSpPr/>
          <p:nvPr/>
        </p:nvSpPr>
        <p:spPr>
          <a:xfrm>
            <a:off x="700088" y="4121125"/>
            <a:ext cx="2365325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выручки массового рынка приносят повторные покупки – удержание вместо привлечения</a:t>
            </a:r>
            <a:endParaRPr lang="en-US" sz="863" dirty="0"/>
          </a:p>
        </p:txBody>
      </p:sp>
      <p:sp>
        <p:nvSpPr>
          <p:cNvPr id="19" name="Shape 19"/>
          <p:cNvSpPr/>
          <p:nvPr/>
        </p:nvSpPr>
        <p:spPr>
          <a:xfrm>
            <a:off x="3260675" y="2835548"/>
            <a:ext cx="2622575" cy="1812652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0" name="TextBox 20"/>
          <p:cNvSpPr/>
          <p:nvPr/>
        </p:nvSpPr>
        <p:spPr>
          <a:xfrm>
            <a:off x="3389263" y="2935560"/>
            <a:ext cx="260194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Смена лидера</a:t>
            </a:r>
            <a:endParaRPr lang="en-US" sz="1875" dirty="0"/>
          </a:p>
        </p:txBody>
      </p:sp>
      <p:sp>
        <p:nvSpPr>
          <p:cNvPr id="21" name="TextBox 21"/>
          <p:cNvSpPr/>
          <p:nvPr/>
        </p:nvSpPr>
        <p:spPr>
          <a:xfrm>
            <a:off x="3389263" y="4121125"/>
            <a:ext cx="2365400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«Синергия» обошла Skillbox благодаря онлайн-дипломам; покупатель стал рациональнее, и суды – на его стороне</a:t>
            </a:r>
            <a:endParaRPr lang="en-US" sz="863" dirty="0"/>
          </a:p>
        </p:txBody>
      </p:sp>
      <p:sp>
        <p:nvSpPr>
          <p:cNvPr id="22" name="Shape 22"/>
          <p:cNvSpPr/>
          <p:nvPr/>
        </p:nvSpPr>
        <p:spPr>
          <a:xfrm>
            <a:off x="5949925" y="2835548"/>
            <a:ext cx="2622575" cy="1812652"/>
          </a:xfrm>
          <a:prstGeom prst="roundRect">
            <a:avLst>
              <a:gd name="adj" fmla="val 4204"/>
            </a:avLst>
          </a:prstGeom>
          <a:solidFill>
            <a:srgbClr val="20242A"/>
          </a:solidFill>
          <a:ln/>
        </p:spPr>
      </p:sp>
      <p:sp>
        <p:nvSpPr>
          <p:cNvPr id="23" name="TextBox 23"/>
          <p:cNvSpPr/>
          <p:nvPr/>
        </p:nvSpPr>
        <p:spPr>
          <a:xfrm>
            <a:off x="6073750" y="2930798"/>
            <a:ext cx="261241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~180 млрд ₽</a:t>
            </a:r>
            <a:endParaRPr lang="en-US" sz="1875" dirty="0"/>
          </a:p>
        </p:txBody>
      </p:sp>
      <p:sp>
        <p:nvSpPr>
          <p:cNvPr id="24" name="TextBox 24"/>
          <p:cNvSpPr/>
          <p:nvPr/>
        </p:nvSpPr>
        <p:spPr>
          <a:xfrm>
            <a:off x="6073750" y="4125888"/>
            <a:ext cx="2374925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наш базовый прогноз к концу 2027-го: +7–9% в год номинально, +2–4% в реальном выражении</a:t>
            </a:r>
            <a:endParaRPr lang="en-US" sz="863" dirty="0"/>
          </a:p>
        </p:txBody>
      </p:sp>
      <p:sp>
        <p:nvSpPr>
          <p:cNvPr id="25" name="Shape 25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6" name="Picture 25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7" name="TextBox 26"/>
          <p:cNvSpPr/>
          <p:nvPr/>
        </p:nvSpPr>
        <p:spPr>
          <a:xfrm>
            <a:off x="571500" y="4814888"/>
            <a:ext cx="45096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Источники: Smart Ranking, 2025–2026 · расчёты автора (раздел «Прогноз»)</a:t>
            </a:r>
            <a:endParaRPr lang="en-US" sz="900" dirty="0"/>
          </a:p>
        </p:txBody>
      </p:sp>
      <p:sp>
        <p:nvSpPr>
          <p:cNvPr id="28" name="TextBox 27"/>
          <p:cNvSpPr/>
          <p:nvPr/>
        </p:nvSpPr>
        <p:spPr>
          <a:xfrm>
            <a:off x="8233990" y="4814888"/>
            <a:ext cx="39851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468409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468409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Динамика рынка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4684097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замедлился с +70% (2021) до ~+12% (2025)*: от бума – к стагнации</a:t>
            </a:r>
            <a:endParaRPr lang="en-US" sz="975" dirty="0"/>
          </a:p>
        </p:txBody>
      </p:sp>
      <p:sp>
        <p:nvSpPr>
          <p:cNvPr id="7" name="!!m154"/>
          <p:cNvSpPr/>
          <p:nvPr/>
        </p:nvSpPr>
        <p:spPr>
          <a:xfrm>
            <a:off x="7382076" y="365745"/>
            <a:ext cx="11904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+10,2%</a:t>
            </a:r>
            <a:endParaRPr lang="en-US" sz="1725" dirty="0"/>
          </a:p>
        </p:txBody>
      </p:sp>
      <p:sp>
        <p:nvSpPr>
          <p:cNvPr id="8" name="TextBox 9"/>
          <p:cNvSpPr/>
          <p:nvPr/>
        </p:nvSpPr>
        <p:spPr>
          <a:xfrm>
            <a:off x="7382076" y="694358"/>
            <a:ext cx="119042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кв. 2026, год к году</a:t>
            </a:r>
            <a:endParaRPr lang="en-US" sz="900" dirty="0"/>
          </a:p>
        </p:txBody>
      </p:sp>
      <p:pic>
        <p:nvPicPr>
          <p:cNvPr id="9" name="Picture 1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46770"/>
            <a:ext cx="5791200" cy="3253755"/>
          </a:xfrm>
          <a:prstGeom prst="rect">
            <a:avLst/>
          </a:prstGeom>
        </p:spPr>
      </p:pic>
      <p:pic>
        <p:nvPicPr>
          <p:cNvPr id="10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092" y="2983260"/>
            <a:ext cx="626566" cy="639366"/>
          </a:xfrm>
          <a:prstGeom prst="rect">
            <a:avLst/>
          </a:prstGeom>
        </p:spPr>
      </p:pic>
      <p:pic>
        <p:nvPicPr>
          <p:cNvPr id="11" name="Picture 1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8466" y="2543696"/>
            <a:ext cx="626566" cy="1078929"/>
          </a:xfrm>
          <a:prstGeom prst="rect">
            <a:avLst/>
          </a:prstGeom>
        </p:spPr>
      </p:pic>
      <p:pic>
        <p:nvPicPr>
          <p:cNvPr id="12" name="Picture 1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07841" y="2338611"/>
            <a:ext cx="626566" cy="1284015"/>
          </a:xfrm>
          <a:prstGeom prst="rect">
            <a:avLst/>
          </a:prstGeom>
        </p:spPr>
      </p:pic>
      <p:pic>
        <p:nvPicPr>
          <p:cNvPr id="13" name="Picture 1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57290" y="1877244"/>
            <a:ext cx="626566" cy="1745382"/>
          </a:xfrm>
          <a:prstGeom prst="rect">
            <a:avLst/>
          </a:prstGeom>
        </p:spPr>
      </p:pic>
      <p:pic>
        <p:nvPicPr>
          <p:cNvPr id="14" name="Picture 18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06664" y="1496095"/>
            <a:ext cx="626566" cy="2126531"/>
          </a:xfrm>
          <a:prstGeom prst="rect">
            <a:avLst/>
          </a:prstGeom>
        </p:spPr>
      </p:pic>
      <p:pic>
        <p:nvPicPr>
          <p:cNvPr id="15" name="Picture 1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56039" y="1357015"/>
            <a:ext cx="626566" cy="2265685"/>
          </a:xfrm>
          <a:prstGeom prst="rect">
            <a:avLst/>
          </a:prstGeom>
        </p:spPr>
      </p:pic>
      <p:pic>
        <p:nvPicPr>
          <p:cNvPr id="16" name="Picture 20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952774" y="1605260"/>
            <a:ext cx="3835450" cy="1689869"/>
          </a:xfrm>
          <a:prstGeom prst="rect">
            <a:avLst/>
          </a:prstGeom>
        </p:spPr>
      </p:pic>
      <p:pic>
        <p:nvPicPr>
          <p:cNvPr id="17" name="Picture 21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905372" y="1557784"/>
            <a:ext cx="132904" cy="132904"/>
          </a:xfrm>
          <a:prstGeom prst="rect">
            <a:avLst/>
          </a:prstGeom>
        </p:spPr>
      </p:pic>
      <p:pic>
        <p:nvPicPr>
          <p:cNvPr id="18" name="Picture 22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854747" y="3038773"/>
            <a:ext cx="132904" cy="132904"/>
          </a:xfrm>
          <a:prstGeom prst="rect">
            <a:avLst/>
          </a:prstGeom>
        </p:spPr>
      </p:pic>
      <p:pic>
        <p:nvPicPr>
          <p:cNvPr id="19" name="Picture 23" descr="__type_ima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04121" y="2654275"/>
            <a:ext cx="132904" cy="132904"/>
          </a:xfrm>
          <a:prstGeom prst="rect">
            <a:avLst/>
          </a:prstGeom>
        </p:spPr>
      </p:pic>
      <p:pic>
        <p:nvPicPr>
          <p:cNvPr id="20" name="Picture 24" descr="__type_image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753496" y="3010346"/>
            <a:ext cx="132904" cy="132904"/>
          </a:xfrm>
          <a:prstGeom prst="rect">
            <a:avLst/>
          </a:prstGeom>
        </p:spPr>
      </p:pic>
      <p:pic>
        <p:nvPicPr>
          <p:cNvPr id="21" name="Picture 25" descr="__type_image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98108" y="3204939"/>
            <a:ext cx="142354" cy="142354"/>
          </a:xfrm>
          <a:prstGeom prst="rect">
            <a:avLst/>
          </a:prstGeom>
        </p:spPr>
      </p:pic>
      <p:pic>
        <p:nvPicPr>
          <p:cNvPr id="22" name="Picture 26" descr="__type_image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82130" y="1146497"/>
            <a:ext cx="579313" cy="489793"/>
          </a:xfrm>
          <a:prstGeom prst="rect">
            <a:avLst/>
          </a:prstGeom>
        </p:spPr>
      </p:pic>
      <p:pic>
        <p:nvPicPr>
          <p:cNvPr id="23" name="Picture 27" descr="__type_image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643560" y="2637011"/>
            <a:ext cx="555129" cy="489793"/>
          </a:xfrm>
          <a:prstGeom prst="rect">
            <a:avLst/>
          </a:prstGeom>
        </p:spPr>
      </p:pic>
      <p:pic>
        <p:nvPicPr>
          <p:cNvPr id="24" name="Picture 28" descr="__type_image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447306" y="2252514"/>
            <a:ext cx="846386" cy="489793"/>
          </a:xfrm>
          <a:prstGeom prst="rect">
            <a:avLst/>
          </a:prstGeom>
        </p:spPr>
      </p:pic>
      <p:pic>
        <p:nvPicPr>
          <p:cNvPr id="25" name="Picture 29" descr="__type_image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42383" y="2608511"/>
            <a:ext cx="554980" cy="489793"/>
          </a:xfrm>
          <a:prstGeom prst="rect">
            <a:avLst/>
          </a:prstGeom>
        </p:spPr>
      </p:pic>
      <p:pic>
        <p:nvPicPr>
          <p:cNvPr id="26" name="Picture 30" descr="__type_image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352455" y="2782193"/>
            <a:ext cx="833661" cy="527000"/>
          </a:xfrm>
          <a:prstGeom prst="rect">
            <a:avLst/>
          </a:prstGeom>
        </p:spPr>
      </p:pic>
      <p:sp>
        <p:nvSpPr>
          <p:cNvPr id="27" name="TextBox 34"/>
          <p:cNvSpPr/>
          <p:nvPr/>
        </p:nvSpPr>
        <p:spPr>
          <a:xfrm>
            <a:off x="722486" y="4300538"/>
            <a:ext cx="838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63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выручка, млрд ₽</a:t>
            </a:r>
            <a:endParaRPr lang="en-US" sz="863" dirty="0"/>
          </a:p>
        </p:txBody>
      </p:sp>
      <p:sp>
        <p:nvSpPr>
          <p:cNvPr id="28" name="Shape 33"/>
          <p:cNvSpPr/>
          <p:nvPr/>
        </p:nvSpPr>
        <p:spPr>
          <a:xfrm>
            <a:off x="571500" y="4400550"/>
            <a:ext cx="103361" cy="104775"/>
          </a:xfrm>
          <a:prstGeom prst="roundRect">
            <a:avLst>
              <a:gd name="adj" fmla="val 18431"/>
            </a:avLst>
          </a:prstGeom>
          <a:solidFill>
            <a:srgbClr val="9098A3"/>
          </a:solidFill>
          <a:ln/>
        </p:spPr>
      </p:sp>
      <p:sp>
        <p:nvSpPr>
          <p:cNvPr id="29" name="TextBox 37"/>
          <p:cNvSpPr/>
          <p:nvPr/>
        </p:nvSpPr>
        <p:spPr>
          <a:xfrm>
            <a:off x="1914748" y="4300538"/>
            <a:ext cx="13344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63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темп прироста, % год к году</a:t>
            </a:r>
            <a:endParaRPr lang="en-US" sz="863" dirty="0"/>
          </a:p>
        </p:txBody>
      </p:sp>
      <p:sp>
        <p:nvSpPr>
          <p:cNvPr id="30" name="Shape 36"/>
          <p:cNvSpPr/>
          <p:nvPr/>
        </p:nvSpPr>
        <p:spPr>
          <a:xfrm>
            <a:off x="1707431" y="4436269"/>
            <a:ext cx="159693" cy="33337"/>
          </a:xfrm>
          <a:prstGeom prst="roundRect">
            <a:avLst>
              <a:gd name="adj" fmla="val 50001"/>
            </a:avLst>
          </a:prstGeom>
          <a:solidFill>
            <a:srgbClr val="B4453A"/>
          </a:solidFill>
          <a:ln/>
        </p:spPr>
      </p:sp>
      <p:sp>
        <p:nvSpPr>
          <p:cNvPr id="31" name="TextBox 38"/>
          <p:cNvSpPr/>
          <p:nvPr/>
        </p:nvSpPr>
        <p:spPr>
          <a:xfrm>
            <a:off x="3521571" y="4248150"/>
            <a:ext cx="2841129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Поквартально 2025: </a:t>
            </a: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+16% → +10% → +12% → +10%</a:t>
            </a:r>
            <a:endParaRPr lang="en-US" sz="863" dirty="0"/>
          </a:p>
        </p:txBody>
      </p:sp>
      <p:sp>
        <p:nvSpPr>
          <p:cNvPr id="32" name="Shape 40"/>
          <p:cNvSpPr/>
          <p:nvPr/>
        </p:nvSpPr>
        <p:spPr>
          <a:xfrm>
            <a:off x="6572250" y="946770"/>
            <a:ext cx="2000250" cy="848618"/>
          </a:xfrm>
          <a:prstGeom prst="roundRect">
            <a:avLst>
              <a:gd name="adj" fmla="val 8979"/>
            </a:avLst>
          </a:prstGeom>
          <a:solidFill>
            <a:srgbClr val="20242A"/>
          </a:solidFill>
          <a:ln/>
        </p:spPr>
      </p:sp>
      <p:sp>
        <p:nvSpPr>
          <p:cNvPr id="33" name="TextBox 41"/>
          <p:cNvSpPr/>
          <p:nvPr/>
        </p:nvSpPr>
        <p:spPr>
          <a:xfrm>
            <a:off x="6696075" y="1042020"/>
            <a:ext cx="192786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39,1 млрд ₽</a:t>
            </a:r>
            <a:endParaRPr lang="en-US" sz="1650" dirty="0"/>
          </a:p>
        </p:txBody>
      </p:sp>
      <p:sp>
        <p:nvSpPr>
          <p:cNvPr id="34" name="TextBox 42"/>
          <p:cNvSpPr/>
          <p:nvPr/>
        </p:nvSpPr>
        <p:spPr>
          <a:xfrm>
            <a:off x="6696075" y="1365870"/>
            <a:ext cx="1892808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квартал 2026 года, +10,2% год к году</a:t>
            </a:r>
            <a:endParaRPr lang="en-US" sz="975" dirty="0"/>
          </a:p>
        </p:txBody>
      </p:sp>
      <p:sp>
        <p:nvSpPr>
          <p:cNvPr id="35" name="Shape 43"/>
          <p:cNvSpPr/>
          <p:nvPr/>
        </p:nvSpPr>
        <p:spPr>
          <a:xfrm>
            <a:off x="6572250" y="1852538"/>
            <a:ext cx="2000250" cy="950937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6" name="TextBox 44"/>
          <p:cNvSpPr/>
          <p:nvPr/>
        </p:nvSpPr>
        <p:spPr>
          <a:xfrm>
            <a:off x="6700838" y="1952551"/>
            <a:ext cx="19173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 из 100</a:t>
            </a:r>
            <a:endParaRPr lang="en-US" sz="1650" dirty="0"/>
          </a:p>
        </p:txBody>
      </p:sp>
      <p:sp>
        <p:nvSpPr>
          <p:cNvPr id="37" name="TextBox 45"/>
          <p:cNvSpPr/>
          <p:nvPr/>
        </p:nvSpPr>
        <p:spPr>
          <a:xfrm>
            <a:off x="6700838" y="2276401"/>
            <a:ext cx="1882521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компаний топ-100 выросли год к году – началось перераспределение долей</a:t>
            </a:r>
            <a:endParaRPr lang="en-US" sz="863" dirty="0"/>
          </a:p>
        </p:txBody>
      </p:sp>
      <p:sp>
        <p:nvSpPr>
          <p:cNvPr id="38" name="Shape 46"/>
          <p:cNvSpPr/>
          <p:nvPr/>
        </p:nvSpPr>
        <p:spPr>
          <a:xfrm>
            <a:off x="6572250" y="2860625"/>
            <a:ext cx="2000250" cy="179710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9" name="TextBox 47"/>
          <p:cNvSpPr/>
          <p:nvPr/>
        </p:nvSpPr>
        <p:spPr>
          <a:xfrm>
            <a:off x="6700838" y="3302050"/>
            <a:ext cx="1917382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Реальный рост – около нуля</a:t>
            </a:r>
            <a:endParaRPr lang="en-US" sz="938" dirty="0"/>
          </a:p>
        </p:txBody>
      </p:sp>
      <p:sp>
        <p:nvSpPr>
          <p:cNvPr id="40" name="TextBox 48"/>
          <p:cNvSpPr/>
          <p:nvPr/>
        </p:nvSpPr>
        <p:spPr>
          <a:xfrm>
            <a:off x="6700838" y="3504456"/>
            <a:ext cx="1882521" cy="711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Номинальные +10–12% при инфляции 8–10%. Forbes: первое полугодие 2025-го с поправкой на инфляцию – «эдтех-рецессия»</a:t>
            </a:r>
            <a:endParaRPr lang="en-US" sz="863" dirty="0"/>
          </a:p>
        </p:txBody>
      </p:sp>
      <p:sp>
        <p:nvSpPr>
          <p:cNvPr id="41" name="Shape 49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42" name="Picture 49" descr="__type_image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43" name="TextBox 50"/>
          <p:cNvSpPr/>
          <p:nvPr/>
        </p:nvSpPr>
        <p:spPr>
          <a:xfrm>
            <a:off x="571500" y="4814888"/>
            <a:ext cx="585534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топ-100, млрд ₽ · Smart Ranking, 2020–2026 · *об арифметике пары 154 и 144,5 млрд – приложение Б</a:t>
            </a:r>
            <a:endParaRPr lang="en-US" sz="900" dirty="0"/>
          </a:p>
        </p:txBody>
      </p:sp>
      <p:sp>
        <p:nvSpPr>
          <p:cNvPr id="44" name="TextBox 51"/>
          <p:cNvSpPr/>
          <p:nvPr/>
        </p:nvSpPr>
        <p:spPr>
          <a:xfrm>
            <a:off x="8229823" y="4814888"/>
            <a:ext cx="40267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50" fill="hold" accel="20000" decel="6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 accel="20000" de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 accel="20000" de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 accel="20000" de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50" fill="hold" accel="20000" decel="6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50" fill="hold" accel="20000" decel="6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50" fill="hold" accel="20000" decel="6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39551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395517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Инвестиции и сделки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3955174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Венчур ушёл, пришли стратеги: покупают не рост, а позицию</a:t>
            </a:r>
            <a:endParaRPr lang="en-US" sz="975" dirty="0"/>
          </a:p>
        </p:txBody>
      </p:sp>
      <p:sp>
        <p:nvSpPr>
          <p:cNvPr id="7" name="TextBox 8"/>
          <p:cNvSpPr/>
          <p:nvPr/>
        </p:nvSpPr>
        <p:spPr>
          <a:xfrm>
            <a:off x="6648815" y="365745"/>
            <a:ext cx="192368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 → 4</a:t>
            </a:r>
            <a:endParaRPr lang="en-US" sz="1725" dirty="0"/>
          </a:p>
        </p:txBody>
      </p:sp>
      <p:sp>
        <p:nvSpPr>
          <p:cNvPr id="8" name="TextBox 9"/>
          <p:cNvSpPr/>
          <p:nvPr/>
        </p:nvSpPr>
        <p:spPr>
          <a:xfrm>
            <a:off x="6648815" y="694358"/>
            <a:ext cx="192368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венчурных сделок, 2020 → 2025</a:t>
            </a:r>
            <a:endParaRPr lang="en-US" sz="900" dirty="0"/>
          </a:p>
        </p:txBody>
      </p:sp>
      <p:pic>
        <p:nvPicPr>
          <p:cNvPr id="9" name="Picture 1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46770"/>
            <a:ext cx="2952750" cy="3329955"/>
          </a:xfrm>
          <a:prstGeom prst="rect">
            <a:avLst/>
          </a:prstGeom>
        </p:spPr>
      </p:pic>
      <p:pic>
        <p:nvPicPr>
          <p:cNvPr id="10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695" y="1838548"/>
            <a:ext cx="357411" cy="1631752"/>
          </a:xfrm>
          <a:prstGeom prst="rect">
            <a:avLst/>
          </a:prstGeom>
        </p:spPr>
      </p:pic>
      <p:pic>
        <p:nvPicPr>
          <p:cNvPr id="11" name="Picture 1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9211" y="2009477"/>
            <a:ext cx="357411" cy="1460822"/>
          </a:xfrm>
          <a:prstGeom prst="rect">
            <a:avLst/>
          </a:prstGeom>
        </p:spPr>
      </p:pic>
      <p:pic>
        <p:nvPicPr>
          <p:cNvPr id="12" name="Picture 1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0866" y="2778770"/>
            <a:ext cx="357411" cy="691530"/>
          </a:xfrm>
          <a:prstGeom prst="rect">
            <a:avLst/>
          </a:prstGeom>
        </p:spPr>
      </p:pic>
      <p:pic>
        <p:nvPicPr>
          <p:cNvPr id="13" name="Picture 1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99382" y="2949699"/>
            <a:ext cx="357411" cy="520601"/>
          </a:xfrm>
          <a:prstGeom prst="rect">
            <a:avLst/>
          </a:prstGeom>
        </p:spPr>
      </p:pic>
      <p:pic>
        <p:nvPicPr>
          <p:cNvPr id="14" name="Picture 18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20963" y="3291632"/>
            <a:ext cx="357411" cy="178668"/>
          </a:xfrm>
          <a:prstGeom prst="rect">
            <a:avLst/>
          </a:prstGeom>
        </p:spPr>
      </p:pic>
      <p:pic>
        <p:nvPicPr>
          <p:cNvPr id="15" name="Picture 1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09479" y="3291632"/>
            <a:ext cx="357411" cy="178668"/>
          </a:xfrm>
          <a:prstGeom prst="rect">
            <a:avLst/>
          </a:prstGeom>
        </p:spPr>
      </p:pic>
      <p:sp>
        <p:nvSpPr>
          <p:cNvPr id="16" name="TextBox 23"/>
          <p:cNvSpPr/>
          <p:nvPr/>
        </p:nvSpPr>
        <p:spPr>
          <a:xfrm>
            <a:off x="723156" y="4314825"/>
            <a:ext cx="7327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Венчурные сделки</a:t>
            </a:r>
            <a:endParaRPr lang="en-US" sz="975" dirty="0"/>
          </a:p>
        </p:txBody>
      </p:sp>
      <p:sp>
        <p:nvSpPr>
          <p:cNvPr id="17" name="Shape 22"/>
          <p:cNvSpPr/>
          <p:nvPr/>
        </p:nvSpPr>
        <p:spPr>
          <a:xfrm>
            <a:off x="571500" y="4433888"/>
            <a:ext cx="104031" cy="104775"/>
          </a:xfrm>
          <a:prstGeom prst="roundRect">
            <a:avLst>
              <a:gd name="adj" fmla="val 18312"/>
            </a:avLst>
          </a:prstGeom>
          <a:solidFill>
            <a:srgbClr val="3D444D"/>
          </a:solidFill>
          <a:ln/>
        </p:spPr>
      </p:sp>
      <p:sp>
        <p:nvSpPr>
          <p:cNvPr id="18" name="TextBox 26"/>
          <p:cNvSpPr/>
          <p:nvPr/>
        </p:nvSpPr>
        <p:spPr>
          <a:xfrm>
            <a:off x="2135088" y="4314825"/>
            <a:ext cx="8062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Слияния и поглощения</a:t>
            </a:r>
            <a:endParaRPr lang="en-US" sz="975" dirty="0"/>
          </a:p>
        </p:txBody>
      </p:sp>
      <p:sp>
        <p:nvSpPr>
          <p:cNvPr id="19" name="Shape 25"/>
          <p:cNvSpPr/>
          <p:nvPr/>
        </p:nvSpPr>
        <p:spPr>
          <a:xfrm>
            <a:off x="1983432" y="4433888"/>
            <a:ext cx="104031" cy="104775"/>
          </a:xfrm>
          <a:prstGeom prst="roundRect">
            <a:avLst>
              <a:gd name="adj" fmla="val 18312"/>
            </a:avLst>
          </a:prstGeom>
          <a:solidFill>
            <a:srgbClr val="31B57E"/>
          </a:solidFill>
          <a:ln/>
        </p:spPr>
      </p:sp>
      <p:sp>
        <p:nvSpPr>
          <p:cNvPr id="20" name="TextBox 28"/>
          <p:cNvSpPr/>
          <p:nvPr/>
        </p:nvSpPr>
        <p:spPr>
          <a:xfrm>
            <a:off x="3733800" y="946770"/>
            <a:ext cx="53225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Каждая сделка 2024–2025 годов – стратегическая</a:t>
            </a:r>
            <a:endParaRPr lang="en-US" sz="975" dirty="0"/>
          </a:p>
        </p:txBody>
      </p:sp>
      <p:sp>
        <p:nvSpPr>
          <p:cNvPr id="21" name="Shape 29"/>
          <p:cNvSpPr/>
          <p:nvPr/>
        </p:nvSpPr>
        <p:spPr>
          <a:xfrm>
            <a:off x="3733800" y="1175370"/>
            <a:ext cx="4838700" cy="57574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2" name="TextBox 30"/>
          <p:cNvSpPr/>
          <p:nvPr/>
        </p:nvSpPr>
        <p:spPr>
          <a:xfrm>
            <a:off x="3890962" y="1294433"/>
            <a:ext cx="49768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Сбербанк → «Нетология» и «Фоксфорд»</a:t>
            </a:r>
            <a:endParaRPr lang="en-US" sz="938" dirty="0"/>
          </a:p>
        </p:txBody>
      </p:sp>
      <p:sp>
        <p:nvSpPr>
          <p:cNvPr id="23" name="TextBox 31"/>
          <p:cNvSpPr/>
          <p:nvPr/>
        </p:nvSpPr>
        <p:spPr>
          <a:xfrm>
            <a:off x="3890962" y="1489695"/>
            <a:ext cx="4976812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октябрь 2024, оценочно 4–6 млрд ₽; доля Сбера на рынке выросла с 1% до ~7%</a:t>
            </a:r>
            <a:endParaRPr lang="en-US" sz="863" dirty="0"/>
          </a:p>
        </p:txBody>
      </p:sp>
      <p:sp>
        <p:nvSpPr>
          <p:cNvPr id="24" name="Shape 32"/>
          <p:cNvSpPr/>
          <p:nvPr/>
        </p:nvSpPr>
        <p:spPr>
          <a:xfrm>
            <a:off x="3733800" y="1808262"/>
            <a:ext cx="4838700" cy="718096"/>
          </a:xfrm>
          <a:prstGeom prst="roundRect">
            <a:avLst>
              <a:gd name="adj" fmla="val 1061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5" name="TextBox 33"/>
          <p:cNvSpPr/>
          <p:nvPr/>
        </p:nvSpPr>
        <p:spPr>
          <a:xfrm>
            <a:off x="3890962" y="1927324"/>
            <a:ext cx="49768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Skyeng → 51% МАБиУ (университет и колледж)</a:t>
            </a:r>
            <a:endParaRPr lang="en-US" sz="938" dirty="0"/>
          </a:p>
        </p:txBody>
      </p:sp>
      <p:sp>
        <p:nvSpPr>
          <p:cNvPr id="26" name="TextBox 34"/>
          <p:cNvSpPr/>
          <p:nvPr/>
        </p:nvSpPr>
        <p:spPr>
          <a:xfrm>
            <a:off x="3890962" y="2122587"/>
            <a:ext cx="452437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сентябрь 2025: онлайн-школа впервые покупает классический вуз – вход в формальное образование</a:t>
            </a:r>
            <a:endParaRPr lang="en-US" sz="863" dirty="0"/>
          </a:p>
        </p:txBody>
      </p:sp>
      <p:sp>
        <p:nvSpPr>
          <p:cNvPr id="27" name="Shape 35"/>
          <p:cNvSpPr/>
          <p:nvPr/>
        </p:nvSpPr>
        <p:spPr>
          <a:xfrm>
            <a:off x="3733800" y="2583507"/>
            <a:ext cx="4838700" cy="57574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8" name="TextBox 36"/>
          <p:cNvSpPr/>
          <p:nvPr/>
        </p:nvSpPr>
        <p:spPr>
          <a:xfrm>
            <a:off x="3890962" y="2702570"/>
            <a:ext cx="49768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«Просвещение» → Eduson, Karpov Courses</a:t>
            </a:r>
            <a:endParaRPr lang="en-US" sz="938" dirty="0"/>
          </a:p>
        </p:txBody>
      </p:sp>
      <p:sp>
        <p:nvSpPr>
          <p:cNvPr id="29" name="TextBox 37"/>
          <p:cNvSpPr/>
          <p:nvPr/>
        </p:nvSpPr>
        <p:spPr>
          <a:xfrm>
            <a:off x="3890962" y="2897832"/>
            <a:ext cx="4976812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издательская группа входит в капитал онлайн-игроков – ставка вдолгую</a:t>
            </a:r>
            <a:endParaRPr lang="en-US" sz="863" dirty="0"/>
          </a:p>
        </p:txBody>
      </p:sp>
      <p:sp>
        <p:nvSpPr>
          <p:cNvPr id="30" name="TextBox 38"/>
          <p:cNvSpPr/>
          <p:nvPr/>
        </p:nvSpPr>
        <p:spPr>
          <a:xfrm>
            <a:off x="3733800" y="3216399"/>
            <a:ext cx="4838700" cy="427583"/>
          </a:xfrm>
          <a:prstGeom prst="roundRect">
            <a:avLst>
              <a:gd name="adj" fmla="val 17821"/>
            </a:avLst>
          </a:prstGeom>
          <a:solidFill>
            <a:srgbClr val="E7F4EE"/>
          </a:solidFill>
          <a:ln w="4763">
            <a:solidFill>
              <a:srgbClr val="BFE3D2"/>
            </a:solidFill>
            <a:prstDash val="solid"/>
          </a:ln>
        </p:spPr>
        <p:txBody>
          <a:bodyPr wrap="square" lIns="114300" tIns="66675" rIns="114300" bIns="66675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17563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IPO не случилось ни одного, хотя готовились четверо: Skillbox, «Синергия», Ultimate Education, Skyeng. Окно закрыто, пока деньги дороги.</a:t>
            </a:r>
            <a:endParaRPr lang="en-US" sz="863" dirty="0"/>
          </a:p>
        </p:txBody>
      </p:sp>
      <p:sp>
        <p:nvSpPr>
          <p:cNvPr id="31" name="Shape 39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32" name="Picture 39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33" name="TextBox 40"/>
          <p:cNvSpPr/>
          <p:nvPr/>
        </p:nvSpPr>
        <p:spPr>
          <a:xfrm>
            <a:off x="571500" y="4814888"/>
            <a:ext cx="413501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Сделок за год · Smart Ranking (январь 2026) · Forbes · «Коммерсантъ»</a:t>
            </a:r>
            <a:endParaRPr lang="en-US" sz="900" dirty="0"/>
          </a:p>
        </p:txBody>
      </p:sp>
      <p:sp>
        <p:nvSpPr>
          <p:cNvPr id="34" name="TextBox 41"/>
          <p:cNvSpPr/>
          <p:nvPr/>
        </p:nvSpPr>
        <p:spPr>
          <a:xfrm>
            <a:off x="8231237" y="4814888"/>
            <a:ext cx="4012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50" fill="hold" accel="20000" de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50" fill="hold" accel="20000" decel="6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 accel="20000" decel="6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42A"/>
          </a:solidFill>
          <a:ln/>
        </p:spPr>
      </p:sp>
      <p:sp>
        <p:nvSpPr>
          <p:cNvPr id="4" name="TextBox 2"/>
          <p:cNvSpPr/>
          <p:nvPr/>
        </p:nvSpPr>
        <p:spPr>
          <a:xfrm>
            <a:off x="3349228" y="884411"/>
            <a:ext cx="269009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spc="225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ЧАСТЬ ВТОРАЯ · СЕГМЕНТЫ</a:t>
            </a:r>
            <a:endParaRPr lang="en-US" sz="1050" dirty="0"/>
          </a:p>
        </p:txBody>
      </p:sp>
      <p:sp>
        <p:nvSpPr>
          <p:cNvPr id="5" name="TextBox 4"/>
          <p:cNvSpPr/>
          <p:nvPr/>
        </p:nvSpPr>
        <p:spPr>
          <a:xfrm>
            <a:off x="1477268" y="1293986"/>
            <a:ext cx="3089880" cy="141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300" kern="0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154</a:t>
            </a:r>
            <a:endParaRPr lang="en-US" sz="12375" dirty="0"/>
          </a:p>
        </p:txBody>
      </p:sp>
      <p:sp>
        <p:nvSpPr>
          <p:cNvPr id="6" name="TextBox 6"/>
          <p:cNvSpPr/>
          <p:nvPr/>
        </p:nvSpPr>
        <p:spPr>
          <a:xfrm>
            <a:off x="4457700" y="2298874"/>
            <a:ext cx="1088677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млрд ₽</a:t>
            </a:r>
            <a:endParaRPr lang="en-US" sz="2250" dirty="0"/>
          </a:p>
        </p:txBody>
      </p:sp>
      <p:sp>
        <p:nvSpPr>
          <p:cNvPr id="7" name="TextBox 7"/>
          <p:cNvSpPr/>
          <p:nvPr/>
        </p:nvSpPr>
        <p:spPr>
          <a:xfrm>
            <a:off x="4457700" y="2746549"/>
            <a:ext cx="108867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</a:t>
            </a:r>
            <a:endParaRPr lang="en-US" sz="1650" dirty="0"/>
          </a:p>
        </p:txBody>
      </p:sp>
      <p:pic>
        <p:nvPicPr>
          <p:cNvPr id="8" name="Picture 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8857" y="2495624"/>
            <a:ext cx="2047875" cy="536674"/>
          </a:xfrm>
          <a:prstGeom prst="rect">
            <a:avLst/>
          </a:prstGeom>
        </p:spPr>
      </p:pic>
      <p:pic>
        <p:nvPicPr>
          <p:cNvPr id="9" name="Picture 10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4913" y="2870448"/>
            <a:ext cx="239390" cy="141163"/>
          </a:xfrm>
          <a:prstGeom prst="rect">
            <a:avLst/>
          </a:prstGeom>
        </p:spPr>
      </p:pic>
      <p:pic>
        <p:nvPicPr>
          <p:cNvPr id="10" name="Picture 1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78128" y="2777133"/>
            <a:ext cx="239390" cy="234479"/>
          </a:xfrm>
          <a:prstGeom prst="rect">
            <a:avLst/>
          </a:prstGeom>
        </p:spPr>
      </p:pic>
      <p:pic>
        <p:nvPicPr>
          <p:cNvPr id="11" name="Picture 12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1418" y="2733824"/>
            <a:ext cx="239390" cy="277788"/>
          </a:xfrm>
          <a:prstGeom prst="rect">
            <a:avLst/>
          </a:prstGeom>
        </p:spPr>
      </p:pic>
      <p:pic>
        <p:nvPicPr>
          <p:cNvPr id="12" name="Picture 13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4707" y="2636341"/>
            <a:ext cx="239390" cy="375196"/>
          </a:xfrm>
          <a:prstGeom prst="rect">
            <a:avLst/>
          </a:prstGeom>
        </p:spPr>
      </p:pic>
      <p:pic>
        <p:nvPicPr>
          <p:cNvPr id="13" name="Picture 14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67996" y="2555825"/>
            <a:ext cx="239390" cy="455712"/>
          </a:xfrm>
          <a:prstGeom prst="rect">
            <a:avLst/>
          </a:prstGeom>
        </p:spPr>
      </p:pic>
      <p:pic>
        <p:nvPicPr>
          <p:cNvPr id="14" name="Picture 15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31286" y="2526581"/>
            <a:ext cx="239390" cy="485031"/>
          </a:xfrm>
          <a:prstGeom prst="rect">
            <a:avLst/>
          </a:prstGeom>
        </p:spPr>
      </p:pic>
      <p:sp>
        <p:nvSpPr>
          <p:cNvPr id="15" name="TextBox 17"/>
          <p:cNvSpPr/>
          <p:nvPr/>
        </p:nvSpPr>
        <p:spPr>
          <a:xfrm>
            <a:off x="1000125" y="3260899"/>
            <a:ext cx="71437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выросла в 3,6 раза – темп упал почти вшестеро</a:t>
            </a:r>
            <a:endParaRPr lang="en-US" sz="2100" dirty="0"/>
          </a:p>
        </p:txBody>
      </p:sp>
      <p:sp>
        <p:nvSpPr>
          <p:cNvPr id="16" name="TextBox 18"/>
          <p:cNvSpPr/>
          <p:nvPr/>
        </p:nvSpPr>
        <p:spPr>
          <a:xfrm>
            <a:off x="1409477" y="4080049"/>
            <a:ext cx="632497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Дальше – </a:t>
            </a:r>
            <a:r>
              <a:rPr lang="en-US" sz="1275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внутри</a:t>
            </a:r>
            <a:r>
              <a:rPr lang="en-US" sz="1275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сегменты, которые везут рынок, и сегменты, которые стоят</a:t>
            </a:r>
            <a:endParaRPr lang="en-US" sz="1275" dirty="0"/>
          </a:p>
        </p:txBody>
      </p:sp>
      <p:sp>
        <p:nvSpPr>
          <p:cNvPr id="17" name="TextBox 19"/>
          <p:cNvSpPr/>
          <p:nvPr/>
        </p:nvSpPr>
        <p:spPr>
          <a:xfrm>
            <a:off x="8512076" y="4814888"/>
            <a:ext cx="40617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6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438434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СЕГМЕНТЫ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438434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Карта сегментов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4384342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Темпы роста за 2025 год: кто везёт рынок, кто стоит, кто сжимается</a:t>
            </a:r>
            <a:endParaRPr lang="en-US" sz="975" dirty="0"/>
          </a:p>
        </p:txBody>
      </p:sp>
      <p:sp>
        <p:nvSpPr>
          <p:cNvPr id="7" name="TextBox 10"/>
          <p:cNvSpPr/>
          <p:nvPr/>
        </p:nvSpPr>
        <p:spPr>
          <a:xfrm>
            <a:off x="7486501" y="260970"/>
            <a:ext cx="10114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быстрее рынка</a:t>
            </a:r>
            <a:endParaRPr lang="en-US" sz="975" dirty="0"/>
          </a:p>
        </p:txBody>
      </p:sp>
      <p:sp>
        <p:nvSpPr>
          <p:cNvPr id="8" name="Shape 9"/>
          <p:cNvSpPr/>
          <p:nvPr/>
        </p:nvSpPr>
        <p:spPr>
          <a:xfrm>
            <a:off x="7324576" y="294308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31B57E"/>
          </a:solidFill>
          <a:ln/>
        </p:spPr>
      </p:sp>
      <p:sp>
        <p:nvSpPr>
          <p:cNvPr id="9" name="TextBox 13"/>
          <p:cNvSpPr/>
          <p:nvPr/>
        </p:nvSpPr>
        <p:spPr>
          <a:xfrm>
            <a:off x="7486501" y="470520"/>
            <a:ext cx="11945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медленнее рынка</a:t>
            </a:r>
            <a:endParaRPr lang="en-US" sz="975" dirty="0"/>
          </a:p>
        </p:txBody>
      </p:sp>
      <p:sp>
        <p:nvSpPr>
          <p:cNvPr id="10" name="Shape 12"/>
          <p:cNvSpPr/>
          <p:nvPr/>
        </p:nvSpPr>
        <p:spPr>
          <a:xfrm>
            <a:off x="7324576" y="503858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AAB2BA"/>
          </a:solidFill>
          <a:ln/>
        </p:spPr>
      </p:sp>
      <p:sp>
        <p:nvSpPr>
          <p:cNvPr id="11" name="TextBox 16"/>
          <p:cNvSpPr/>
          <p:nvPr/>
        </p:nvSpPr>
        <p:spPr>
          <a:xfrm>
            <a:off x="7486501" y="680070"/>
            <a:ext cx="5783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75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падение</a:t>
            </a:r>
            <a:endParaRPr lang="en-US" sz="975" dirty="0"/>
          </a:p>
        </p:txBody>
      </p:sp>
      <p:sp>
        <p:nvSpPr>
          <p:cNvPr id="12" name="Shape 15"/>
          <p:cNvSpPr/>
          <p:nvPr/>
        </p:nvSpPr>
        <p:spPr>
          <a:xfrm>
            <a:off x="7324576" y="713408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B4453A"/>
          </a:solidFill>
          <a:ln/>
        </p:spPr>
      </p:sp>
      <p:pic>
        <p:nvPicPr>
          <p:cNvPr id="13" name="Picture 1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37245"/>
            <a:ext cx="8001000" cy="3730005"/>
          </a:xfrm>
          <a:prstGeom prst="rect">
            <a:avLst/>
          </a:prstGeom>
        </p:spPr>
      </p:pic>
      <p:pic>
        <p:nvPicPr>
          <p:cNvPr id="14" name="Picture 19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1488" y="1168673"/>
            <a:ext cx="3581400" cy="228600"/>
          </a:xfrm>
          <a:prstGeom prst="rect">
            <a:avLst/>
          </a:prstGeom>
        </p:spPr>
      </p:pic>
      <p:pic>
        <p:nvPicPr>
          <p:cNvPr id="15" name="Picture 20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1488" y="1530623"/>
            <a:ext cx="2152650" cy="228600"/>
          </a:xfrm>
          <a:prstGeom prst="rect">
            <a:avLst/>
          </a:prstGeom>
        </p:spPr>
      </p:pic>
      <p:pic>
        <p:nvPicPr>
          <p:cNvPr id="16" name="Picture 21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1487" y="1892573"/>
            <a:ext cx="2333625" cy="228600"/>
          </a:xfrm>
          <a:prstGeom prst="rect">
            <a:avLst/>
          </a:prstGeom>
        </p:spPr>
      </p:pic>
      <p:pic>
        <p:nvPicPr>
          <p:cNvPr id="17" name="Picture 22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81488" y="2254523"/>
            <a:ext cx="1438275" cy="228600"/>
          </a:xfrm>
          <a:prstGeom prst="rect">
            <a:avLst/>
          </a:prstGeom>
        </p:spPr>
      </p:pic>
      <p:pic>
        <p:nvPicPr>
          <p:cNvPr id="18" name="Picture 23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81488" y="2616473"/>
            <a:ext cx="866775" cy="228600"/>
          </a:xfrm>
          <a:prstGeom prst="rect">
            <a:avLst/>
          </a:prstGeom>
        </p:spPr>
      </p:pic>
      <p:pic>
        <p:nvPicPr>
          <p:cNvPr id="19" name="Picture 24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1488" y="2978423"/>
            <a:ext cx="438150" cy="228600"/>
          </a:xfrm>
          <a:prstGeom prst="rect">
            <a:avLst/>
          </a:prstGeom>
        </p:spPr>
      </p:pic>
      <p:pic>
        <p:nvPicPr>
          <p:cNvPr id="20" name="Picture 25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81488" y="3340373"/>
            <a:ext cx="223838" cy="228600"/>
          </a:xfrm>
          <a:prstGeom prst="rect">
            <a:avLst/>
          </a:prstGeom>
        </p:spPr>
      </p:pic>
      <p:pic>
        <p:nvPicPr>
          <p:cNvPr id="21" name="Picture 26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52863" y="3702323"/>
            <a:ext cx="438150" cy="228600"/>
          </a:xfrm>
          <a:prstGeom prst="rect">
            <a:avLst/>
          </a:prstGeom>
        </p:spPr>
      </p:pic>
      <p:pic>
        <p:nvPicPr>
          <p:cNvPr id="22" name="Picture 27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424238" y="4064273"/>
            <a:ext cx="866775" cy="228600"/>
          </a:xfrm>
          <a:prstGeom prst="rect">
            <a:avLst/>
          </a:prstGeom>
        </p:spPr>
      </p:pic>
      <p:sp>
        <p:nvSpPr>
          <p:cNvPr id="23" name="Shape 28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4" name="Picture 28" descr="__type_ima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5" name="TextBox 29"/>
          <p:cNvSpPr/>
          <p:nvPr/>
        </p:nvSpPr>
        <p:spPr>
          <a:xfrm>
            <a:off x="571500" y="4814888"/>
            <a:ext cx="703272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выручки за 2025 год · Smart Ranking · РБК Тренды · ComNews · *корпоративное – по данным лидеров (Яндекс Практикум B2B)</a:t>
            </a:r>
            <a:endParaRPr lang="en-US" sz="900" dirty="0"/>
          </a:p>
        </p:txBody>
      </p:sp>
      <p:sp>
        <p:nvSpPr>
          <p:cNvPr id="26" name="TextBox 30"/>
          <p:cNvSpPr/>
          <p:nvPr/>
        </p:nvSpPr>
        <p:spPr>
          <a:xfrm>
            <a:off x="8239869" y="4814888"/>
            <a:ext cx="3926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412314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СЕГМЕНТЫ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412314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Дети и экзамены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4123142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Впервые крупнейший сегмент рынка – и его главный двигатель</a:t>
            </a:r>
            <a:endParaRPr lang="en-US" sz="975" dirty="0"/>
          </a:p>
        </p:txBody>
      </p:sp>
      <p:sp>
        <p:nvSpPr>
          <p:cNvPr id="7" name="!!m55"/>
          <p:cNvSpPr/>
          <p:nvPr/>
        </p:nvSpPr>
        <p:spPr>
          <a:xfrm>
            <a:off x="6799838" y="365745"/>
            <a:ext cx="177266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55 млрд ₽</a:t>
            </a:r>
            <a:endParaRPr lang="en-US" sz="1725" dirty="0"/>
          </a:p>
        </p:txBody>
      </p:sp>
      <p:sp>
        <p:nvSpPr>
          <p:cNvPr id="8" name="TextBox 9"/>
          <p:cNvSpPr/>
          <p:nvPr/>
        </p:nvSpPr>
        <p:spPr>
          <a:xfrm>
            <a:off x="6799838" y="694358"/>
            <a:ext cx="177266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36% рынка · +20% за 2025 год</a:t>
            </a:r>
            <a:endParaRPr lang="en-US" sz="900" dirty="0"/>
          </a:p>
        </p:txBody>
      </p:sp>
      <p:sp>
        <p:nvSpPr>
          <p:cNvPr id="9" name="TextBox 12"/>
          <p:cNvSpPr/>
          <p:nvPr/>
        </p:nvSpPr>
        <p:spPr>
          <a:xfrm>
            <a:off x="571500" y="946770"/>
            <a:ext cx="3143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Ядро роста – подготовка к ЕГЭ и ОГЭ</a:t>
            </a:r>
            <a:endParaRPr lang="en-US" sz="975" dirty="0"/>
          </a:p>
        </p:txBody>
      </p:sp>
      <p:pic>
        <p:nvPicPr>
          <p:cNvPr id="10" name="Picture 1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175370"/>
            <a:ext cx="2857500" cy="1809750"/>
          </a:xfrm>
          <a:prstGeom prst="rect">
            <a:avLst/>
          </a:prstGeom>
        </p:spPr>
      </p:pic>
      <p:pic>
        <p:nvPicPr>
          <p:cNvPr id="11" name="Picture 15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737" y="2063055"/>
            <a:ext cx="771525" cy="688628"/>
          </a:xfrm>
          <a:prstGeom prst="rect">
            <a:avLst/>
          </a:prstGeom>
        </p:spPr>
      </p:pic>
      <p:pic>
        <p:nvPicPr>
          <p:cNvPr id="12" name="Picture 16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1238" y="1629668"/>
            <a:ext cx="771525" cy="1122015"/>
          </a:xfrm>
          <a:prstGeom prst="rect">
            <a:avLst/>
          </a:prstGeom>
        </p:spPr>
      </p:pic>
      <p:sp>
        <p:nvSpPr>
          <p:cNvPr id="13" name="TextBox 17"/>
          <p:cNvSpPr/>
          <p:nvPr/>
        </p:nvSpPr>
        <p:spPr>
          <a:xfrm>
            <a:off x="571500" y="3042270"/>
            <a:ext cx="3017601" cy="261937"/>
          </a:xfrm>
          <a:prstGeom prst="roundRect">
            <a:avLst>
              <a:gd name="adj" fmla="val 21818"/>
            </a:avLst>
          </a:prstGeom>
          <a:solidFill>
            <a:srgbClr val="E7F4EE"/>
          </a:solidFill>
          <a:ln w="4763">
            <a:solidFill>
              <a:srgbClr val="BFE3D2"/>
            </a:solidFill>
            <a:prstDash val="solid"/>
          </a:ln>
        </p:spPr>
        <p:txBody>
          <a:bodyPr wrap="non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563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ниши, млрд ₽ · +50% два года подряд</a:t>
            </a:r>
            <a:endParaRPr lang="en-US" sz="900" dirty="0"/>
          </a:p>
        </p:txBody>
      </p:sp>
      <p:sp>
        <p:nvSpPr>
          <p:cNvPr id="14" name="TextBox 18"/>
          <p:cNvSpPr/>
          <p:nvPr/>
        </p:nvSpPr>
        <p:spPr>
          <a:xfrm>
            <a:off x="571500" y="3361358"/>
            <a:ext cx="2857500" cy="569937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  <p:txBody>
          <a:bodyPr wrap="square" lIns="114300" tIns="66675" rIns="114300" bIns="66675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Лидеры ниши: «Умскул», «Стобалльный репетитор» </a:t>
            </a: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(+118%, вход в топ-10 рынка)</a:t>
            </a: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MAXIMUM Education</a:t>
            </a:r>
            <a:endParaRPr lang="en-US" sz="863" dirty="0"/>
          </a:p>
        </p:txBody>
      </p:sp>
      <p:sp>
        <p:nvSpPr>
          <p:cNvPr id="15" name="Shape 20"/>
          <p:cNvSpPr/>
          <p:nvPr/>
        </p:nvSpPr>
        <p:spPr>
          <a:xfrm>
            <a:off x="3638550" y="946770"/>
            <a:ext cx="4933950" cy="1198885"/>
          </a:xfrm>
          <a:prstGeom prst="roundRect">
            <a:avLst>
              <a:gd name="adj" fmla="val 6356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21"/>
          <p:cNvSpPr/>
          <p:nvPr/>
        </p:nvSpPr>
        <p:spPr>
          <a:xfrm>
            <a:off x="3767137" y="1222028"/>
            <a:ext cx="51444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Почему растёт</a:t>
            </a:r>
            <a:endParaRPr lang="en-US" sz="938" dirty="0"/>
          </a:p>
        </p:txBody>
      </p:sp>
      <p:sp>
        <p:nvSpPr>
          <p:cNvPr id="17" name="TextBox 22"/>
          <p:cNvSpPr/>
          <p:nvPr/>
        </p:nvSpPr>
        <p:spPr>
          <a:xfrm>
            <a:off x="3767137" y="1426815"/>
            <a:ext cx="467677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Ученики перетекают от частных репетиторов к платформам, цены растут, а школьная политика уводит часть девятиклассников в колледжи и обостряет борьбу за места в вузах</a:t>
            </a:r>
            <a:endParaRPr lang="en-US" sz="863" dirty="0"/>
          </a:p>
        </p:txBody>
      </p:sp>
      <p:sp>
        <p:nvSpPr>
          <p:cNvPr id="18" name="Shape 23"/>
          <p:cNvSpPr/>
          <p:nvPr/>
        </p:nvSpPr>
        <p:spPr>
          <a:xfrm>
            <a:off x="3638550" y="2202805"/>
            <a:ext cx="4933950" cy="1198885"/>
          </a:xfrm>
          <a:prstGeom prst="roundRect">
            <a:avLst>
              <a:gd name="adj" fmla="val 6356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24"/>
          <p:cNvSpPr/>
          <p:nvPr/>
        </p:nvSpPr>
        <p:spPr>
          <a:xfrm>
            <a:off x="3767137" y="2625923"/>
            <a:ext cx="51444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Рядом растёт онлайн-школа вместо обычной</a:t>
            </a:r>
            <a:endParaRPr lang="en-US" sz="938" dirty="0"/>
          </a:p>
        </p:txBody>
      </p:sp>
      <p:sp>
        <p:nvSpPr>
          <p:cNvPr id="20" name="TextBox 25"/>
          <p:cNvSpPr/>
          <p:nvPr/>
        </p:nvSpPr>
        <p:spPr>
          <a:xfrm>
            <a:off x="3767137" y="2830711"/>
            <a:ext cx="4676775" cy="147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 полугодие прибавила 27%; у 25 крупнейших провайдеров учатся почти 70 тысяч детей</a:t>
            </a:r>
            <a:endParaRPr lang="en-US" sz="863" dirty="0"/>
          </a:p>
        </p:txBody>
      </p:sp>
      <p:sp>
        <p:nvSpPr>
          <p:cNvPr id="21" name="Shape 26"/>
          <p:cNvSpPr/>
          <p:nvPr/>
        </p:nvSpPr>
        <p:spPr>
          <a:xfrm>
            <a:off x="3638550" y="3458840"/>
            <a:ext cx="4933950" cy="1198885"/>
          </a:xfrm>
          <a:prstGeom prst="roundRect">
            <a:avLst>
              <a:gd name="adj" fmla="val 6356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2" name="TextBox 27"/>
          <p:cNvSpPr/>
          <p:nvPr/>
        </p:nvSpPr>
        <p:spPr>
          <a:xfrm>
            <a:off x="3767137" y="3631555"/>
            <a:ext cx="51444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Две оговорки</a:t>
            </a:r>
            <a:endParaRPr lang="en-US" sz="938" dirty="0"/>
          </a:p>
        </p:txBody>
      </p:sp>
      <p:sp>
        <p:nvSpPr>
          <p:cNvPr id="23" name="TextBox 28"/>
          <p:cNvSpPr/>
          <p:nvPr/>
        </p:nvSpPr>
        <p:spPr>
          <a:xfrm>
            <a:off x="3767137" y="3845868"/>
            <a:ext cx="4676775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Двигатель сбавляет обороты: поквартальный рост сегмента в 2025-м затухал </a:t>
            </a: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 +32% до +9,4%</a:t>
            </a: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– платящая аудитория крупных городов в основном собрана</a:t>
            </a:r>
            <a:endParaRPr lang="en-US" sz="863" dirty="0"/>
          </a:p>
        </p:txBody>
      </p:sp>
      <p:sp>
        <p:nvSpPr>
          <p:cNvPr id="24" name="TextBox 29"/>
          <p:cNvSpPr/>
          <p:nvPr/>
        </p:nvSpPr>
        <p:spPr>
          <a:xfrm>
            <a:off x="3767137" y="4189214"/>
            <a:ext cx="4676775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Детские школы программирования – из чемпионов 2024 года (+36%) </a:t>
            </a:r>
            <a:r>
              <a:rPr lang="en-US" sz="863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минус к концу 2025-го</a:t>
            </a: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родители перестали верить в «ИТ как гарантию»</a:t>
            </a:r>
            <a:endParaRPr lang="en-US" sz="863" dirty="0"/>
          </a:p>
        </p:txBody>
      </p:sp>
      <p:sp>
        <p:nvSpPr>
          <p:cNvPr id="25" name="Shape 30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6" name="Picture 30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7" name="TextBox 31"/>
          <p:cNvSpPr/>
          <p:nvPr/>
        </p:nvSpPr>
        <p:spPr>
          <a:xfrm>
            <a:off x="571500" y="4814888"/>
            <a:ext cx="414336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 (экзаменационная подготовка, 2024–2025) · ComNews</a:t>
            </a:r>
            <a:endParaRPr lang="en-US" sz="900" dirty="0"/>
          </a:p>
        </p:txBody>
      </p:sp>
      <p:sp>
        <p:nvSpPr>
          <p:cNvPr id="28" name="TextBox 32"/>
          <p:cNvSpPr/>
          <p:nvPr/>
        </p:nvSpPr>
        <p:spPr>
          <a:xfrm>
            <a:off x="8230865" y="4814888"/>
            <a:ext cx="40163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430903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СЕГМЕНТЫ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430903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Взрослые профессии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4309035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 не падает – он стоит: торможение четвёртый год подряд</a:t>
            </a:r>
            <a:endParaRPr lang="en-US" sz="975" dirty="0"/>
          </a:p>
        </p:txBody>
      </p:sp>
      <p:sp>
        <p:nvSpPr>
          <p:cNvPr id="7" name="TextBox 8"/>
          <p:cNvSpPr/>
          <p:nvPr/>
        </p:nvSpPr>
        <p:spPr>
          <a:xfrm>
            <a:off x="7179074" y="365745"/>
            <a:ext cx="139342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52,5 млрд ₽</a:t>
            </a:r>
            <a:endParaRPr lang="en-US" sz="1725" dirty="0"/>
          </a:p>
        </p:txBody>
      </p:sp>
      <p:sp>
        <p:nvSpPr>
          <p:cNvPr id="8" name="TextBox 9"/>
          <p:cNvSpPr/>
          <p:nvPr/>
        </p:nvSpPr>
        <p:spPr>
          <a:xfrm>
            <a:off x="7179074" y="694358"/>
            <a:ext cx="139342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 2025 год · +6%</a:t>
            </a:r>
            <a:endParaRPr lang="en-US" sz="900" dirty="0"/>
          </a:p>
        </p:txBody>
      </p:sp>
      <p:pic>
        <p:nvPicPr>
          <p:cNvPr id="9" name="Picture 1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46770"/>
            <a:ext cx="3048000" cy="3236268"/>
          </a:xfrm>
          <a:prstGeom prst="rect">
            <a:avLst/>
          </a:prstGeom>
        </p:spPr>
      </p:pic>
      <p:pic>
        <p:nvPicPr>
          <p:cNvPr id="10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550" y="1879104"/>
            <a:ext cx="516434" cy="1494309"/>
          </a:xfrm>
          <a:prstGeom prst="rect">
            <a:avLst/>
          </a:prstGeom>
        </p:spPr>
      </p:pic>
      <p:pic>
        <p:nvPicPr>
          <p:cNvPr id="11" name="Picture 1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7417" y="2484462"/>
            <a:ext cx="516434" cy="888950"/>
          </a:xfrm>
          <a:prstGeom prst="rect">
            <a:avLst/>
          </a:prstGeom>
        </p:spPr>
      </p:pic>
      <p:pic>
        <p:nvPicPr>
          <p:cNvPr id="12" name="Picture 1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8209" y="3034754"/>
            <a:ext cx="516434" cy="338658"/>
          </a:xfrm>
          <a:prstGeom prst="rect">
            <a:avLst/>
          </a:prstGeom>
        </p:spPr>
      </p:pic>
      <p:pic>
        <p:nvPicPr>
          <p:cNvPr id="13" name="Picture 1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59075" y="3287911"/>
            <a:ext cx="516434" cy="85502"/>
          </a:xfrm>
          <a:prstGeom prst="rect">
            <a:avLst/>
          </a:prstGeom>
        </p:spPr>
      </p:pic>
      <p:sp>
        <p:nvSpPr>
          <p:cNvPr id="14" name="TextBox 18"/>
          <p:cNvSpPr/>
          <p:nvPr/>
        </p:nvSpPr>
        <p:spPr>
          <a:xfrm>
            <a:off x="571500" y="4230663"/>
            <a:ext cx="3048000" cy="42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Замедление видно и в независимых данных: ряд РБК по всему ДПО – втрое больший периметр, включая офлайн – рисует ту же картину</a:t>
            </a:r>
            <a:endParaRPr lang="en-US" sz="863" dirty="0"/>
          </a:p>
        </p:txBody>
      </p:sp>
      <p:sp>
        <p:nvSpPr>
          <p:cNvPr id="15" name="Shape 20"/>
          <p:cNvSpPr/>
          <p:nvPr/>
        </p:nvSpPr>
        <p:spPr>
          <a:xfrm>
            <a:off x="3829050" y="946770"/>
            <a:ext cx="4743450" cy="463748"/>
          </a:xfrm>
          <a:prstGeom prst="roundRect">
            <a:avLst>
              <a:gd name="adj" fmla="val 164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21"/>
          <p:cNvSpPr/>
          <p:nvPr/>
        </p:nvSpPr>
        <p:spPr>
          <a:xfrm>
            <a:off x="3948112" y="1018208"/>
            <a:ext cx="21046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050" dirty="0"/>
          </a:p>
        </p:txBody>
      </p:sp>
      <p:sp>
        <p:nvSpPr>
          <p:cNvPr id="17" name="TextBox 22"/>
          <p:cNvSpPr/>
          <p:nvPr/>
        </p:nvSpPr>
        <p:spPr>
          <a:xfrm>
            <a:off x="4174778" y="1042020"/>
            <a:ext cx="427866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Рассрочка стала недоступной</a:t>
            </a:r>
            <a:r>
              <a:rPr lang="en-US" sz="900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– а на ней держались продажи дорогих курсов (слайд 12)</a:t>
            </a:r>
            <a:endParaRPr lang="en-US" sz="900" dirty="0"/>
          </a:p>
        </p:txBody>
      </p:sp>
      <p:sp>
        <p:nvSpPr>
          <p:cNvPr id="18" name="Shape 23"/>
          <p:cNvSpPr/>
          <p:nvPr/>
        </p:nvSpPr>
        <p:spPr>
          <a:xfrm>
            <a:off x="3829050" y="1467669"/>
            <a:ext cx="47434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24"/>
          <p:cNvSpPr/>
          <p:nvPr/>
        </p:nvSpPr>
        <p:spPr>
          <a:xfrm>
            <a:off x="3948112" y="1539106"/>
            <a:ext cx="2304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Box 25"/>
          <p:cNvSpPr/>
          <p:nvPr/>
        </p:nvSpPr>
        <p:spPr>
          <a:xfrm>
            <a:off x="4194795" y="1562919"/>
            <a:ext cx="41715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Безработица рекордно низкая</a:t>
            </a:r>
            <a:r>
              <a:rPr lang="en-US" sz="900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– переучиваться незачем, работа и так есть</a:t>
            </a:r>
            <a:endParaRPr lang="en-US" sz="900" dirty="0"/>
          </a:p>
        </p:txBody>
      </p:sp>
      <p:sp>
        <p:nvSpPr>
          <p:cNvPr id="21" name="Shape 26"/>
          <p:cNvSpPr/>
          <p:nvPr/>
        </p:nvSpPr>
        <p:spPr>
          <a:xfrm>
            <a:off x="3829050" y="1848669"/>
            <a:ext cx="4743450" cy="463748"/>
          </a:xfrm>
          <a:prstGeom prst="roundRect">
            <a:avLst>
              <a:gd name="adj" fmla="val 164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2" name="TextBox 27"/>
          <p:cNvSpPr/>
          <p:nvPr/>
        </p:nvSpPr>
        <p:spPr>
          <a:xfrm>
            <a:off x="3948112" y="1920106"/>
            <a:ext cx="22869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Box 28"/>
          <p:cNvSpPr/>
          <p:nvPr/>
        </p:nvSpPr>
        <p:spPr>
          <a:xfrm>
            <a:off x="4193009" y="1943919"/>
            <a:ext cx="426042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Найм в ИТ остыл</a:t>
            </a:r>
            <a:r>
              <a:rPr lang="en-US" sz="900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– вакансий на 12% меньше, чем год назад; «смени профессию – удвой доход» больше не звучит убедительно</a:t>
            </a:r>
            <a:endParaRPr lang="en-US" sz="900" dirty="0"/>
          </a:p>
        </p:txBody>
      </p:sp>
      <p:sp>
        <p:nvSpPr>
          <p:cNvPr id="24" name="Shape 29"/>
          <p:cNvSpPr/>
          <p:nvPr/>
        </p:nvSpPr>
        <p:spPr>
          <a:xfrm>
            <a:off x="3829050" y="2369567"/>
            <a:ext cx="4743450" cy="2288158"/>
          </a:xfrm>
          <a:prstGeom prst="roundRect">
            <a:avLst>
              <a:gd name="adj" fmla="val 3330"/>
            </a:avLst>
          </a:prstGeom>
          <a:solidFill>
            <a:srgbClr val="20242A"/>
          </a:solidFill>
          <a:ln/>
        </p:spPr>
      </p:sp>
      <p:sp>
        <p:nvSpPr>
          <p:cNvPr id="25" name="TextBox 30"/>
          <p:cNvSpPr/>
          <p:nvPr/>
        </p:nvSpPr>
        <p:spPr>
          <a:xfrm>
            <a:off x="3952875" y="3189461"/>
            <a:ext cx="49453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Единственное быстрое течение – обучение работе с ИИ</a:t>
            </a:r>
            <a:endParaRPr lang="en-US" sz="938" dirty="0"/>
          </a:p>
        </p:txBody>
      </p:sp>
      <p:sp>
        <p:nvSpPr>
          <p:cNvPr id="26" name="TextBox 31"/>
          <p:cNvSpPr/>
          <p:nvPr/>
        </p:nvSpPr>
        <p:spPr>
          <a:xfrm>
            <a:off x="3952875" y="3394249"/>
            <a:ext cx="4495800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Спрос на курсы машинного обучения и анализа данных вырос на 60% за год, рынок «ИИ-навыков» оценивают в ~5 млрд ₽, ИИ в маркетинге прибавляет кратно. Пока это ниша – но единственная, где динамика настоящая</a:t>
            </a:r>
            <a:endParaRPr lang="en-US" sz="863" dirty="0"/>
          </a:p>
        </p:txBody>
      </p:sp>
      <p:sp>
        <p:nvSpPr>
          <p:cNvPr id="27" name="Shape 32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8" name="Picture 32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9" name="TextBox 33"/>
          <p:cNvSpPr/>
          <p:nvPr/>
        </p:nvSpPr>
        <p:spPr>
          <a:xfrm>
            <a:off x="571500" y="4814888"/>
            <a:ext cx="410054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выручки сегмента ДПО · Smart Ranking, 2023–2026 · РБК Тренды</a:t>
            </a:r>
            <a:endParaRPr lang="en-US" sz="900" dirty="0"/>
          </a:p>
        </p:txBody>
      </p:sp>
      <p:sp>
        <p:nvSpPr>
          <p:cNvPr id="30" name="TextBox 34"/>
          <p:cNvSpPr/>
          <p:nvPr/>
        </p:nvSpPr>
        <p:spPr>
          <a:xfrm>
            <a:off x="8226326" y="4814888"/>
            <a:ext cx="40617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СЕГМЕНТЫ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Новые источники роста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001000" cy="160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Онлайн-дипломы и корпоративный заказ – то, что растёт, пока частный покупатель экономит</a:t>
            </a:r>
            <a:endParaRPr lang="en-US" sz="975" dirty="0"/>
          </a:p>
        </p:txBody>
      </p:sp>
      <p:sp>
        <p:nvSpPr>
          <p:cNvPr id="7" name="Shape 7"/>
          <p:cNvSpPr/>
          <p:nvPr/>
        </p:nvSpPr>
        <p:spPr>
          <a:xfrm>
            <a:off x="571500" y="946770"/>
            <a:ext cx="3943350" cy="3710955"/>
          </a:xfrm>
          <a:prstGeom prst="roundRect">
            <a:avLst>
              <a:gd name="adj" fmla="val 2567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8" name="TextBox 8"/>
          <p:cNvSpPr/>
          <p:nvPr/>
        </p:nvSpPr>
        <p:spPr>
          <a:xfrm>
            <a:off x="719138" y="1056308"/>
            <a:ext cx="401288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Партнёрства с вузами и колледжами</a:t>
            </a:r>
            <a:endParaRPr lang="en-US" sz="1013" dirty="0"/>
          </a:p>
        </p:txBody>
      </p:sp>
      <p:sp>
        <p:nvSpPr>
          <p:cNvPr id="9" name="TextBox 11"/>
          <p:cNvSpPr/>
          <p:nvPr/>
        </p:nvSpPr>
        <p:spPr>
          <a:xfrm>
            <a:off x="719138" y="1299195"/>
            <a:ext cx="129618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+29%</a:t>
            </a:r>
            <a:endParaRPr lang="en-US" sz="1725" dirty="0"/>
          </a:p>
        </p:txBody>
      </p:sp>
      <p:sp>
        <p:nvSpPr>
          <p:cNvPr id="10" name="TextBox 12"/>
          <p:cNvSpPr/>
          <p:nvPr/>
        </p:nvSpPr>
        <p:spPr>
          <a:xfrm>
            <a:off x="719138" y="1618283"/>
            <a:ext cx="127261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«Синергия» за год –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«втрое быстрее рынка»</a:t>
            </a:r>
            <a:endParaRPr lang="en-US" sz="825" dirty="0"/>
          </a:p>
        </p:txBody>
      </p:sp>
      <p:sp>
        <p:nvSpPr>
          <p:cNvPr id="11" name="TextBox 14"/>
          <p:cNvSpPr/>
          <p:nvPr/>
        </p:nvSpPr>
        <p:spPr>
          <a:xfrm>
            <a:off x="2068934" y="1299195"/>
            <a:ext cx="107500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+36%</a:t>
            </a:r>
            <a:endParaRPr lang="en-US" sz="1725" dirty="0"/>
          </a:p>
        </p:txBody>
      </p:sp>
      <p:sp>
        <p:nvSpPr>
          <p:cNvPr id="12" name="TextBox 15"/>
          <p:cNvSpPr/>
          <p:nvPr/>
        </p:nvSpPr>
        <p:spPr>
          <a:xfrm>
            <a:off x="2068934" y="1618283"/>
            <a:ext cx="105546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онлайн-дипломы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консорциума СОВО</a:t>
            </a:r>
            <a:endParaRPr lang="en-US" sz="825" dirty="0"/>
          </a:p>
        </p:txBody>
      </p:sp>
      <p:sp>
        <p:nvSpPr>
          <p:cNvPr id="13" name="TextBox 17"/>
          <p:cNvSpPr/>
          <p:nvPr/>
        </p:nvSpPr>
        <p:spPr>
          <a:xfrm>
            <a:off x="3217664" y="1299195"/>
            <a:ext cx="114302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×6,5</a:t>
            </a:r>
            <a:endParaRPr lang="en-US" sz="1725" dirty="0"/>
          </a:p>
        </p:txBody>
      </p:sp>
      <p:sp>
        <p:nvSpPr>
          <p:cNvPr id="14" name="TextBox 18"/>
          <p:cNvSpPr/>
          <p:nvPr/>
        </p:nvSpPr>
        <p:spPr>
          <a:xfrm>
            <a:off x="3217664" y="1618283"/>
            <a:ext cx="112224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сегмента СОВО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 2021 года</a:t>
            </a:r>
            <a:endParaRPr lang="en-US" sz="825" dirty="0"/>
          </a:p>
        </p:txBody>
      </p:sp>
      <p:pic>
        <p:nvPicPr>
          <p:cNvPr id="15" name="Picture 1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138" y="1946895"/>
            <a:ext cx="3648075" cy="675084"/>
          </a:xfrm>
          <a:prstGeom prst="rect">
            <a:avLst/>
          </a:prstGeom>
        </p:spPr>
      </p:pic>
      <p:sp>
        <p:nvSpPr>
          <p:cNvPr id="16" name="TextBox 19"/>
          <p:cNvSpPr/>
          <p:nvPr/>
        </p:nvSpPr>
        <p:spPr>
          <a:xfrm>
            <a:off x="719138" y="1946895"/>
            <a:ext cx="3648075" cy="675084"/>
          </a:xfrm>
          <a:prstGeom prst="rect">
            <a:avLst/>
          </a:prstGeom>
          <a:noFill/>
          <a:ln/>
        </p:spPr>
        <p:txBody>
          <a:bodyPr wrap="square" lIns="0" tIns="57150" rIns="0" bIns="0" rtlCol="0" anchor="t">
            <a:spAutoFit/>
          </a:bodyPr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Диплом государственного образца – то, чего у онлайн-курсов никогда не было. К нему прилагаются госкредиты на обучение, отсрочка для студентов колледжей и понятная траектория трудоустройства.</a:t>
            </a:r>
            <a:endParaRPr lang="en-US" sz="863" dirty="0"/>
          </a:p>
        </p:txBody>
      </p:sp>
      <p:sp>
        <p:nvSpPr>
          <p:cNvPr id="17" name="TextBox 20"/>
          <p:cNvSpPr/>
          <p:nvPr/>
        </p:nvSpPr>
        <p:spPr>
          <a:xfrm>
            <a:off x="719138" y="4139654"/>
            <a:ext cx="3648075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Осень 2025: аналитики называют онлайн-программы высшего и СПО главным источником роста рынка. Риск модели – 114-ФЗ (право ограничивать платный приём)</a:t>
            </a:r>
            <a:endParaRPr lang="en-US" sz="825" dirty="0"/>
          </a:p>
        </p:txBody>
      </p:sp>
      <p:sp>
        <p:nvSpPr>
          <p:cNvPr id="18" name="Shape 21"/>
          <p:cNvSpPr/>
          <p:nvPr/>
        </p:nvSpPr>
        <p:spPr>
          <a:xfrm>
            <a:off x="4629150" y="946770"/>
            <a:ext cx="3943350" cy="3710955"/>
          </a:xfrm>
          <a:prstGeom prst="roundRect">
            <a:avLst>
              <a:gd name="adj" fmla="val 2567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22"/>
          <p:cNvSpPr/>
          <p:nvPr/>
        </p:nvSpPr>
        <p:spPr>
          <a:xfrm>
            <a:off x="4776788" y="1056308"/>
            <a:ext cx="401288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Корпоративное обучение</a:t>
            </a:r>
            <a:endParaRPr lang="en-US" sz="1013" dirty="0"/>
          </a:p>
        </p:txBody>
      </p:sp>
      <p:sp>
        <p:nvSpPr>
          <p:cNvPr id="20" name="TextBox 25"/>
          <p:cNvSpPr/>
          <p:nvPr/>
        </p:nvSpPr>
        <p:spPr>
          <a:xfrm>
            <a:off x="4776788" y="1299195"/>
            <a:ext cx="12459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+30%</a:t>
            </a:r>
            <a:endParaRPr lang="en-US" sz="1725" dirty="0"/>
          </a:p>
        </p:txBody>
      </p:sp>
      <p:sp>
        <p:nvSpPr>
          <p:cNvPr id="21" name="TextBox 26"/>
          <p:cNvSpPr/>
          <p:nvPr/>
        </p:nvSpPr>
        <p:spPr>
          <a:xfrm>
            <a:off x="4776788" y="1618283"/>
            <a:ext cx="122326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продажи Яндекс Практикума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компаниям за 2025 год</a:t>
            </a:r>
            <a:endParaRPr lang="en-US" sz="825" dirty="0"/>
          </a:p>
        </p:txBody>
      </p:sp>
      <p:sp>
        <p:nvSpPr>
          <p:cNvPr id="22" name="TextBox 28"/>
          <p:cNvSpPr/>
          <p:nvPr/>
        </p:nvSpPr>
        <p:spPr>
          <a:xfrm>
            <a:off x="6080894" y="1299195"/>
            <a:ext cx="12311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+40%</a:t>
            </a:r>
            <a:endParaRPr lang="en-US" sz="1725" dirty="0"/>
          </a:p>
        </p:txBody>
      </p:sp>
      <p:sp>
        <p:nvSpPr>
          <p:cNvPr id="23" name="TextBox 29"/>
          <p:cNvSpPr/>
          <p:nvPr/>
        </p:nvSpPr>
        <p:spPr>
          <a:xfrm>
            <a:off x="6080894" y="1618283"/>
            <a:ext cx="120880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 платформ корпоративного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обучения, за полугодие</a:t>
            </a:r>
            <a:endParaRPr lang="en-US" sz="825" dirty="0"/>
          </a:p>
        </p:txBody>
      </p:sp>
      <p:sp>
        <p:nvSpPr>
          <p:cNvPr id="24" name="TextBox 31"/>
          <p:cNvSpPr/>
          <p:nvPr/>
        </p:nvSpPr>
        <p:spPr>
          <a:xfrm>
            <a:off x="7371606" y="1299195"/>
            <a:ext cx="115858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×3</a:t>
            </a:r>
            <a:endParaRPr lang="en-US" sz="1725" dirty="0"/>
          </a:p>
        </p:txBody>
      </p:sp>
      <p:sp>
        <p:nvSpPr>
          <p:cNvPr id="25" name="TextBox 32"/>
          <p:cNvSpPr/>
          <p:nvPr/>
        </p:nvSpPr>
        <p:spPr>
          <a:xfrm>
            <a:off x="7371606" y="1618283"/>
            <a:ext cx="113751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корпоративные ИИ-курсы</a:t>
            </a:r>
            <a:endParaRPr lang="en-US" sz="825" dirty="0"/>
          </a:p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растут быстрее остальных</a:t>
            </a:r>
            <a:endParaRPr lang="en-US" sz="825" dirty="0"/>
          </a:p>
        </p:txBody>
      </p:sp>
      <p:pic>
        <p:nvPicPr>
          <p:cNvPr id="26" name="Picture 33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6788" y="2208833"/>
            <a:ext cx="3648075" cy="675084"/>
          </a:xfrm>
          <a:prstGeom prst="rect">
            <a:avLst/>
          </a:prstGeom>
        </p:spPr>
      </p:pic>
      <p:sp>
        <p:nvSpPr>
          <p:cNvPr id="27" name="TextBox 33"/>
          <p:cNvSpPr/>
          <p:nvPr/>
        </p:nvSpPr>
        <p:spPr>
          <a:xfrm>
            <a:off x="4776788" y="2208833"/>
            <a:ext cx="3648075" cy="675084"/>
          </a:xfrm>
          <a:prstGeom prst="rect">
            <a:avLst/>
          </a:prstGeom>
          <a:noFill/>
          <a:ln/>
        </p:spPr>
        <p:txBody>
          <a:bodyPr wrap="square" lIns="0" tIns="57150" rIns="0" bIns="0" rtlCol="0" anchor="t">
            <a:spAutoFit/>
          </a:bodyPr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Двигатели – кадровый голод, импортозамещение и волна внедрения ИИ. Оценки объёма расходятся (от 8 млрд ₽ за ИТ-обучение до 91 млрд по широкой методике), но устойчивость спроса сомнений не вызывает.</a:t>
            </a:r>
            <a:endParaRPr lang="en-US" sz="863" dirty="0"/>
          </a:p>
        </p:txBody>
      </p:sp>
      <p:sp>
        <p:nvSpPr>
          <p:cNvPr id="28" name="TextBox 34"/>
          <p:cNvSpPr/>
          <p:nvPr/>
        </p:nvSpPr>
        <p:spPr>
          <a:xfrm>
            <a:off x="4776788" y="4152007"/>
            <a:ext cx="3648075" cy="396180"/>
          </a:xfrm>
          <a:prstGeom prst="roundRect">
            <a:avLst>
              <a:gd name="adj" fmla="val 14425"/>
            </a:avLst>
          </a:prstGeom>
          <a:solidFill>
            <a:srgbClr val="F8ECEB"/>
          </a:solidFill>
          <a:ln w="4763">
            <a:solidFill>
              <a:srgbClr val="ECD0CD"/>
            </a:solidFill>
            <a:prstDash val="solid"/>
          </a:ln>
        </p:spPr>
        <p:txBody>
          <a:bodyPr wrap="square" lIns="95250" tIns="57150" rIns="95250" bIns="5715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8C332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Контраст: бизнес-образование для частных лиц (MBA) – худший сегмент 2025 года, −12%</a:t>
            </a:r>
            <a:endParaRPr lang="en-US" sz="825" dirty="0"/>
          </a:p>
        </p:txBody>
      </p:sp>
      <p:sp>
        <p:nvSpPr>
          <p:cNvPr id="29" name="Shape 35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30" name="Picture 3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31" name="TextBox 36"/>
          <p:cNvSpPr/>
          <p:nvPr/>
        </p:nvSpPr>
        <p:spPr>
          <a:xfrm>
            <a:off x="571500" y="4814888"/>
            <a:ext cx="469432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РБК Тренды (онлайн-высшее, СОВО, корпоративное обучение) · Smart Ranking</a:t>
            </a:r>
            <a:endParaRPr lang="en-US" sz="900" dirty="0"/>
          </a:p>
        </p:txBody>
      </p:sp>
      <p:sp>
        <p:nvSpPr>
          <p:cNvPr id="32" name="TextBox 37"/>
          <p:cNvSpPr/>
          <p:nvPr/>
        </p:nvSpPr>
        <p:spPr>
          <a:xfrm>
            <a:off x="8252668" y="4814888"/>
            <a:ext cx="37983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209689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ИГРОКИ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209689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Первая десятка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434385" y="355402"/>
            <a:ext cx="313811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 большинством строк – три экосистемы:</a:t>
            </a:r>
            <a:endParaRPr lang="en-US" sz="900" dirty="0"/>
          </a:p>
          <a:p>
            <a:pPr algn="r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VK · Сбербанк · Яндекс</a:t>
            </a: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; независимых тяжеловесов – два</a:t>
            </a:r>
            <a:endParaRPr lang="en-US" sz="900" dirty="0"/>
          </a:p>
        </p:txBody>
      </p:sp>
      <p:sp>
        <p:nvSpPr>
          <p:cNvPr id="7" name="TextBox 10"/>
          <p:cNvSpPr/>
          <p:nvPr/>
        </p:nvSpPr>
        <p:spPr>
          <a:xfrm>
            <a:off x="685800" y="785813"/>
            <a:ext cx="39337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№</a:t>
            </a:r>
            <a:endParaRPr lang="en-US" sz="788" dirty="0"/>
          </a:p>
        </p:txBody>
      </p:sp>
      <p:sp>
        <p:nvSpPr>
          <p:cNvPr id="8" name="TextBox 11"/>
          <p:cNvSpPr/>
          <p:nvPr/>
        </p:nvSpPr>
        <p:spPr>
          <a:xfrm>
            <a:off x="1095375" y="785813"/>
            <a:ext cx="352044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КОМПАНИЯ</a:t>
            </a:r>
            <a:endParaRPr lang="en-US" sz="788" dirty="0"/>
          </a:p>
        </p:txBody>
      </p:sp>
      <p:sp>
        <p:nvSpPr>
          <p:cNvPr id="9" name="TextBox 12"/>
          <p:cNvSpPr/>
          <p:nvPr/>
        </p:nvSpPr>
        <p:spPr>
          <a:xfrm>
            <a:off x="4291013" y="785813"/>
            <a:ext cx="89058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</a:t>
            </a:r>
            <a:endParaRPr lang="en-US" sz="788" dirty="0"/>
          </a:p>
        </p:txBody>
      </p:sp>
      <p:sp>
        <p:nvSpPr>
          <p:cNvPr id="10" name="TextBox 13"/>
          <p:cNvSpPr/>
          <p:nvPr/>
        </p:nvSpPr>
        <p:spPr>
          <a:xfrm>
            <a:off x="5176838" y="785813"/>
            <a:ext cx="89058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</a:t>
            </a:r>
            <a:endParaRPr lang="en-US" sz="788" dirty="0"/>
          </a:p>
        </p:txBody>
      </p:sp>
      <p:sp>
        <p:nvSpPr>
          <p:cNvPr id="11" name="TextBox 14"/>
          <p:cNvSpPr/>
          <p:nvPr/>
        </p:nvSpPr>
        <p:spPr>
          <a:xfrm>
            <a:off x="6072188" y="785813"/>
            <a:ext cx="78581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</a:t>
            </a:r>
            <a:endParaRPr lang="en-US" sz="788" dirty="0"/>
          </a:p>
        </p:txBody>
      </p:sp>
      <p:sp>
        <p:nvSpPr>
          <p:cNvPr id="12" name="TextBox 15"/>
          <p:cNvSpPr/>
          <p:nvPr/>
        </p:nvSpPr>
        <p:spPr>
          <a:xfrm>
            <a:off x="6934200" y="785813"/>
            <a:ext cx="1676400" cy="13335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8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ВЛАДЕЛЕЦ</a:t>
            </a:r>
            <a:endParaRPr lang="en-US" sz="788" dirty="0"/>
          </a:p>
        </p:txBody>
      </p:sp>
      <p:sp>
        <p:nvSpPr>
          <p:cNvPr id="13" name="Shape 16"/>
          <p:cNvSpPr/>
          <p:nvPr/>
        </p:nvSpPr>
        <p:spPr>
          <a:xfrm>
            <a:off x="571500" y="966787"/>
            <a:ext cx="8001000" cy="3526185"/>
          </a:xfrm>
          <a:prstGeom prst="roundRect">
            <a:avLst>
              <a:gd name="adj" fmla="val 216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4" name="Shape 17"/>
          <p:cNvSpPr/>
          <p:nvPr/>
        </p:nvSpPr>
        <p:spPr>
          <a:xfrm>
            <a:off x="576263" y="971550"/>
            <a:ext cx="7991475" cy="385763"/>
          </a:xfrm>
          <a:prstGeom prst="rect">
            <a:avLst/>
          </a:prstGeom>
          <a:solidFill>
            <a:srgbClr val="E7F4EE"/>
          </a:solidFill>
          <a:ln/>
        </p:spPr>
      </p:sp>
      <p:pic>
        <p:nvPicPr>
          <p:cNvPr id="15" name="Picture 17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263" y="971550"/>
            <a:ext cx="7991475" cy="385763"/>
          </a:xfrm>
          <a:prstGeom prst="rect">
            <a:avLst/>
          </a:prstGeom>
        </p:spPr>
      </p:pic>
      <p:sp>
        <p:nvSpPr>
          <p:cNvPr id="16" name="TextBox 18"/>
          <p:cNvSpPr/>
          <p:nvPr/>
        </p:nvSpPr>
        <p:spPr>
          <a:xfrm>
            <a:off x="690563" y="1085850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863" dirty="0"/>
          </a:p>
        </p:txBody>
      </p:sp>
      <p:sp>
        <p:nvSpPr>
          <p:cNvPr id="17" name="TextBox 19"/>
          <p:cNvSpPr/>
          <p:nvPr/>
        </p:nvSpPr>
        <p:spPr>
          <a:xfrm>
            <a:off x="1100138" y="1085850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Синергия</a:t>
            </a:r>
            <a:endParaRPr lang="en-US" sz="863" dirty="0"/>
          </a:p>
        </p:txBody>
      </p:sp>
      <p:sp>
        <p:nvSpPr>
          <p:cNvPr id="18" name="TextBox 20"/>
          <p:cNvSpPr/>
          <p:nvPr/>
        </p:nvSpPr>
        <p:spPr>
          <a:xfrm>
            <a:off x="4286251" y="108585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12,7</a:t>
            </a:r>
            <a:endParaRPr lang="en-US" sz="863" dirty="0"/>
          </a:p>
        </p:txBody>
      </p:sp>
      <p:sp>
        <p:nvSpPr>
          <p:cNvPr id="19" name="TextBox 21"/>
          <p:cNvSpPr/>
          <p:nvPr/>
        </p:nvSpPr>
        <p:spPr>
          <a:xfrm>
            <a:off x="5172076" y="108585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16,1</a:t>
            </a:r>
            <a:endParaRPr lang="en-US" sz="863" dirty="0"/>
          </a:p>
        </p:txBody>
      </p:sp>
      <p:sp>
        <p:nvSpPr>
          <p:cNvPr id="20" name="TextBox 22"/>
          <p:cNvSpPr/>
          <p:nvPr/>
        </p:nvSpPr>
        <p:spPr>
          <a:xfrm>
            <a:off x="6067425" y="1085850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+26%</a:t>
            </a:r>
            <a:endParaRPr lang="en-US" sz="863" dirty="0"/>
          </a:p>
        </p:txBody>
      </p:sp>
      <p:sp>
        <p:nvSpPr>
          <p:cNvPr id="21" name="TextBox 23"/>
          <p:cNvSpPr/>
          <p:nvPr/>
        </p:nvSpPr>
        <p:spPr>
          <a:xfrm>
            <a:off x="6929437" y="1009650"/>
            <a:ext cx="1645920" cy="304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независимая · лидер с 2024</a:t>
            </a:r>
            <a:endParaRPr lang="en-US" sz="863" dirty="0"/>
          </a:p>
        </p:txBody>
      </p:sp>
      <p:sp>
        <p:nvSpPr>
          <p:cNvPr id="22" name="Shape 24"/>
          <p:cNvSpPr/>
          <p:nvPr/>
        </p:nvSpPr>
        <p:spPr>
          <a:xfrm>
            <a:off x="576263" y="1357313"/>
            <a:ext cx="7991475" cy="385763"/>
          </a:xfrm>
          <a:prstGeom prst="rect">
            <a:avLst/>
          </a:prstGeom>
          <a:noFill/>
          <a:ln/>
        </p:spPr>
      </p:sp>
      <p:pic>
        <p:nvPicPr>
          <p:cNvPr id="23" name="Picture 2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63" y="1357313"/>
            <a:ext cx="7991475" cy="385763"/>
          </a:xfrm>
          <a:prstGeom prst="rect">
            <a:avLst/>
          </a:prstGeom>
        </p:spPr>
      </p:pic>
      <p:sp>
        <p:nvSpPr>
          <p:cNvPr id="24" name="TextBox 25"/>
          <p:cNvSpPr/>
          <p:nvPr/>
        </p:nvSpPr>
        <p:spPr>
          <a:xfrm>
            <a:off x="690563" y="1471613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863" dirty="0"/>
          </a:p>
        </p:txBody>
      </p:sp>
      <p:sp>
        <p:nvSpPr>
          <p:cNvPr id="25" name="TextBox 26"/>
          <p:cNvSpPr/>
          <p:nvPr/>
        </p:nvSpPr>
        <p:spPr>
          <a:xfrm>
            <a:off x="1100138" y="1471613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Skillbox Holding</a:t>
            </a:r>
            <a:endParaRPr lang="en-US" sz="863" dirty="0"/>
          </a:p>
        </p:txBody>
      </p:sp>
      <p:sp>
        <p:nvSpPr>
          <p:cNvPr id="26" name="TextBox 27"/>
          <p:cNvSpPr/>
          <p:nvPr/>
        </p:nvSpPr>
        <p:spPr>
          <a:xfrm>
            <a:off x="4286251" y="1471613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12,2</a:t>
            </a:r>
            <a:endParaRPr lang="en-US" sz="863" dirty="0"/>
          </a:p>
        </p:txBody>
      </p:sp>
      <p:sp>
        <p:nvSpPr>
          <p:cNvPr id="27" name="TextBox 28"/>
          <p:cNvSpPr/>
          <p:nvPr/>
        </p:nvSpPr>
        <p:spPr>
          <a:xfrm>
            <a:off x="5172076" y="1471613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12,8–12,9</a:t>
            </a:r>
            <a:endParaRPr lang="en-US" sz="863" dirty="0"/>
          </a:p>
        </p:txBody>
      </p:sp>
      <p:sp>
        <p:nvSpPr>
          <p:cNvPr id="28" name="TextBox 29"/>
          <p:cNvSpPr/>
          <p:nvPr/>
        </p:nvSpPr>
        <p:spPr>
          <a:xfrm>
            <a:off x="6067425" y="1471613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6B76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+5%</a:t>
            </a:r>
            <a:endParaRPr lang="en-US" sz="863" dirty="0"/>
          </a:p>
        </p:txBody>
      </p:sp>
      <p:sp>
        <p:nvSpPr>
          <p:cNvPr id="29" name="TextBox 30"/>
          <p:cNvSpPr/>
          <p:nvPr/>
        </p:nvSpPr>
        <p:spPr>
          <a:xfrm>
            <a:off x="6929437" y="1395412"/>
            <a:ext cx="1645920" cy="304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VK · вкл. GeekBrains, Skillfactory</a:t>
            </a:r>
            <a:endParaRPr lang="en-US" sz="863" dirty="0"/>
          </a:p>
        </p:txBody>
      </p:sp>
      <p:sp>
        <p:nvSpPr>
          <p:cNvPr id="30" name="Shape 31"/>
          <p:cNvSpPr/>
          <p:nvPr/>
        </p:nvSpPr>
        <p:spPr>
          <a:xfrm>
            <a:off x="576263" y="1743075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31" name="Picture 3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263" y="1743075"/>
            <a:ext cx="7991475" cy="233362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690563" y="1781175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863" dirty="0"/>
          </a:p>
        </p:txBody>
      </p:sp>
      <p:sp>
        <p:nvSpPr>
          <p:cNvPr id="33" name="TextBox 33"/>
          <p:cNvSpPr/>
          <p:nvPr/>
        </p:nvSpPr>
        <p:spPr>
          <a:xfrm>
            <a:off x="1100138" y="1781175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Skyeng</a:t>
            </a:r>
            <a:endParaRPr lang="en-US" sz="863" dirty="0"/>
          </a:p>
        </p:txBody>
      </p:sp>
      <p:sp>
        <p:nvSpPr>
          <p:cNvPr id="34" name="TextBox 34"/>
          <p:cNvSpPr/>
          <p:nvPr/>
        </p:nvSpPr>
        <p:spPr>
          <a:xfrm>
            <a:off x="4286251" y="1781175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12,1</a:t>
            </a:r>
            <a:endParaRPr lang="en-US" sz="863" dirty="0"/>
          </a:p>
        </p:txBody>
      </p:sp>
      <p:sp>
        <p:nvSpPr>
          <p:cNvPr id="35" name="TextBox 35"/>
          <p:cNvSpPr/>
          <p:nvPr/>
        </p:nvSpPr>
        <p:spPr>
          <a:xfrm>
            <a:off x="5172076" y="1781175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12,7–12,8</a:t>
            </a:r>
            <a:endParaRPr lang="en-US" sz="863" dirty="0"/>
          </a:p>
        </p:txBody>
      </p:sp>
      <p:sp>
        <p:nvSpPr>
          <p:cNvPr id="36" name="TextBox 36"/>
          <p:cNvSpPr/>
          <p:nvPr/>
        </p:nvSpPr>
        <p:spPr>
          <a:xfrm>
            <a:off x="6067425" y="1781175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6B76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+5%</a:t>
            </a:r>
            <a:endParaRPr lang="en-US" sz="863" dirty="0"/>
          </a:p>
        </p:txBody>
      </p:sp>
      <p:sp>
        <p:nvSpPr>
          <p:cNvPr id="37" name="TextBox 37"/>
          <p:cNvSpPr/>
          <p:nvPr/>
        </p:nvSpPr>
        <p:spPr>
          <a:xfrm>
            <a:off x="6929437" y="1781175"/>
            <a:ext cx="1676400" cy="15240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независимая</a:t>
            </a:r>
            <a:endParaRPr lang="en-US" sz="863" dirty="0"/>
          </a:p>
        </p:txBody>
      </p:sp>
      <p:sp>
        <p:nvSpPr>
          <p:cNvPr id="38" name="Shape 38"/>
          <p:cNvSpPr/>
          <p:nvPr/>
        </p:nvSpPr>
        <p:spPr>
          <a:xfrm>
            <a:off x="576263" y="1976438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39" name="Picture 38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263" y="1976438"/>
            <a:ext cx="7991475" cy="233362"/>
          </a:xfrm>
          <a:prstGeom prst="rect">
            <a:avLst/>
          </a:prstGeom>
        </p:spPr>
      </p:pic>
      <p:sp>
        <p:nvSpPr>
          <p:cNvPr id="40" name="TextBox 39"/>
          <p:cNvSpPr/>
          <p:nvPr/>
        </p:nvSpPr>
        <p:spPr>
          <a:xfrm>
            <a:off x="690563" y="2014537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863" dirty="0"/>
          </a:p>
        </p:txBody>
      </p:sp>
      <p:sp>
        <p:nvSpPr>
          <p:cNvPr id="41" name="TextBox 40"/>
          <p:cNvSpPr/>
          <p:nvPr/>
        </p:nvSpPr>
        <p:spPr>
          <a:xfrm>
            <a:off x="1100138" y="2014537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Яндекс Практикум</a:t>
            </a:r>
            <a:endParaRPr lang="en-US" sz="863" dirty="0"/>
          </a:p>
        </p:txBody>
      </p:sp>
      <p:sp>
        <p:nvSpPr>
          <p:cNvPr id="42" name="TextBox 41"/>
          <p:cNvSpPr/>
          <p:nvPr/>
        </p:nvSpPr>
        <p:spPr>
          <a:xfrm>
            <a:off x="4286251" y="2014537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8,3</a:t>
            </a:r>
            <a:endParaRPr lang="en-US" sz="863" dirty="0"/>
          </a:p>
        </p:txBody>
      </p:sp>
      <p:sp>
        <p:nvSpPr>
          <p:cNvPr id="43" name="TextBox 42"/>
          <p:cNvSpPr/>
          <p:nvPr/>
        </p:nvSpPr>
        <p:spPr>
          <a:xfrm>
            <a:off x="5172076" y="2014537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8,8</a:t>
            </a:r>
            <a:endParaRPr lang="en-US" sz="863" dirty="0"/>
          </a:p>
        </p:txBody>
      </p:sp>
      <p:sp>
        <p:nvSpPr>
          <p:cNvPr id="44" name="TextBox 43"/>
          <p:cNvSpPr/>
          <p:nvPr/>
        </p:nvSpPr>
        <p:spPr>
          <a:xfrm>
            <a:off x="6067425" y="2014537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6B76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+7%</a:t>
            </a:r>
            <a:endParaRPr lang="en-US" sz="863" dirty="0"/>
          </a:p>
        </p:txBody>
      </p:sp>
      <p:sp>
        <p:nvSpPr>
          <p:cNvPr id="45" name="TextBox 44"/>
          <p:cNvSpPr/>
          <p:nvPr/>
        </p:nvSpPr>
        <p:spPr>
          <a:xfrm>
            <a:off x="6929437" y="2014537"/>
            <a:ext cx="1676400" cy="15240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Яндекс</a:t>
            </a:r>
            <a:endParaRPr lang="en-US" sz="863" dirty="0"/>
          </a:p>
        </p:txBody>
      </p:sp>
      <p:sp>
        <p:nvSpPr>
          <p:cNvPr id="46" name="Shape 45"/>
          <p:cNvSpPr/>
          <p:nvPr/>
        </p:nvSpPr>
        <p:spPr>
          <a:xfrm>
            <a:off x="576263" y="2209800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47" name="Picture 45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263" y="2209800"/>
            <a:ext cx="7991475" cy="233362"/>
          </a:xfrm>
          <a:prstGeom prst="rect">
            <a:avLst/>
          </a:prstGeom>
        </p:spPr>
      </p:pic>
      <p:sp>
        <p:nvSpPr>
          <p:cNvPr id="48" name="TextBox 46"/>
          <p:cNvSpPr/>
          <p:nvPr/>
        </p:nvSpPr>
        <p:spPr>
          <a:xfrm>
            <a:off x="690563" y="2247900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863" dirty="0"/>
          </a:p>
        </p:txBody>
      </p:sp>
      <p:sp>
        <p:nvSpPr>
          <p:cNvPr id="49" name="TextBox 47"/>
          <p:cNvSpPr/>
          <p:nvPr/>
        </p:nvSpPr>
        <p:spPr>
          <a:xfrm>
            <a:off x="1100138" y="2247900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Учи.ру</a:t>
            </a:r>
            <a:endParaRPr lang="en-US" sz="863" dirty="0"/>
          </a:p>
        </p:txBody>
      </p:sp>
      <p:sp>
        <p:nvSpPr>
          <p:cNvPr id="50" name="TextBox 48"/>
          <p:cNvSpPr/>
          <p:nvPr/>
        </p:nvSpPr>
        <p:spPr>
          <a:xfrm>
            <a:off x="4286251" y="224790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5,2</a:t>
            </a:r>
            <a:endParaRPr lang="en-US" sz="863" dirty="0"/>
          </a:p>
        </p:txBody>
      </p:sp>
      <p:sp>
        <p:nvSpPr>
          <p:cNvPr id="51" name="TextBox 49"/>
          <p:cNvSpPr/>
          <p:nvPr/>
        </p:nvSpPr>
        <p:spPr>
          <a:xfrm>
            <a:off x="5172076" y="224790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7,2</a:t>
            </a:r>
            <a:endParaRPr lang="en-US" sz="863" dirty="0"/>
          </a:p>
        </p:txBody>
      </p:sp>
      <p:sp>
        <p:nvSpPr>
          <p:cNvPr id="52" name="TextBox 50"/>
          <p:cNvSpPr/>
          <p:nvPr/>
        </p:nvSpPr>
        <p:spPr>
          <a:xfrm>
            <a:off x="6067425" y="2247900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+18%</a:t>
            </a:r>
            <a:endParaRPr lang="en-US" sz="863" dirty="0"/>
          </a:p>
        </p:txBody>
      </p:sp>
      <p:sp>
        <p:nvSpPr>
          <p:cNvPr id="53" name="TextBox 51"/>
          <p:cNvSpPr/>
          <p:nvPr/>
        </p:nvSpPr>
        <p:spPr>
          <a:xfrm>
            <a:off x="6929437" y="2247900"/>
            <a:ext cx="1676400" cy="15240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VK</a:t>
            </a:r>
            <a:endParaRPr lang="en-US" sz="863" dirty="0"/>
          </a:p>
        </p:txBody>
      </p:sp>
      <p:sp>
        <p:nvSpPr>
          <p:cNvPr id="54" name="Shape 52"/>
          <p:cNvSpPr/>
          <p:nvPr/>
        </p:nvSpPr>
        <p:spPr>
          <a:xfrm>
            <a:off x="576263" y="2443163"/>
            <a:ext cx="7991475" cy="385763"/>
          </a:xfrm>
          <a:prstGeom prst="rect">
            <a:avLst/>
          </a:prstGeom>
          <a:noFill/>
          <a:ln/>
        </p:spPr>
      </p:sp>
      <p:pic>
        <p:nvPicPr>
          <p:cNvPr id="55" name="Picture 52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263" y="2443163"/>
            <a:ext cx="7991475" cy="385763"/>
          </a:xfrm>
          <a:prstGeom prst="rect">
            <a:avLst/>
          </a:prstGeom>
        </p:spPr>
      </p:pic>
      <p:sp>
        <p:nvSpPr>
          <p:cNvPr id="56" name="TextBox 53"/>
          <p:cNvSpPr/>
          <p:nvPr/>
        </p:nvSpPr>
        <p:spPr>
          <a:xfrm>
            <a:off x="690563" y="2557462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863" dirty="0"/>
          </a:p>
        </p:txBody>
      </p:sp>
      <p:sp>
        <p:nvSpPr>
          <p:cNvPr id="57" name="TextBox 54"/>
          <p:cNvSpPr/>
          <p:nvPr/>
        </p:nvSpPr>
        <p:spPr>
          <a:xfrm>
            <a:off x="1100138" y="2557462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GetCourse</a:t>
            </a:r>
            <a:endParaRPr lang="en-US" sz="863" dirty="0"/>
          </a:p>
        </p:txBody>
      </p:sp>
      <p:sp>
        <p:nvSpPr>
          <p:cNvPr id="58" name="TextBox 55"/>
          <p:cNvSpPr/>
          <p:nvPr/>
        </p:nvSpPr>
        <p:spPr>
          <a:xfrm>
            <a:off x="4286251" y="2557462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6,7</a:t>
            </a:r>
            <a:endParaRPr lang="en-US" sz="863" dirty="0"/>
          </a:p>
        </p:txBody>
      </p:sp>
      <p:sp>
        <p:nvSpPr>
          <p:cNvPr id="59" name="TextBox 56"/>
          <p:cNvSpPr/>
          <p:nvPr/>
        </p:nvSpPr>
        <p:spPr>
          <a:xfrm>
            <a:off x="5172076" y="2557462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6,6</a:t>
            </a:r>
            <a:endParaRPr lang="en-US" sz="863" dirty="0"/>
          </a:p>
        </p:txBody>
      </p:sp>
      <p:sp>
        <p:nvSpPr>
          <p:cNvPr id="60" name="TextBox 57"/>
          <p:cNvSpPr/>
          <p:nvPr/>
        </p:nvSpPr>
        <p:spPr>
          <a:xfrm>
            <a:off x="6067425" y="2557462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−2%</a:t>
            </a:r>
            <a:endParaRPr lang="en-US" sz="863" dirty="0"/>
          </a:p>
        </p:txBody>
      </p:sp>
      <p:sp>
        <p:nvSpPr>
          <p:cNvPr id="61" name="TextBox 58"/>
          <p:cNvSpPr/>
          <p:nvPr/>
        </p:nvSpPr>
        <p:spPr>
          <a:xfrm>
            <a:off x="6929437" y="2481263"/>
            <a:ext cx="1645920" cy="304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платформа · первое падение</a:t>
            </a:r>
            <a:endParaRPr lang="en-US" sz="863" dirty="0"/>
          </a:p>
        </p:txBody>
      </p:sp>
      <p:sp>
        <p:nvSpPr>
          <p:cNvPr id="62" name="Shape 59"/>
          <p:cNvSpPr/>
          <p:nvPr/>
        </p:nvSpPr>
        <p:spPr>
          <a:xfrm>
            <a:off x="576263" y="2828925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63" name="Picture 5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263" y="2828925"/>
            <a:ext cx="7991475" cy="233362"/>
          </a:xfrm>
          <a:prstGeom prst="rect">
            <a:avLst/>
          </a:prstGeom>
        </p:spPr>
      </p:pic>
      <p:sp>
        <p:nvSpPr>
          <p:cNvPr id="64" name="TextBox 60"/>
          <p:cNvSpPr/>
          <p:nvPr/>
        </p:nvSpPr>
        <p:spPr>
          <a:xfrm>
            <a:off x="690563" y="2867025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863" dirty="0"/>
          </a:p>
        </p:txBody>
      </p:sp>
      <p:sp>
        <p:nvSpPr>
          <p:cNvPr id="65" name="TextBox 61"/>
          <p:cNvSpPr/>
          <p:nvPr/>
        </p:nvSpPr>
        <p:spPr>
          <a:xfrm>
            <a:off x="1100138" y="2867025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Фоксфорд</a:t>
            </a:r>
            <a:endParaRPr lang="en-US" sz="863" dirty="0"/>
          </a:p>
        </p:txBody>
      </p:sp>
      <p:sp>
        <p:nvSpPr>
          <p:cNvPr id="66" name="TextBox 62"/>
          <p:cNvSpPr/>
          <p:nvPr/>
        </p:nvSpPr>
        <p:spPr>
          <a:xfrm>
            <a:off x="4286251" y="2867025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5,2</a:t>
            </a:r>
            <a:endParaRPr lang="en-US" sz="863" dirty="0"/>
          </a:p>
        </p:txBody>
      </p:sp>
      <p:sp>
        <p:nvSpPr>
          <p:cNvPr id="67" name="TextBox 63"/>
          <p:cNvSpPr/>
          <p:nvPr/>
        </p:nvSpPr>
        <p:spPr>
          <a:xfrm>
            <a:off x="5172076" y="2867025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5,8</a:t>
            </a:r>
            <a:endParaRPr lang="en-US" sz="863" dirty="0"/>
          </a:p>
        </p:txBody>
      </p:sp>
      <p:sp>
        <p:nvSpPr>
          <p:cNvPr id="68" name="TextBox 64"/>
          <p:cNvSpPr/>
          <p:nvPr/>
        </p:nvSpPr>
        <p:spPr>
          <a:xfrm>
            <a:off x="6067425" y="2867025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6B76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+12%</a:t>
            </a:r>
            <a:endParaRPr lang="en-US" sz="863" dirty="0"/>
          </a:p>
        </p:txBody>
      </p:sp>
      <p:sp>
        <p:nvSpPr>
          <p:cNvPr id="69" name="TextBox 65"/>
          <p:cNvSpPr/>
          <p:nvPr/>
        </p:nvSpPr>
        <p:spPr>
          <a:xfrm>
            <a:off x="6929437" y="2867025"/>
            <a:ext cx="1676400" cy="15240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Сбербанк (с окт. 2024)</a:t>
            </a:r>
            <a:endParaRPr lang="en-US" sz="863" dirty="0"/>
          </a:p>
        </p:txBody>
      </p:sp>
      <p:sp>
        <p:nvSpPr>
          <p:cNvPr id="70" name="Shape 66"/>
          <p:cNvSpPr/>
          <p:nvPr/>
        </p:nvSpPr>
        <p:spPr>
          <a:xfrm>
            <a:off x="576263" y="3062288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71" name="Picture 66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6263" y="3062288"/>
            <a:ext cx="7991475" cy="233362"/>
          </a:xfrm>
          <a:prstGeom prst="rect">
            <a:avLst/>
          </a:prstGeom>
        </p:spPr>
      </p:pic>
      <p:sp>
        <p:nvSpPr>
          <p:cNvPr id="72" name="TextBox 67"/>
          <p:cNvSpPr/>
          <p:nvPr/>
        </p:nvSpPr>
        <p:spPr>
          <a:xfrm>
            <a:off x="690563" y="3100387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863" dirty="0"/>
          </a:p>
        </p:txBody>
      </p:sp>
      <p:sp>
        <p:nvSpPr>
          <p:cNvPr id="73" name="TextBox 68"/>
          <p:cNvSpPr/>
          <p:nvPr/>
        </p:nvSpPr>
        <p:spPr>
          <a:xfrm>
            <a:off x="1100138" y="3100387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Умскул</a:t>
            </a:r>
            <a:endParaRPr lang="en-US" sz="863" dirty="0"/>
          </a:p>
        </p:txBody>
      </p:sp>
      <p:sp>
        <p:nvSpPr>
          <p:cNvPr id="74" name="TextBox 69"/>
          <p:cNvSpPr/>
          <p:nvPr/>
        </p:nvSpPr>
        <p:spPr>
          <a:xfrm>
            <a:off x="4286251" y="3100387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4,8</a:t>
            </a:r>
            <a:endParaRPr lang="en-US" sz="863" dirty="0"/>
          </a:p>
        </p:txBody>
      </p:sp>
      <p:sp>
        <p:nvSpPr>
          <p:cNvPr id="75" name="TextBox 70"/>
          <p:cNvSpPr/>
          <p:nvPr/>
        </p:nvSpPr>
        <p:spPr>
          <a:xfrm>
            <a:off x="5172076" y="3100387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5,3</a:t>
            </a:r>
            <a:endParaRPr lang="en-US" sz="863" dirty="0"/>
          </a:p>
        </p:txBody>
      </p:sp>
      <p:sp>
        <p:nvSpPr>
          <p:cNvPr id="76" name="TextBox 71"/>
          <p:cNvSpPr/>
          <p:nvPr/>
        </p:nvSpPr>
        <p:spPr>
          <a:xfrm>
            <a:off x="6067425" y="3100387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+34%</a:t>
            </a:r>
            <a:endParaRPr lang="en-US" sz="863" dirty="0"/>
          </a:p>
        </p:txBody>
      </p:sp>
      <p:sp>
        <p:nvSpPr>
          <p:cNvPr id="77" name="TextBox 72"/>
          <p:cNvSpPr/>
          <p:nvPr/>
        </p:nvSpPr>
        <p:spPr>
          <a:xfrm>
            <a:off x="6929437" y="3100387"/>
            <a:ext cx="1676400" cy="152400"/>
          </a:xfrm>
          <a:prstGeom prst="rect">
            <a:avLst/>
          </a:prstGeom>
          <a:noFill/>
          <a:ln/>
        </p:spPr>
        <p:txBody>
          <a:bodyPr wrap="non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VK – миноритарный пакет</a:t>
            </a:r>
            <a:endParaRPr lang="en-US" sz="863" dirty="0"/>
          </a:p>
        </p:txBody>
      </p:sp>
      <p:sp>
        <p:nvSpPr>
          <p:cNvPr id="78" name="Shape 73"/>
          <p:cNvSpPr/>
          <p:nvPr/>
        </p:nvSpPr>
        <p:spPr>
          <a:xfrm>
            <a:off x="576263" y="3295650"/>
            <a:ext cx="7991475" cy="233362"/>
          </a:xfrm>
          <a:prstGeom prst="rect">
            <a:avLst/>
          </a:prstGeom>
          <a:noFill/>
          <a:ln/>
        </p:spPr>
      </p:sp>
      <p:pic>
        <p:nvPicPr>
          <p:cNvPr id="79" name="Picture 73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6263" y="3295650"/>
            <a:ext cx="7991475" cy="233362"/>
          </a:xfrm>
          <a:prstGeom prst="rect">
            <a:avLst/>
          </a:prstGeom>
        </p:spPr>
      </p:pic>
      <p:sp>
        <p:nvSpPr>
          <p:cNvPr id="80" name="TextBox 74"/>
          <p:cNvSpPr/>
          <p:nvPr/>
        </p:nvSpPr>
        <p:spPr>
          <a:xfrm>
            <a:off x="690563" y="3333750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863" dirty="0"/>
          </a:p>
        </p:txBody>
      </p:sp>
      <p:sp>
        <p:nvSpPr>
          <p:cNvPr id="81" name="TextBox 75"/>
          <p:cNvSpPr/>
          <p:nvPr/>
        </p:nvSpPr>
        <p:spPr>
          <a:xfrm>
            <a:off x="1100138" y="3333750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Актион Университет</a:t>
            </a:r>
            <a:endParaRPr lang="en-US" sz="863" dirty="0"/>
          </a:p>
        </p:txBody>
      </p:sp>
      <p:sp>
        <p:nvSpPr>
          <p:cNvPr id="82" name="TextBox 76"/>
          <p:cNvSpPr/>
          <p:nvPr/>
        </p:nvSpPr>
        <p:spPr>
          <a:xfrm>
            <a:off x="4286251" y="333375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4,5</a:t>
            </a:r>
            <a:endParaRPr lang="en-US" sz="863" dirty="0"/>
          </a:p>
        </p:txBody>
      </p:sp>
      <p:sp>
        <p:nvSpPr>
          <p:cNvPr id="83" name="TextBox 77"/>
          <p:cNvSpPr/>
          <p:nvPr/>
        </p:nvSpPr>
        <p:spPr>
          <a:xfrm>
            <a:off x="5172076" y="3333750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5,2</a:t>
            </a:r>
            <a:endParaRPr lang="en-US" sz="863" dirty="0"/>
          </a:p>
        </p:txBody>
      </p:sp>
      <p:sp>
        <p:nvSpPr>
          <p:cNvPr id="84" name="TextBox 78"/>
          <p:cNvSpPr/>
          <p:nvPr/>
        </p:nvSpPr>
        <p:spPr>
          <a:xfrm>
            <a:off x="6067425" y="3333750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+16%</a:t>
            </a:r>
            <a:endParaRPr lang="en-US" sz="863" dirty="0"/>
          </a:p>
        </p:txBody>
      </p:sp>
      <p:sp>
        <p:nvSpPr>
          <p:cNvPr id="85" name="TextBox 81"/>
          <p:cNvSpPr/>
          <p:nvPr/>
        </p:nvSpPr>
        <p:spPr>
          <a:xfrm>
            <a:off x="690563" y="3643312"/>
            <a:ext cx="393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863" dirty="0"/>
          </a:p>
        </p:txBody>
      </p:sp>
      <p:sp>
        <p:nvSpPr>
          <p:cNvPr id="86" name="TextBox 82"/>
          <p:cNvSpPr/>
          <p:nvPr/>
        </p:nvSpPr>
        <p:spPr>
          <a:xfrm>
            <a:off x="1100138" y="3643312"/>
            <a:ext cx="35099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Стобалльный репетитор</a:t>
            </a:r>
            <a:endParaRPr lang="en-US" sz="863" dirty="0"/>
          </a:p>
        </p:txBody>
      </p:sp>
      <p:sp>
        <p:nvSpPr>
          <p:cNvPr id="87" name="TextBox 83"/>
          <p:cNvSpPr/>
          <p:nvPr/>
        </p:nvSpPr>
        <p:spPr>
          <a:xfrm>
            <a:off x="4286251" y="3643312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–</a:t>
            </a:r>
            <a:endParaRPr lang="en-US" sz="863" dirty="0"/>
          </a:p>
        </p:txBody>
      </p:sp>
      <p:sp>
        <p:nvSpPr>
          <p:cNvPr id="88" name="TextBox 84"/>
          <p:cNvSpPr/>
          <p:nvPr/>
        </p:nvSpPr>
        <p:spPr>
          <a:xfrm>
            <a:off x="5172076" y="3643312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4,4</a:t>
            </a:r>
            <a:endParaRPr lang="en-US" sz="863" dirty="0"/>
          </a:p>
        </p:txBody>
      </p:sp>
      <p:sp>
        <p:nvSpPr>
          <p:cNvPr id="89" name="TextBox 85"/>
          <p:cNvSpPr/>
          <p:nvPr/>
        </p:nvSpPr>
        <p:spPr>
          <a:xfrm>
            <a:off x="6067425" y="3643312"/>
            <a:ext cx="7858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+118%</a:t>
            </a:r>
            <a:endParaRPr lang="en-US" sz="863" dirty="0"/>
          </a:p>
        </p:txBody>
      </p:sp>
      <p:sp>
        <p:nvSpPr>
          <p:cNvPr id="90" name="TextBox 86"/>
          <p:cNvSpPr/>
          <p:nvPr/>
        </p:nvSpPr>
        <p:spPr>
          <a:xfrm>
            <a:off x="6929437" y="3567113"/>
            <a:ext cx="1645920" cy="304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новичок · подготовка к ЕГЭ</a:t>
            </a:r>
            <a:endParaRPr lang="en-US" sz="863" dirty="0"/>
          </a:p>
        </p:txBody>
      </p:sp>
      <p:sp>
        <p:nvSpPr>
          <p:cNvPr id="91" name="TextBox 87"/>
          <p:cNvSpPr/>
          <p:nvPr/>
        </p:nvSpPr>
        <p:spPr>
          <a:xfrm>
            <a:off x="571500" y="4492972"/>
            <a:ext cx="8001000" cy="174278"/>
          </a:xfrm>
          <a:prstGeom prst="rect">
            <a:avLst/>
          </a:prstGeom>
          <a:noFill/>
          <a:ln/>
        </p:spPr>
        <p:txBody>
          <a:bodyPr wrap="square" lIns="0" tIns="3810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Выручка, млрд ₽. Skillbox возглавлял рейтинг 13 кварталов из 16 в 2021–2024; в I кв. 2026-го – </a:t>
            </a:r>
            <a:r>
              <a:rPr lang="en-US" sz="825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−11%</a:t>
            </a: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выручки</a:t>
            </a:r>
            <a:endParaRPr lang="en-US" sz="825" dirty="0"/>
          </a:p>
        </p:txBody>
      </p:sp>
      <p:sp>
        <p:nvSpPr>
          <p:cNvPr id="92" name="Shape 88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93" name="Picture 88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94" name="TextBox 89"/>
          <p:cNvSpPr/>
          <p:nvPr/>
        </p:nvSpPr>
        <p:spPr>
          <a:xfrm>
            <a:off x="571500" y="4814888"/>
            <a:ext cx="31969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Ranking, годовой рейтинг за 2025 год · TAdviser</a:t>
            </a:r>
            <a:endParaRPr lang="en-US" sz="900" dirty="0"/>
          </a:p>
        </p:txBody>
      </p:sp>
      <p:sp>
        <p:nvSpPr>
          <p:cNvPr id="95" name="TextBox 90"/>
          <p:cNvSpPr/>
          <p:nvPr/>
        </p:nvSpPr>
        <p:spPr>
          <a:xfrm>
            <a:off x="8277820" y="4814888"/>
            <a:ext cx="35468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 accel="20000" de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 accel="20000" decel="6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50" fill="hold" accel="20000" decel="6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50" fill="hold" accel="20000" decel="6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50" fill="hold" accel="20000" decel="6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 accel="20000" decel="6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50" fill="hold" accel="20000" decel="6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50" fill="hold" accel="20000" de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50" fill="hold" accel="20000" de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50" fill="hold" accel="20000" de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50" fill="hold" accel="20000" decel="6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50" fill="hold" accel="20000" decel="6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50" fill="hold" accel="20000" decel="6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50" fill="hold" accel="20000" decel="6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50" fill="hold" accel="20000" decel="6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50" fill="hold" accel="20000" decel="6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50" fill="hold" accel="20000" decel="6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50" fill="hold" accel="20000" decel="6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50" fill="hold" accel="20000" decel="6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550" fill="hold" accel="20000" decel="6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50" fill="hold" accel="20000" decel="6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50" fill="hold" accel="20000" decel="6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550" fill="hold" accel="20000" decel="6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550" fill="hold" accel="20000" decel="6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550" fill="hold" accel="20000" decel="6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550" fill="hold" accel="20000" decel="6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550" fill="hold" accel="20000" decel="6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550" fill="hold" accel="20000" decel="60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550" fill="hold" accel="20000" decel="60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550" fill="hold" accel="20000" decel="60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550" fill="hold" accel="20000" decel="60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550" fill="hold" accel="20000" decel="60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550" fill="hold" accel="20000" decel="60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550" fill="hold" accel="20000" decel="60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3" dur="550" fill="hold" accel="20000" decel="60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550" fill="hold" accel="20000" decel="60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1" dur="550" fill="hold" accel="20000" decel="60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5" dur="550" fill="hold" accel="20000" decel="60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9" dur="550" fill="hold" accel="20000" decel="60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3" dur="550" fill="hold" accel="20000" decel="60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7" dur="550" fill="hold" accel="20000" decel="60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1" dur="550" fill="hold" accel="20000" decel="60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5" dur="550" fill="hold" accel="20000" decel="60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9" dur="550" fill="hold" accel="20000" decel="60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3" dur="550" fill="hold" accel="20000" decel="60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7" dur="550" fill="hold" accel="20000" decel="60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1" dur="550" fill="hold" accel="20000" decel="60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5" dur="550" fill="hold" accel="20000" decel="60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9" dur="550" fill="hold" accel="20000" decel="60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3" dur="550" fill="hold" accel="20000" decel="60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7" dur="550" fill="hold" accel="20000" decel="60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1" dur="550" fill="hold" accel="20000" decel="60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5" dur="550" fill="hold" accel="20000" decel="60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9" dur="550" fill="hold" accel="20000" decel="60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3" dur="550" fill="hold" accel="20000" decel="60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7" dur="550" fill="hold" accel="20000" decel="60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1" dur="550" fill="hold" accel="20000" decel="60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550" fill="hold" accel="20000" decel="60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9" dur="550" fill="hold" accel="20000" decel="60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3" dur="550" fill="hold" accel="20000" decel="60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7" dur="550" fill="hold" accel="20000" decel="60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1" dur="550" fill="hold" accel="20000" decel="60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5" dur="550" fill="hold" accel="20000" decel="60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2" grpId="0" animBg="1"/>
      <p:bldP spid="93" grpId="0" animBg="1"/>
      <p:bldP spid="94" grpId="0" animBg="1"/>
      <p:bldP spid="9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ПОКУПАТЕЛЬ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Рассрочка и цена денег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801100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Ставка 21% сломала несущую конструкцию продаж дорогих программ</a:t>
            </a:r>
            <a:endParaRPr lang="en-US" sz="975" dirty="0"/>
          </a:p>
        </p:txBody>
      </p:sp>
      <p:sp>
        <p:nvSpPr>
          <p:cNvPr id="7" name="Shape 7"/>
          <p:cNvSpPr/>
          <p:nvPr/>
        </p:nvSpPr>
        <p:spPr>
          <a:xfrm>
            <a:off x="571500" y="946770"/>
            <a:ext cx="2095500" cy="371095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8" name="TextBox 8"/>
          <p:cNvSpPr/>
          <p:nvPr/>
        </p:nvSpPr>
        <p:spPr>
          <a:xfrm>
            <a:off x="709613" y="1056308"/>
            <a:ext cx="19648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Одобрение заявок на рассрочку</a:t>
            </a:r>
            <a:endParaRPr lang="en-US" sz="900" dirty="0"/>
          </a:p>
        </p:txBody>
      </p:sp>
      <p:sp>
        <p:nvSpPr>
          <p:cNvPr id="9" name="TextBox 10"/>
          <p:cNvSpPr/>
          <p:nvPr/>
        </p:nvSpPr>
        <p:spPr>
          <a:xfrm>
            <a:off x="709613" y="1437308"/>
            <a:ext cx="67563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~80%</a:t>
            </a:r>
            <a:endParaRPr lang="en-US" sz="1650" dirty="0"/>
          </a:p>
        </p:txBody>
      </p:sp>
      <p:pic>
        <p:nvPicPr>
          <p:cNvPr id="10" name="Picture 1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076" y="1516707"/>
            <a:ext cx="190500" cy="126950"/>
          </a:xfrm>
          <a:prstGeom prst="rect">
            <a:avLst/>
          </a:prstGeom>
        </p:spPr>
      </p:pic>
      <p:sp>
        <p:nvSpPr>
          <p:cNvPr id="11" name="TextBox 12"/>
          <p:cNvSpPr/>
          <p:nvPr/>
        </p:nvSpPr>
        <p:spPr>
          <a:xfrm>
            <a:off x="1704826" y="1456358"/>
            <a:ext cx="5870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~20%</a:t>
            </a:r>
            <a:endParaRPr lang="en-US" sz="1425" dirty="0"/>
          </a:p>
        </p:txBody>
      </p:sp>
      <p:sp>
        <p:nvSpPr>
          <p:cNvPr id="12" name="TextBox 13"/>
          <p:cNvSpPr/>
          <p:nvPr/>
        </p:nvSpPr>
        <p:spPr>
          <a:xfrm>
            <a:off x="709613" y="1789733"/>
            <a:ext cx="1964817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после подъёма ключевой ставки с 16% до 21% в 2024 году</a:t>
            </a:r>
            <a:endParaRPr lang="en-US" sz="825" dirty="0"/>
          </a:p>
        </p:txBody>
      </p:sp>
      <p:pic>
        <p:nvPicPr>
          <p:cNvPr id="13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613" y="3956745"/>
            <a:ext cx="1819275" cy="591443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709613" y="3956745"/>
            <a:ext cx="1964817" cy="591443"/>
          </a:xfrm>
          <a:prstGeom prst="rect">
            <a:avLst/>
          </a:prstGeom>
          <a:noFill/>
          <a:ln/>
        </p:spPr>
        <p:txBody>
          <a:bodyPr wrap="square" lIns="0" tIns="66675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Оценка Prodamus – единственный источник; направление подтверждает общебанковская статистика</a:t>
            </a:r>
            <a:endParaRPr lang="en-US" sz="788" dirty="0"/>
          </a:p>
        </p:txBody>
      </p:sp>
      <p:sp>
        <p:nvSpPr>
          <p:cNvPr id="15" name="Shape 15"/>
          <p:cNvSpPr/>
          <p:nvPr/>
        </p:nvSpPr>
        <p:spPr>
          <a:xfrm>
            <a:off x="2781300" y="946770"/>
            <a:ext cx="3581400" cy="3710955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16"/>
          <p:cNvSpPr/>
          <p:nvPr/>
        </p:nvSpPr>
        <p:spPr>
          <a:xfrm>
            <a:off x="2919413" y="1056308"/>
            <a:ext cx="36356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Кто покупает в рассрочку – зависит от чека</a:t>
            </a:r>
            <a:endParaRPr lang="en-US" sz="900" dirty="0"/>
          </a:p>
        </p:txBody>
      </p:sp>
      <p:pic>
        <p:nvPicPr>
          <p:cNvPr id="17" name="Picture 18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9413" y="1270620"/>
            <a:ext cx="3305175" cy="1143000"/>
          </a:xfrm>
          <a:prstGeom prst="rect">
            <a:avLst/>
          </a:prstGeom>
        </p:spPr>
      </p:pic>
      <p:pic>
        <p:nvPicPr>
          <p:cNvPr id="18" name="Picture 19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26482" y="1489100"/>
            <a:ext cx="47030" cy="141163"/>
          </a:xfrm>
          <a:prstGeom prst="rect">
            <a:avLst/>
          </a:prstGeom>
        </p:spPr>
      </p:pic>
      <p:pic>
        <p:nvPicPr>
          <p:cNvPr id="19" name="Picture 20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6482" y="1865635"/>
            <a:ext cx="1418630" cy="141163"/>
          </a:xfrm>
          <a:prstGeom prst="rect">
            <a:avLst/>
          </a:prstGeom>
        </p:spPr>
      </p:pic>
      <p:pic>
        <p:nvPicPr>
          <p:cNvPr id="20" name="Picture 21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26482" y="2242170"/>
            <a:ext cx="1701031" cy="141163"/>
          </a:xfrm>
          <a:prstGeom prst="rect">
            <a:avLst/>
          </a:prstGeom>
        </p:spPr>
      </p:pic>
      <p:sp>
        <p:nvSpPr>
          <p:cNvPr id="21" name="TextBox 22"/>
          <p:cNvSpPr/>
          <p:nvPr/>
        </p:nvSpPr>
        <p:spPr>
          <a:xfrm>
            <a:off x="2919413" y="2470770"/>
            <a:ext cx="33051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Платёжные данные Центрального университета, 52 млн человек. Курсы дороже 100 тыс. ₽ теряют долю в платежах</a:t>
            </a:r>
            <a:endParaRPr lang="en-US" sz="900" dirty="0"/>
          </a:p>
        </p:txBody>
      </p:sp>
      <p:sp>
        <p:nvSpPr>
          <p:cNvPr id="22" name="Shape 24"/>
          <p:cNvSpPr/>
          <p:nvPr/>
        </p:nvSpPr>
        <p:spPr>
          <a:xfrm>
            <a:off x="6477000" y="946770"/>
            <a:ext cx="2095500" cy="929878"/>
          </a:xfrm>
          <a:prstGeom prst="roundRect">
            <a:avLst>
              <a:gd name="adj" fmla="val 8195"/>
            </a:avLst>
          </a:prstGeom>
          <a:solidFill>
            <a:srgbClr val="20242A"/>
          </a:solidFill>
          <a:ln/>
        </p:spPr>
      </p:sp>
      <p:sp>
        <p:nvSpPr>
          <p:cNvPr id="23" name="TextBox 25"/>
          <p:cNvSpPr/>
          <p:nvPr/>
        </p:nvSpPr>
        <p:spPr>
          <a:xfrm>
            <a:off x="6600825" y="1032495"/>
            <a:ext cx="203263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21% → 14,25%</a:t>
            </a:r>
            <a:endParaRPr lang="en-US" sz="1425" dirty="0"/>
          </a:p>
        </p:txBody>
      </p:sp>
      <p:sp>
        <p:nvSpPr>
          <p:cNvPr id="24" name="TextBox 26"/>
          <p:cNvSpPr/>
          <p:nvPr/>
        </p:nvSpPr>
        <p:spPr>
          <a:xfrm>
            <a:off x="6600825" y="1308720"/>
            <a:ext cx="199567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ключевая ставка: пик 2024-го → июнь 2026-го, девять снижений подряд</a:t>
            </a:r>
            <a:endParaRPr lang="en-US" sz="938" dirty="0"/>
          </a:p>
        </p:txBody>
      </p:sp>
      <p:sp>
        <p:nvSpPr>
          <p:cNvPr id="25" name="TextBox 27"/>
          <p:cNvSpPr/>
          <p:nvPr/>
        </p:nvSpPr>
        <p:spPr>
          <a:xfrm>
            <a:off x="6477000" y="1933798"/>
            <a:ext cx="2095500" cy="687586"/>
          </a:xfrm>
          <a:prstGeom prst="roundRect">
            <a:avLst>
              <a:gd name="adj" fmla="val 11082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  <p:txBody>
          <a:bodyPr wrap="square" lIns="114300" tIns="66675" rIns="114300" bIns="66675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Сент. 2025 · «период охлаждения»:</a:t>
            </a: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48 часов ожидания по кредитам свыше 200 тыс. ₽ – удар по продажам «пока действует скидка»</a:t>
            </a:r>
            <a:endParaRPr lang="en-US" sz="825" dirty="0"/>
          </a:p>
        </p:txBody>
      </p:sp>
      <p:sp>
        <p:nvSpPr>
          <p:cNvPr id="26" name="TextBox 28"/>
          <p:cNvSpPr/>
          <p:nvPr/>
        </p:nvSpPr>
        <p:spPr>
          <a:xfrm>
            <a:off x="6477000" y="2678534"/>
            <a:ext cx="2095500" cy="687586"/>
          </a:xfrm>
          <a:prstGeom prst="roundRect">
            <a:avLst>
              <a:gd name="adj" fmla="val 11082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  <p:txBody>
          <a:bodyPr wrap="square" lIns="114300" tIns="66675" rIns="114300" bIns="66675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Апр. 2026 · 283-ФЗ:</a:t>
            </a: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рассрочки BNPL-сервисов (Сплит, «Подели», Mokka) передаются в кредитные бюро – лазейка закрылась</a:t>
            </a:r>
            <a:endParaRPr lang="en-US" sz="825" dirty="0"/>
          </a:p>
        </p:txBody>
      </p:sp>
      <p:sp>
        <p:nvSpPr>
          <p:cNvPr id="27" name="TextBox 29"/>
          <p:cNvSpPr/>
          <p:nvPr/>
        </p:nvSpPr>
        <p:spPr>
          <a:xfrm>
            <a:off x="6477000" y="3423270"/>
            <a:ext cx="2095500" cy="1234455"/>
          </a:xfrm>
          <a:prstGeom prst="roundRect">
            <a:avLst>
              <a:gd name="adj" fmla="val 6173"/>
            </a:avLst>
          </a:prstGeom>
          <a:solidFill>
            <a:srgbClr val="E7F4EE"/>
          </a:solidFill>
          <a:ln w="4763">
            <a:solidFill>
              <a:srgbClr val="BFE3D2"/>
            </a:solidFill>
            <a:prstDash val="solid"/>
          </a:ln>
        </p:spPr>
        <p:txBody>
          <a:bodyPr wrap="square" lIns="114300" tIns="66675" rIns="114300" bIns="66675" rtlCol="0" anchor="ctr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17563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Ответ школ: модульная оплата по этапам обучения, дробление продуктов, умеренные чеки</a:t>
            </a:r>
            <a:endParaRPr lang="en-US" sz="825" dirty="0"/>
          </a:p>
        </p:txBody>
      </p:sp>
      <p:sp>
        <p:nvSpPr>
          <p:cNvPr id="28" name="Shape 30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9" name="Picture 30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30" name="TextBox 31"/>
          <p:cNvSpPr/>
          <p:nvPr/>
        </p:nvSpPr>
        <p:spPr>
          <a:xfrm>
            <a:off x="571500" y="4814888"/>
            <a:ext cx="49626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«Коммерсантъ» (данные Центрального университета / Т-Данные) · Prodamus · Банк России</a:t>
            </a:r>
            <a:endParaRPr lang="en-US" sz="900" dirty="0"/>
          </a:p>
        </p:txBody>
      </p:sp>
      <p:sp>
        <p:nvSpPr>
          <p:cNvPr id="31" name="TextBox 32"/>
          <p:cNvSpPr/>
          <p:nvPr/>
        </p:nvSpPr>
        <p:spPr>
          <a:xfrm>
            <a:off x="8257208" y="4814888"/>
            <a:ext cx="3752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ПОКУПАТЕЛЬ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Новая воронка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801100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Удержание вместо привлечения: деньги приносят те, кто уже учился</a:t>
            </a:r>
            <a:endParaRPr lang="en-US" sz="975" dirty="0"/>
          </a:p>
        </p:txBody>
      </p:sp>
      <p:sp>
        <p:nvSpPr>
          <p:cNvPr id="7" name="Shape 7"/>
          <p:cNvSpPr/>
          <p:nvPr/>
        </p:nvSpPr>
        <p:spPr>
          <a:xfrm>
            <a:off x="571500" y="946770"/>
            <a:ext cx="2095500" cy="371095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pic>
        <p:nvPicPr>
          <p:cNvPr id="8" name="Picture 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0125" y="1799779"/>
            <a:ext cx="1238250" cy="1238250"/>
          </a:xfrm>
          <a:prstGeom prst="rect">
            <a:avLst/>
          </a:prstGeom>
        </p:spPr>
      </p:pic>
      <p:pic>
        <p:nvPicPr>
          <p:cNvPr id="9" name="Picture 10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559" y="1846213"/>
            <a:ext cx="1145381" cy="1145381"/>
          </a:xfrm>
          <a:prstGeom prst="rect">
            <a:avLst/>
          </a:prstGeom>
        </p:spPr>
      </p:pic>
      <p:sp>
        <p:nvSpPr>
          <p:cNvPr id="10" name="TextBox 11"/>
          <p:cNvSpPr/>
          <p:nvPr/>
        </p:nvSpPr>
        <p:spPr>
          <a:xfrm>
            <a:off x="636842" y="3123754"/>
            <a:ext cx="1964817" cy="68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58% выручки – повторные покупки.</a:t>
            </a:r>
            <a:r>
              <a:rPr lang="en-US" sz="82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Перелом случился в ноябре 2023-го, когда повторные продажи впервые обошли продажи новым клиентам</a:t>
            </a:r>
            <a:endParaRPr lang="en-US" sz="825" dirty="0"/>
          </a:p>
        </p:txBody>
      </p:sp>
      <p:sp>
        <p:nvSpPr>
          <p:cNvPr id="11" name="Shape 13"/>
          <p:cNvSpPr/>
          <p:nvPr/>
        </p:nvSpPr>
        <p:spPr>
          <a:xfrm>
            <a:off x="2781300" y="946770"/>
            <a:ext cx="3629025" cy="1229618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2909887" y="1037258"/>
            <a:ext cx="370903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приходит покупатель</a:t>
            </a:r>
            <a:endParaRPr lang="en-US" sz="900" dirty="0"/>
          </a:p>
        </p:txBody>
      </p:sp>
      <p:sp>
        <p:nvSpPr>
          <p:cNvPr id="13" name="Shape 17"/>
          <p:cNvSpPr/>
          <p:nvPr/>
        </p:nvSpPr>
        <p:spPr>
          <a:xfrm>
            <a:off x="2909888" y="1287289"/>
            <a:ext cx="1333500" cy="142875"/>
          </a:xfrm>
          <a:prstGeom prst="roundRect">
            <a:avLst>
              <a:gd name="adj" fmla="val 20000"/>
            </a:avLst>
          </a:prstGeom>
          <a:solidFill>
            <a:srgbClr val="31B57E"/>
          </a:solidFill>
          <a:ln/>
        </p:spPr>
      </p:sp>
      <p:sp>
        <p:nvSpPr>
          <p:cNvPr id="14" name="TextBox 18"/>
          <p:cNvSpPr/>
          <p:nvPr/>
        </p:nvSpPr>
        <p:spPr>
          <a:xfrm>
            <a:off x="4319588" y="1261095"/>
            <a:ext cx="35721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53%</a:t>
            </a:r>
            <a:endParaRPr lang="en-US" sz="1125" dirty="0"/>
          </a:p>
        </p:txBody>
      </p:sp>
      <p:sp>
        <p:nvSpPr>
          <p:cNvPr id="15" name="TextBox 19"/>
          <p:cNvSpPr/>
          <p:nvPr/>
        </p:nvSpPr>
        <p:spPr>
          <a:xfrm>
            <a:off x="4692997" y="1287289"/>
            <a:ext cx="142002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целенаправленный поиск</a:t>
            </a:r>
            <a:endParaRPr lang="en-US" sz="825" dirty="0"/>
          </a:p>
        </p:txBody>
      </p:sp>
      <p:sp>
        <p:nvSpPr>
          <p:cNvPr id="16" name="Shape 21"/>
          <p:cNvSpPr/>
          <p:nvPr/>
        </p:nvSpPr>
        <p:spPr>
          <a:xfrm>
            <a:off x="2909888" y="1530176"/>
            <a:ext cx="704850" cy="142875"/>
          </a:xfrm>
          <a:prstGeom prst="roundRect">
            <a:avLst>
              <a:gd name="adj" fmla="val 20000"/>
            </a:avLst>
          </a:prstGeom>
          <a:solidFill>
            <a:srgbClr val="AAB2BA"/>
          </a:solidFill>
          <a:ln/>
        </p:spPr>
      </p:sp>
      <p:sp>
        <p:nvSpPr>
          <p:cNvPr id="17" name="TextBox 22"/>
          <p:cNvSpPr/>
          <p:nvPr/>
        </p:nvSpPr>
        <p:spPr>
          <a:xfrm>
            <a:off x="3690937" y="1503983"/>
            <a:ext cx="36390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768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28%</a:t>
            </a:r>
            <a:endParaRPr lang="en-US" sz="1125" dirty="0"/>
          </a:p>
        </p:txBody>
      </p:sp>
      <p:sp>
        <p:nvSpPr>
          <p:cNvPr id="18" name="TextBox 23"/>
          <p:cNvSpPr/>
          <p:nvPr/>
        </p:nvSpPr>
        <p:spPr>
          <a:xfrm>
            <a:off x="4071045" y="1530176"/>
            <a:ext cx="101083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отклик на рекламу</a:t>
            </a:r>
            <a:endParaRPr lang="en-US" sz="825" dirty="0"/>
          </a:p>
        </p:txBody>
      </p:sp>
      <p:sp>
        <p:nvSpPr>
          <p:cNvPr id="19" name="TextBox 24"/>
          <p:cNvSpPr/>
          <p:nvPr/>
        </p:nvSpPr>
        <p:spPr>
          <a:xfrm>
            <a:off x="2909887" y="1765920"/>
            <a:ext cx="33718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Автовебинары уступили место диагностикам, пробным урокам и продуктовым линейкам</a:t>
            </a:r>
            <a:endParaRPr lang="en-US" sz="900" dirty="0"/>
          </a:p>
        </p:txBody>
      </p:sp>
      <p:sp>
        <p:nvSpPr>
          <p:cNvPr id="20" name="Shape 25"/>
          <p:cNvSpPr/>
          <p:nvPr/>
        </p:nvSpPr>
        <p:spPr>
          <a:xfrm>
            <a:off x="2781300" y="2233538"/>
            <a:ext cx="3629025" cy="2424187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1" name="TextBox 26"/>
          <p:cNvSpPr/>
          <p:nvPr/>
        </p:nvSpPr>
        <p:spPr>
          <a:xfrm>
            <a:off x="2909887" y="3052242"/>
            <a:ext cx="370903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Чеки растут только с инфляцией</a:t>
            </a:r>
            <a:endParaRPr lang="en-US" sz="900" dirty="0"/>
          </a:p>
        </p:txBody>
      </p:sp>
      <p:sp>
        <p:nvSpPr>
          <p:cNvPr id="22" name="TextBox 27"/>
          <p:cNvSpPr/>
          <p:nvPr/>
        </p:nvSpPr>
        <p:spPr>
          <a:xfrm>
            <a:off x="2909887" y="3247504"/>
            <a:ext cx="3371850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Средний чек: ~11 тыс. ₽ в массовом сегменте и ~52 тыс. ₽ за профессиональный курс. Планы расходов традиционно вдвое выше фактов: на 2026-й люди заявляют 52 тыс., а в 2025-м потратили 32 тыс.</a:t>
            </a:r>
            <a:endParaRPr lang="en-US" sz="863" dirty="0"/>
          </a:p>
        </p:txBody>
      </p:sp>
      <p:sp>
        <p:nvSpPr>
          <p:cNvPr id="23" name="Shape 29"/>
          <p:cNvSpPr/>
          <p:nvPr/>
        </p:nvSpPr>
        <p:spPr>
          <a:xfrm>
            <a:off x="6524625" y="946770"/>
            <a:ext cx="2047875" cy="966787"/>
          </a:xfrm>
          <a:prstGeom prst="roundRect">
            <a:avLst>
              <a:gd name="adj" fmla="val 7882"/>
            </a:avLst>
          </a:prstGeom>
          <a:solidFill>
            <a:srgbClr val="F8ECEB"/>
          </a:solidFill>
          <a:ln w="4763">
            <a:solidFill>
              <a:srgbClr val="ECD0CD"/>
            </a:solidFill>
            <a:prstDash val="solid"/>
          </a:ln>
        </p:spPr>
      </p:sp>
      <p:sp>
        <p:nvSpPr>
          <p:cNvPr id="24" name="TextBox 30"/>
          <p:cNvSpPr/>
          <p:nvPr/>
        </p:nvSpPr>
        <p:spPr>
          <a:xfrm>
            <a:off x="6653212" y="1037258"/>
            <a:ext cx="196977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+20–60%</a:t>
            </a:r>
            <a:endParaRPr lang="en-US" sz="1425" dirty="0"/>
          </a:p>
        </p:txBody>
      </p:sp>
      <p:sp>
        <p:nvSpPr>
          <p:cNvPr id="25" name="TextBox 31"/>
          <p:cNvSpPr/>
          <p:nvPr/>
        </p:nvSpPr>
        <p:spPr>
          <a:xfrm>
            <a:off x="6653212" y="1323008"/>
            <a:ext cx="1933956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8C332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стоимости привлечения у малых и средних школ за один 2024 год</a:t>
            </a:r>
            <a:endParaRPr lang="en-US" sz="938" dirty="0"/>
          </a:p>
        </p:txBody>
      </p:sp>
      <p:sp>
        <p:nvSpPr>
          <p:cNvPr id="26" name="Shape 32"/>
          <p:cNvSpPr/>
          <p:nvPr/>
        </p:nvSpPr>
        <p:spPr>
          <a:xfrm>
            <a:off x="6524625" y="1970708"/>
            <a:ext cx="2047875" cy="2687017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7" name="TextBox 33"/>
          <p:cNvSpPr/>
          <p:nvPr/>
        </p:nvSpPr>
        <p:spPr>
          <a:xfrm>
            <a:off x="6653212" y="2699072"/>
            <a:ext cx="196977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Каналы гибнут четвёртый год</a:t>
            </a:r>
            <a:endParaRPr lang="en-US" sz="900" dirty="0"/>
          </a:p>
        </p:txBody>
      </p:sp>
      <p:sp>
        <p:nvSpPr>
          <p:cNvPr id="28" name="TextBox 34"/>
          <p:cNvSpPr/>
          <p:nvPr/>
        </p:nvSpPr>
        <p:spPr>
          <a:xfrm>
            <a:off x="6653212" y="2894335"/>
            <a:ext cx="1933956" cy="1035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2022-го до 80% клиентов приводили ныне запрещённые соцсети. Последним растущим каналом был Телеграм (бюджеты +55–79% за 2025-й) – с февраля 2026-го и он работает с перебоями</a:t>
            </a:r>
            <a:endParaRPr lang="en-US" sz="863" dirty="0"/>
          </a:p>
        </p:txBody>
      </p:sp>
      <p:sp>
        <p:nvSpPr>
          <p:cNvPr id="29" name="Shape 35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30" name="Picture 3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31" name="TextBox 36"/>
          <p:cNvSpPr/>
          <p:nvPr/>
        </p:nvSpPr>
        <p:spPr>
          <a:xfrm>
            <a:off x="571500" y="4814888"/>
            <a:ext cx="48745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 · GetCourse (массовый сегмент) · опрос «Нетологии», 2025 · Sostav</a:t>
            </a:r>
            <a:endParaRPr lang="en-US" sz="900" dirty="0"/>
          </a:p>
        </p:txBody>
      </p:sp>
      <p:sp>
        <p:nvSpPr>
          <p:cNvPr id="32" name="TextBox 37"/>
          <p:cNvSpPr/>
          <p:nvPr/>
        </p:nvSpPr>
        <p:spPr>
          <a:xfrm>
            <a:off x="8259142" y="4814888"/>
            <a:ext cx="37335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 accel="20000" de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ПРАВИЛА ИГРЫ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Регулирование</a:t>
            </a:r>
            <a:endParaRPr lang="en-US" sz="1875" dirty="0"/>
          </a:p>
        </p:txBody>
      </p:sp>
      <p:sp>
        <p:nvSpPr>
          <p:cNvPr id="6" name="TextBox 5"/>
          <p:cNvSpPr/>
          <p:nvPr/>
        </p:nvSpPr>
        <p:spPr>
          <a:xfrm>
            <a:off x="571500" y="690562"/>
            <a:ext cx="8001000" cy="160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Отдельного «закона об онлайн-образовании» нет – ужесточение пришло через смежные нормы</a:t>
            </a:r>
            <a:endParaRPr lang="en-US" sz="975" dirty="0"/>
          </a:p>
        </p:txBody>
      </p:sp>
      <p:sp>
        <p:nvSpPr>
          <p:cNvPr id="7" name="Shape 7"/>
          <p:cNvSpPr/>
          <p:nvPr/>
        </p:nvSpPr>
        <p:spPr>
          <a:xfrm>
            <a:off x="571500" y="937245"/>
            <a:ext cx="5219700" cy="3730005"/>
          </a:xfrm>
          <a:prstGeom prst="roundRect">
            <a:avLst>
              <a:gd name="adj" fmla="val 255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8" name="TextBox 8"/>
          <p:cNvSpPr/>
          <p:nvPr/>
        </p:nvSpPr>
        <p:spPr>
          <a:xfrm>
            <a:off x="709612" y="1027733"/>
            <a:ext cx="5437822" cy="219075"/>
          </a:xfrm>
          <a:prstGeom prst="rect">
            <a:avLst/>
          </a:prstGeom>
          <a:noFill/>
          <a:ln/>
        </p:spPr>
        <p:txBody>
          <a:bodyPr wrap="none" lIns="0" tIns="0" rIns="0" bIns="3810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Реклама: шесть норм за три года</a:t>
            </a:r>
            <a:endParaRPr lang="en-US" sz="1050" dirty="0"/>
          </a:p>
        </p:txBody>
      </p:sp>
      <p:sp>
        <p:nvSpPr>
          <p:cNvPr id="9" name="Shape 10"/>
          <p:cNvSpPr/>
          <p:nvPr/>
        </p:nvSpPr>
        <p:spPr>
          <a:xfrm>
            <a:off x="709612" y="1246808"/>
            <a:ext cx="4943475" cy="207615"/>
          </a:xfrm>
          <a:prstGeom prst="rect">
            <a:avLst/>
          </a:prstGeom>
          <a:noFill/>
          <a:ln/>
        </p:spPr>
      </p:sp>
      <p:pic>
        <p:nvPicPr>
          <p:cNvPr id="10" name="Picture 10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612" y="1246808"/>
            <a:ext cx="4943475" cy="207615"/>
          </a:xfrm>
          <a:prstGeom prst="rect">
            <a:avLst/>
          </a:prstGeom>
        </p:spPr>
      </p:pic>
      <p:sp>
        <p:nvSpPr>
          <p:cNvPr id="11" name="TextBox 11"/>
          <p:cNvSpPr/>
          <p:nvPr/>
        </p:nvSpPr>
        <p:spPr>
          <a:xfrm>
            <a:off x="709612" y="1284908"/>
            <a:ext cx="110013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сент. 2023</a:t>
            </a:r>
            <a:endParaRPr lang="en-US" sz="825" dirty="0"/>
          </a:p>
        </p:txBody>
      </p:sp>
      <p:sp>
        <p:nvSpPr>
          <p:cNvPr id="12" name="TextBox 12"/>
          <p:cNvSpPr/>
          <p:nvPr/>
        </p:nvSpPr>
        <p:spPr>
          <a:xfrm>
            <a:off x="1795462" y="1284908"/>
            <a:ext cx="424338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Штрафы за немаркированную рекламу: юрлицам 200–500 тыс. ₽ (274-ФЗ)</a:t>
            </a:r>
            <a:endParaRPr lang="en-US" sz="825" dirty="0"/>
          </a:p>
        </p:txBody>
      </p:sp>
      <p:sp>
        <p:nvSpPr>
          <p:cNvPr id="13" name="Shape 13"/>
          <p:cNvSpPr/>
          <p:nvPr/>
        </p:nvSpPr>
        <p:spPr>
          <a:xfrm>
            <a:off x="709612" y="1640235"/>
            <a:ext cx="4943475" cy="207615"/>
          </a:xfrm>
          <a:prstGeom prst="rect">
            <a:avLst/>
          </a:prstGeom>
          <a:noFill/>
          <a:ln/>
        </p:spPr>
      </p:sp>
      <p:pic>
        <p:nvPicPr>
          <p:cNvPr id="14" name="Picture 13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612" y="1640235"/>
            <a:ext cx="4943475" cy="207615"/>
          </a:xfrm>
          <a:prstGeom prst="rect">
            <a:avLst/>
          </a:prstGeom>
        </p:spPr>
      </p:pic>
      <p:sp>
        <p:nvSpPr>
          <p:cNvPr id="15" name="TextBox 14"/>
          <p:cNvSpPr/>
          <p:nvPr/>
        </p:nvSpPr>
        <p:spPr>
          <a:xfrm>
            <a:off x="709612" y="1678335"/>
            <a:ext cx="110013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март 2024</a:t>
            </a:r>
            <a:endParaRPr lang="en-US" sz="825" dirty="0"/>
          </a:p>
        </p:txBody>
      </p:sp>
      <p:sp>
        <p:nvSpPr>
          <p:cNvPr id="16" name="TextBox 15"/>
          <p:cNvSpPr/>
          <p:nvPr/>
        </p:nvSpPr>
        <p:spPr>
          <a:xfrm>
            <a:off x="1795462" y="1678335"/>
            <a:ext cx="424338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Запрет рекламы у иноагентов – закрыл канал на 640+ млн ₽ в год</a:t>
            </a:r>
            <a:endParaRPr lang="en-US" sz="825" dirty="0"/>
          </a:p>
        </p:txBody>
      </p:sp>
      <p:sp>
        <p:nvSpPr>
          <p:cNvPr id="17" name="Shape 16"/>
          <p:cNvSpPr/>
          <p:nvPr/>
        </p:nvSpPr>
        <p:spPr>
          <a:xfrm>
            <a:off x="709612" y="2033662"/>
            <a:ext cx="4943475" cy="343793"/>
          </a:xfrm>
          <a:prstGeom prst="rect">
            <a:avLst/>
          </a:prstGeom>
          <a:noFill/>
          <a:ln/>
        </p:spPr>
      </p:sp>
      <p:pic>
        <p:nvPicPr>
          <p:cNvPr id="18" name="Picture 16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612" y="2033662"/>
            <a:ext cx="4943475" cy="343793"/>
          </a:xfrm>
          <a:prstGeom prst="rect">
            <a:avLst/>
          </a:prstGeom>
        </p:spPr>
      </p:pic>
      <p:sp>
        <p:nvSpPr>
          <p:cNvPr id="19" name="TextBox 17"/>
          <p:cNvSpPr/>
          <p:nvPr/>
        </p:nvSpPr>
        <p:spPr>
          <a:xfrm>
            <a:off x="709612" y="2071762"/>
            <a:ext cx="108013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нояб. 2024</a:t>
            </a:r>
            <a:endParaRPr lang="en-US" sz="825" dirty="0"/>
          </a:p>
        </p:txBody>
      </p:sp>
      <p:sp>
        <p:nvSpPr>
          <p:cNvPr id="20" name="TextBox 18"/>
          <p:cNvSpPr/>
          <p:nvPr/>
        </p:nvSpPr>
        <p:spPr>
          <a:xfrm>
            <a:off x="1795462" y="2071762"/>
            <a:ext cx="385762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Реестр блогеров от 10 тыс. подписчиков; вне реестра реклама запрещена (303-ФЗ)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709612" y="2563267"/>
            <a:ext cx="4943475" cy="343793"/>
          </a:xfrm>
          <a:prstGeom prst="rect">
            <a:avLst/>
          </a:prstGeom>
          <a:noFill/>
          <a:ln/>
        </p:spPr>
      </p:sp>
      <p:pic>
        <p:nvPicPr>
          <p:cNvPr id="22" name="Picture 19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9612" y="2563267"/>
            <a:ext cx="4943475" cy="343793"/>
          </a:xfrm>
          <a:prstGeom prst="rect">
            <a:avLst/>
          </a:prstGeom>
        </p:spPr>
      </p:pic>
      <p:sp>
        <p:nvSpPr>
          <p:cNvPr id="23" name="TextBox 20"/>
          <p:cNvSpPr/>
          <p:nvPr/>
        </p:nvSpPr>
        <p:spPr>
          <a:xfrm>
            <a:off x="709612" y="2601367"/>
            <a:ext cx="108013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</a:t>
            </a:r>
            <a:endParaRPr lang="en-US" sz="825" dirty="0"/>
          </a:p>
        </p:txBody>
      </p:sp>
      <p:sp>
        <p:nvSpPr>
          <p:cNvPr id="24" name="TextBox 21"/>
          <p:cNvSpPr/>
          <p:nvPr/>
        </p:nvSpPr>
        <p:spPr>
          <a:xfrm>
            <a:off x="1795462" y="2601367"/>
            <a:ext cx="385762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Немаркированная реклама – не в затраты: запрет налогового вычета (416-ФЗ)</a:t>
            </a:r>
            <a:endParaRPr lang="en-US" sz="825" dirty="0"/>
          </a:p>
        </p:txBody>
      </p:sp>
      <p:sp>
        <p:nvSpPr>
          <p:cNvPr id="25" name="Shape 22"/>
          <p:cNvSpPr/>
          <p:nvPr/>
        </p:nvSpPr>
        <p:spPr>
          <a:xfrm>
            <a:off x="709612" y="3092797"/>
            <a:ext cx="4943475" cy="207615"/>
          </a:xfrm>
          <a:prstGeom prst="rect">
            <a:avLst/>
          </a:prstGeom>
          <a:noFill/>
          <a:ln/>
        </p:spPr>
      </p:sp>
      <p:pic>
        <p:nvPicPr>
          <p:cNvPr id="26" name="Picture 22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9612" y="3092797"/>
            <a:ext cx="4943475" cy="207615"/>
          </a:xfrm>
          <a:prstGeom prst="rect">
            <a:avLst/>
          </a:prstGeom>
        </p:spPr>
      </p:pic>
      <p:sp>
        <p:nvSpPr>
          <p:cNvPr id="27" name="TextBox 23"/>
          <p:cNvSpPr/>
          <p:nvPr/>
        </p:nvSpPr>
        <p:spPr>
          <a:xfrm>
            <a:off x="709612" y="3130897"/>
            <a:ext cx="110013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апр. 2025</a:t>
            </a:r>
            <a:endParaRPr lang="en-US" sz="825" dirty="0"/>
          </a:p>
        </p:txBody>
      </p:sp>
      <p:sp>
        <p:nvSpPr>
          <p:cNvPr id="28" name="TextBox 24"/>
          <p:cNvSpPr/>
          <p:nvPr/>
        </p:nvSpPr>
        <p:spPr>
          <a:xfrm>
            <a:off x="1795462" y="3130897"/>
            <a:ext cx="4243387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Сбор 3% с доходов от интернет-рекламы (479-ФЗ)</a:t>
            </a:r>
            <a:endParaRPr lang="en-US" sz="825" dirty="0"/>
          </a:p>
        </p:txBody>
      </p:sp>
      <p:sp>
        <p:nvSpPr>
          <p:cNvPr id="29" name="Shape 25"/>
          <p:cNvSpPr/>
          <p:nvPr/>
        </p:nvSpPr>
        <p:spPr>
          <a:xfrm>
            <a:off x="709612" y="3486224"/>
            <a:ext cx="4943475" cy="343793"/>
          </a:xfrm>
          <a:prstGeom prst="rect">
            <a:avLst/>
          </a:prstGeom>
          <a:noFill/>
          <a:ln/>
        </p:spPr>
      </p:sp>
      <p:pic>
        <p:nvPicPr>
          <p:cNvPr id="30" name="Picture 25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9612" y="3486224"/>
            <a:ext cx="4943475" cy="343793"/>
          </a:xfrm>
          <a:prstGeom prst="rect">
            <a:avLst/>
          </a:prstGeom>
        </p:spPr>
      </p:pic>
      <p:sp>
        <p:nvSpPr>
          <p:cNvPr id="31" name="TextBox 26"/>
          <p:cNvSpPr/>
          <p:nvPr/>
        </p:nvSpPr>
        <p:spPr>
          <a:xfrm>
            <a:off x="709612" y="3524324"/>
            <a:ext cx="108013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сент. 2025</a:t>
            </a:r>
            <a:endParaRPr lang="en-US" sz="825" dirty="0"/>
          </a:p>
        </p:txBody>
      </p:sp>
      <p:sp>
        <p:nvSpPr>
          <p:cNvPr id="32" name="TextBox 27"/>
          <p:cNvSpPr/>
          <p:nvPr/>
        </p:nvSpPr>
        <p:spPr>
          <a:xfrm>
            <a:off x="1795462" y="3524324"/>
            <a:ext cx="3857625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Реклама в Instagram и Facebook формально вне закона; штрафы до 500 тыс. ₽ (72-ФЗ)</a:t>
            </a:r>
            <a:endParaRPr lang="en-US" sz="825" dirty="0"/>
          </a:p>
        </p:txBody>
      </p:sp>
      <p:sp>
        <p:nvSpPr>
          <p:cNvPr id="33" name="TextBox 28"/>
          <p:cNvSpPr/>
          <p:nvPr/>
        </p:nvSpPr>
        <p:spPr>
          <a:xfrm>
            <a:off x="709612" y="4063454"/>
            <a:ext cx="4943475" cy="513308"/>
          </a:xfrm>
          <a:prstGeom prst="roundRect">
            <a:avLst>
              <a:gd name="adj" fmla="val 11134"/>
            </a:avLst>
          </a:prstGeom>
          <a:solidFill>
            <a:srgbClr val="F8ECEB"/>
          </a:solidFill>
          <a:ln w="4763">
            <a:solidFill>
              <a:srgbClr val="ECD0CD"/>
            </a:solidFill>
            <a:prstDash val="solid"/>
          </a:ln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8C332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2023-м школы наращивали блогерские интеграции темпом +305% в год – весь инструментарий закрылся за два года; рекламная инфляция в оставшихся каналах – до 20% в год</a:t>
            </a:r>
            <a:endParaRPr lang="en-US" sz="825" dirty="0"/>
          </a:p>
        </p:txBody>
      </p:sp>
      <p:sp>
        <p:nvSpPr>
          <p:cNvPr id="34" name="Shape 30"/>
          <p:cNvSpPr/>
          <p:nvPr/>
        </p:nvSpPr>
        <p:spPr>
          <a:xfrm>
            <a:off x="5905500" y="937245"/>
            <a:ext cx="2667000" cy="108696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5" name="TextBox 31"/>
          <p:cNvSpPr/>
          <p:nvPr/>
        </p:nvSpPr>
        <p:spPr>
          <a:xfrm>
            <a:off x="6034088" y="1018208"/>
            <a:ext cx="265080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Надзор ожил</a:t>
            </a:r>
            <a:endParaRPr lang="en-US" sz="900" dirty="0"/>
          </a:p>
        </p:txBody>
      </p:sp>
      <p:sp>
        <p:nvSpPr>
          <p:cNvPr id="36" name="TextBox 32"/>
          <p:cNvSpPr/>
          <p:nvPr/>
        </p:nvSpPr>
        <p:spPr>
          <a:xfrm>
            <a:off x="6034088" y="1203945"/>
            <a:ext cx="2409825" cy="73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334 постановления за работу без лицензии за десять месяцев 2024-го, штрафы выросли до 100–300 тыс. ₽. Лицензий ДПО уже больше 1140: из формальности лицензия превратилась в знак качества</a:t>
            </a:r>
            <a:endParaRPr lang="en-US" sz="863" dirty="0"/>
          </a:p>
        </p:txBody>
      </p:sp>
      <p:sp>
        <p:nvSpPr>
          <p:cNvPr id="37" name="Shape 33"/>
          <p:cNvSpPr/>
          <p:nvPr/>
        </p:nvSpPr>
        <p:spPr>
          <a:xfrm>
            <a:off x="5905500" y="2081361"/>
            <a:ext cx="2667000" cy="108696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8" name="TextBox 34"/>
          <p:cNvSpPr/>
          <p:nvPr/>
        </p:nvSpPr>
        <p:spPr>
          <a:xfrm>
            <a:off x="6034088" y="2162324"/>
            <a:ext cx="265080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Приговоры инфобизнесу</a:t>
            </a:r>
            <a:endParaRPr lang="en-US" sz="900" dirty="0"/>
          </a:p>
        </p:txBody>
      </p:sp>
      <p:sp>
        <p:nvSpPr>
          <p:cNvPr id="39" name="TextBox 35"/>
          <p:cNvSpPr/>
          <p:nvPr/>
        </p:nvSpPr>
        <p:spPr>
          <a:xfrm>
            <a:off x="6034088" y="2348061"/>
            <a:ext cx="2409825" cy="73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Блиновская – 4,5 года · Чекалин – 7 лет · Шабутдинов – 7 лет (113 эпизодов). Сигнал прочитан: «успешный успех» токсичен, аудитория перетекает к лицензированным школам</a:t>
            </a:r>
            <a:endParaRPr lang="en-US" sz="863" dirty="0"/>
          </a:p>
        </p:txBody>
      </p:sp>
      <p:sp>
        <p:nvSpPr>
          <p:cNvPr id="40" name="!!mnext"/>
          <p:cNvSpPr/>
          <p:nvPr/>
        </p:nvSpPr>
        <p:spPr>
          <a:xfrm>
            <a:off x="5905500" y="3225478"/>
            <a:ext cx="2667000" cy="1441772"/>
          </a:xfrm>
          <a:prstGeom prst="roundRect">
            <a:avLst>
              <a:gd name="adj" fmla="val 5285"/>
            </a:avLst>
          </a:prstGeom>
          <a:solidFill>
            <a:srgbClr val="20242A"/>
          </a:solidFill>
          <a:ln/>
        </p:spPr>
      </p:sp>
      <p:sp>
        <p:nvSpPr>
          <p:cNvPr id="41" name="TextBox 37"/>
          <p:cNvSpPr/>
          <p:nvPr/>
        </p:nvSpPr>
        <p:spPr>
          <a:xfrm>
            <a:off x="6029325" y="3409876"/>
            <a:ext cx="266128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дальше</a:t>
            </a:r>
            <a:endParaRPr lang="en-US" sz="900" dirty="0"/>
          </a:p>
        </p:txBody>
      </p:sp>
      <p:sp>
        <p:nvSpPr>
          <p:cNvPr id="42" name="TextBox 38"/>
          <p:cNvSpPr/>
          <p:nvPr/>
        </p:nvSpPr>
        <p:spPr>
          <a:xfrm>
            <a:off x="6029325" y="3595613"/>
            <a:ext cx="2419350" cy="88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«Закон об инфобизнесе» – пока законопроект; 53% участников рынка ждут новых норм. Для вузовской модели – риск 114-ФЗ. Слухи об обязательной госаккредитации онлайн-школ первоисточниками не подтверждаются</a:t>
            </a:r>
            <a:endParaRPr lang="en-US" sz="863" dirty="0"/>
          </a:p>
        </p:txBody>
      </p:sp>
      <p:sp>
        <p:nvSpPr>
          <p:cNvPr id="43" name="Shape 39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44" name="Picture 3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45" name="TextBox 40"/>
          <p:cNvSpPr/>
          <p:nvPr/>
        </p:nvSpPr>
        <p:spPr>
          <a:xfrm>
            <a:off x="571500" y="4814888"/>
            <a:ext cx="531621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Тексты 274-ФЗ, 303-ФЗ, 416-ФЗ, 479-ФЗ, 72-ФЗ, 114-ФЗ (pravo.gov.ru) · Рособрнадзор · РАПСИ, ТАСС</a:t>
            </a:r>
            <a:endParaRPr lang="en-US" sz="900" dirty="0"/>
          </a:p>
        </p:txBody>
      </p:sp>
      <p:sp>
        <p:nvSpPr>
          <p:cNvPr id="46" name="TextBox 41"/>
          <p:cNvSpPr/>
          <p:nvPr/>
        </p:nvSpPr>
        <p:spPr>
          <a:xfrm>
            <a:off x="8254975" y="4814888"/>
            <a:ext cx="3775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50" fill="hold" accel="20000" de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50" fill="hold" accel="20000" decel="6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50" fill="hold" accel="20000" decel="6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 accel="20000" decel="6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50" fill="hold" accel="20000" decel="6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550" fill="hold" accel="20000" decel="6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50" fill="hold" accel="20000" de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50" fill="hold" accel="20000" de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50" fill="hold" accel="20000" de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550" fill="hold" accel="20000" decel="6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50" fill="hold" accel="20000" decel="6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50" fill="hold" accel="20000" decel="6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550" fill="hold" accel="20000" decel="6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550" fill="hold" accel="20000" decel="6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4"/>
          <p:cNvSpPr/>
          <p:nvPr/>
        </p:nvSpPr>
        <p:spPr>
          <a:xfrm>
            <a:off x="571500" y="247650"/>
            <a:ext cx="531708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390525"/>
            <a:ext cx="531708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 до 2027 года</a:t>
            </a:r>
            <a:endParaRPr lang="en-US" sz="1875" dirty="0"/>
          </a:p>
        </p:txBody>
      </p:sp>
      <p:sp>
        <p:nvSpPr>
          <p:cNvPr id="6" name="TextBox 6"/>
          <p:cNvSpPr/>
          <p:nvPr/>
        </p:nvSpPr>
        <p:spPr>
          <a:xfrm>
            <a:off x="571500" y="690562"/>
            <a:ext cx="5317085" cy="160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Наше построение: рынок остаётся в режиме «инфляция плюс несколько пунктов»</a:t>
            </a:r>
            <a:endParaRPr lang="en-US" sz="975" dirty="0"/>
          </a:p>
        </p:txBody>
      </p:sp>
      <p:sp>
        <p:nvSpPr>
          <p:cNvPr id="7" name="TextBox 8"/>
          <p:cNvSpPr/>
          <p:nvPr/>
        </p:nvSpPr>
        <p:spPr>
          <a:xfrm>
            <a:off x="6449579" y="365745"/>
            <a:ext cx="21229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~180 млрд ₽</a:t>
            </a:r>
            <a:endParaRPr lang="en-US" sz="1725" dirty="0"/>
          </a:p>
        </p:txBody>
      </p:sp>
      <p:sp>
        <p:nvSpPr>
          <p:cNvPr id="8" name="TextBox 9"/>
          <p:cNvSpPr/>
          <p:nvPr/>
        </p:nvSpPr>
        <p:spPr>
          <a:xfrm>
            <a:off x="6449579" y="694358"/>
            <a:ext cx="212292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 концу 2027-го · базовый сценарий</a:t>
            </a:r>
            <a:endParaRPr lang="en-US" sz="900" dirty="0"/>
          </a:p>
        </p:txBody>
      </p:sp>
      <p:pic>
        <p:nvPicPr>
          <p:cNvPr id="9" name="Picture 1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937245"/>
            <a:ext cx="3714750" cy="3272805"/>
          </a:xfrm>
          <a:prstGeom prst="rect">
            <a:avLst/>
          </a:prstGeom>
        </p:spPr>
      </p:pic>
      <p:pic>
        <p:nvPicPr>
          <p:cNvPr id="10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602" y="2695203"/>
            <a:ext cx="341486" cy="798686"/>
          </a:xfrm>
          <a:prstGeom prst="rect">
            <a:avLst/>
          </a:prstGeom>
        </p:spPr>
      </p:pic>
      <p:pic>
        <p:nvPicPr>
          <p:cNvPr id="11" name="Picture 1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695" y="2543621"/>
            <a:ext cx="341486" cy="950342"/>
          </a:xfrm>
          <a:prstGeom prst="rect">
            <a:avLst/>
          </a:prstGeom>
        </p:spPr>
      </p:pic>
      <p:pic>
        <p:nvPicPr>
          <p:cNvPr id="12" name="Picture 1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6788" y="2202582"/>
            <a:ext cx="341486" cy="1291382"/>
          </a:xfrm>
          <a:prstGeom prst="rect">
            <a:avLst/>
          </a:prstGeom>
        </p:spPr>
      </p:pic>
      <p:pic>
        <p:nvPicPr>
          <p:cNvPr id="13" name="Picture 1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4881" y="1920999"/>
            <a:ext cx="341486" cy="1572890"/>
          </a:xfrm>
          <a:prstGeom prst="rect">
            <a:avLst/>
          </a:prstGeom>
        </p:spPr>
      </p:pic>
      <p:pic>
        <p:nvPicPr>
          <p:cNvPr id="14" name="Picture 18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82974" y="1818159"/>
            <a:ext cx="341486" cy="1675730"/>
          </a:xfrm>
          <a:prstGeom prst="rect">
            <a:avLst/>
          </a:prstGeom>
        </p:spPr>
      </p:pic>
      <p:pic>
        <p:nvPicPr>
          <p:cNvPr id="15" name="Picture 1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09875" y="1681981"/>
            <a:ext cx="1103561" cy="150688"/>
          </a:xfrm>
          <a:prstGeom prst="rect">
            <a:avLst/>
          </a:prstGeom>
        </p:spPr>
      </p:pic>
      <p:pic>
        <p:nvPicPr>
          <p:cNvPr id="16" name="Picture 20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03624" y="1524149"/>
            <a:ext cx="1116062" cy="314771"/>
          </a:xfrm>
          <a:prstGeom prst="rect">
            <a:avLst/>
          </a:prstGeom>
        </p:spPr>
      </p:pic>
      <p:pic>
        <p:nvPicPr>
          <p:cNvPr id="17" name="Picture 21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09875" y="1378818"/>
            <a:ext cx="1103561" cy="453926"/>
          </a:xfrm>
          <a:prstGeom prst="rect">
            <a:avLst/>
          </a:prstGeom>
        </p:spPr>
      </p:pic>
      <p:pic>
        <p:nvPicPr>
          <p:cNvPr id="18" name="Picture 22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61420" y="1650727"/>
            <a:ext cx="83269" cy="83269"/>
          </a:xfrm>
          <a:prstGeom prst="rect">
            <a:avLst/>
          </a:prstGeom>
        </p:spPr>
      </p:pic>
      <p:pic>
        <p:nvPicPr>
          <p:cNvPr id="19" name="Picture 23" descr="__type_ima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53086" y="1490811"/>
            <a:ext cx="99938" cy="99938"/>
          </a:xfrm>
          <a:prstGeom prst="rect">
            <a:avLst/>
          </a:prstGeom>
        </p:spPr>
      </p:pic>
      <p:pic>
        <p:nvPicPr>
          <p:cNvPr id="20" name="Picture 24" descr="__type_image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861420" y="1347564"/>
            <a:ext cx="83269" cy="83269"/>
          </a:xfrm>
          <a:prstGeom prst="rect">
            <a:avLst/>
          </a:prstGeom>
        </p:spPr>
      </p:pic>
      <p:pic>
        <p:nvPicPr>
          <p:cNvPr id="21" name="Picture 25" descr="__type_image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972148" y="1564556"/>
            <a:ext cx="224284" cy="245120"/>
          </a:xfrm>
          <a:prstGeom prst="rect">
            <a:avLst/>
          </a:prstGeom>
        </p:spPr>
      </p:pic>
      <p:pic>
        <p:nvPicPr>
          <p:cNvPr id="22" name="Picture 26" descr="__type_image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971479" y="1396901"/>
            <a:ext cx="248469" cy="267444"/>
          </a:xfrm>
          <a:prstGeom prst="rect">
            <a:avLst/>
          </a:prstGeom>
        </p:spPr>
      </p:pic>
      <p:pic>
        <p:nvPicPr>
          <p:cNvPr id="23" name="Picture 27" descr="__type_image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972223" y="1260574"/>
            <a:ext cx="222721" cy="245120"/>
          </a:xfrm>
          <a:prstGeom prst="rect">
            <a:avLst/>
          </a:prstGeom>
        </p:spPr>
      </p:pic>
      <p:sp>
        <p:nvSpPr>
          <p:cNvPr id="24" name="TextBox 31"/>
          <p:cNvSpPr/>
          <p:nvPr/>
        </p:nvSpPr>
        <p:spPr>
          <a:xfrm>
            <a:off x="781050" y="4238625"/>
            <a:ext cx="86398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базовый · 55%</a:t>
            </a:r>
            <a:endParaRPr lang="en-US" sz="900" dirty="0"/>
          </a:p>
        </p:txBody>
      </p:sp>
      <p:sp>
        <p:nvSpPr>
          <p:cNvPr id="25" name="Shape 30"/>
          <p:cNvSpPr/>
          <p:nvPr/>
        </p:nvSpPr>
        <p:spPr>
          <a:xfrm>
            <a:off x="571500" y="4300537"/>
            <a:ext cx="161925" cy="33337"/>
          </a:xfrm>
          <a:prstGeom prst="roundRect">
            <a:avLst>
              <a:gd name="adj" fmla="val 50001"/>
            </a:avLst>
          </a:prstGeom>
          <a:solidFill>
            <a:srgbClr val="31B57E"/>
          </a:solidFill>
          <a:ln/>
        </p:spPr>
      </p:sp>
      <p:sp>
        <p:nvSpPr>
          <p:cNvPr id="26" name="TextBox 34"/>
          <p:cNvSpPr/>
          <p:nvPr/>
        </p:nvSpPr>
        <p:spPr>
          <a:xfrm>
            <a:off x="1890340" y="4238625"/>
            <a:ext cx="13763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консервативный · 25%</a:t>
            </a:r>
            <a:endParaRPr lang="en-US" sz="900" dirty="0"/>
          </a:p>
        </p:txBody>
      </p:sp>
      <p:sp>
        <p:nvSpPr>
          <p:cNvPr id="27" name="Shape 33"/>
          <p:cNvSpPr/>
          <p:nvPr/>
        </p:nvSpPr>
        <p:spPr>
          <a:xfrm>
            <a:off x="1680790" y="4307681"/>
            <a:ext cx="161925" cy="19050"/>
          </a:xfrm>
          <a:prstGeom prst="roundRect">
            <a:avLst>
              <a:gd name="adj" fmla="val 50000"/>
            </a:avLst>
          </a:prstGeom>
          <a:solidFill>
            <a:srgbClr val="20242A"/>
          </a:solidFill>
          <a:ln/>
        </p:spPr>
      </p:sp>
      <p:sp>
        <p:nvSpPr>
          <p:cNvPr id="28" name="TextBox 37"/>
          <p:cNvSpPr/>
          <p:nvPr/>
        </p:nvSpPr>
        <p:spPr>
          <a:xfrm>
            <a:off x="781050" y="4510087"/>
            <a:ext cx="133064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оптимистичный · 20%</a:t>
            </a:r>
            <a:endParaRPr lang="en-US" sz="900" dirty="0"/>
          </a:p>
        </p:txBody>
      </p:sp>
      <p:sp>
        <p:nvSpPr>
          <p:cNvPr id="29" name="Shape 36"/>
          <p:cNvSpPr/>
          <p:nvPr/>
        </p:nvSpPr>
        <p:spPr>
          <a:xfrm>
            <a:off x="571500" y="4579144"/>
            <a:ext cx="161925" cy="19050"/>
          </a:xfrm>
          <a:prstGeom prst="roundRect">
            <a:avLst>
              <a:gd name="adj" fmla="val 50000"/>
            </a:avLst>
          </a:prstGeom>
          <a:solidFill>
            <a:srgbClr val="8F99A3"/>
          </a:solidFill>
          <a:ln/>
        </p:spPr>
      </p:sp>
      <p:sp>
        <p:nvSpPr>
          <p:cNvPr id="30" name="!!mnext"/>
          <p:cNvSpPr/>
          <p:nvPr/>
        </p:nvSpPr>
        <p:spPr>
          <a:xfrm>
            <a:off x="4495800" y="937245"/>
            <a:ext cx="4076700" cy="876300"/>
          </a:xfrm>
          <a:prstGeom prst="roundRect">
            <a:avLst>
              <a:gd name="adj" fmla="val 8696"/>
            </a:avLst>
          </a:prstGeom>
          <a:solidFill>
            <a:srgbClr val="20242A"/>
          </a:solidFill>
          <a:ln/>
        </p:spPr>
      </p:sp>
      <p:sp>
        <p:nvSpPr>
          <p:cNvPr id="31" name="TextBox 40"/>
          <p:cNvSpPr/>
          <p:nvPr/>
        </p:nvSpPr>
        <p:spPr>
          <a:xfrm>
            <a:off x="4619625" y="1022970"/>
            <a:ext cx="42119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Базовый сценарий: +7–9% в год</a:t>
            </a:r>
            <a:endParaRPr lang="en-US" sz="938" dirty="0"/>
          </a:p>
        </p:txBody>
      </p:sp>
      <p:sp>
        <p:nvSpPr>
          <p:cNvPr id="32" name="TextBox 41"/>
          <p:cNvSpPr/>
          <p:nvPr/>
        </p:nvSpPr>
        <p:spPr>
          <a:xfrm>
            <a:off x="4619625" y="1227758"/>
            <a:ext cx="38290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9AA4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Реальный рост 2–4%. Условия: ставка 11–12% к концу 2026-го и ~9–10% к концу 2027-го, рассрочки оживают со второй половины 2026 года, без регуляторных шоков</a:t>
            </a:r>
            <a:endParaRPr lang="en-US" sz="938" dirty="0"/>
          </a:p>
        </p:txBody>
      </p:sp>
      <p:sp>
        <p:nvSpPr>
          <p:cNvPr id="33" name="Shape 43"/>
          <p:cNvSpPr/>
          <p:nvPr/>
        </p:nvSpPr>
        <p:spPr>
          <a:xfrm>
            <a:off x="4495800" y="1880220"/>
            <a:ext cx="2005012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4" name="TextBox 44"/>
          <p:cNvSpPr/>
          <p:nvPr/>
        </p:nvSpPr>
        <p:spPr>
          <a:xfrm>
            <a:off x="4605338" y="1951658"/>
            <a:ext cx="19645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Консервативный</a:t>
            </a:r>
            <a:endParaRPr lang="en-US" sz="975" dirty="0"/>
          </a:p>
        </p:txBody>
      </p:sp>
      <p:sp>
        <p:nvSpPr>
          <p:cNvPr id="35" name="TextBox 45"/>
          <p:cNvSpPr/>
          <p:nvPr/>
        </p:nvSpPr>
        <p:spPr>
          <a:xfrm>
            <a:off x="4605338" y="2142158"/>
            <a:ext cx="1928813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+3–5% в 2026-м и +2–4% в 2027-м: ставка снижается медленно, детский сегмент насыщается; в реальном выражении это спад</a:t>
            </a:r>
            <a:endParaRPr lang="en-US" sz="788" dirty="0"/>
          </a:p>
        </p:txBody>
      </p:sp>
      <p:sp>
        <p:nvSpPr>
          <p:cNvPr id="36" name="Shape 46"/>
          <p:cNvSpPr/>
          <p:nvPr/>
        </p:nvSpPr>
        <p:spPr>
          <a:xfrm>
            <a:off x="6567487" y="1880220"/>
            <a:ext cx="2005012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7" name="TextBox 47"/>
          <p:cNvSpPr/>
          <p:nvPr/>
        </p:nvSpPr>
        <p:spPr>
          <a:xfrm>
            <a:off x="6677025" y="1951658"/>
            <a:ext cx="19645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Оптимистичный</a:t>
            </a:r>
            <a:endParaRPr lang="en-US" sz="975" dirty="0"/>
          </a:p>
        </p:txBody>
      </p:sp>
      <p:sp>
        <p:nvSpPr>
          <p:cNvPr id="38" name="TextBox 48"/>
          <p:cNvSpPr/>
          <p:nvPr/>
        </p:nvSpPr>
        <p:spPr>
          <a:xfrm>
            <a:off x="6677025" y="2142158"/>
            <a:ext cx="1928813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+11–14% в год: ставка падает быстрее ожиданий, рынок труда охлаждается, ИИ начинает приносить выручку</a:t>
            </a:r>
            <a:endParaRPr lang="en-US" sz="788" dirty="0"/>
          </a:p>
        </p:txBody>
      </p:sp>
      <p:sp>
        <p:nvSpPr>
          <p:cNvPr id="39" name="TextBox 49"/>
          <p:cNvSpPr/>
          <p:nvPr/>
        </p:nvSpPr>
        <p:spPr>
          <a:xfrm>
            <a:off x="4495800" y="2800276"/>
            <a:ext cx="4076700" cy="1540297"/>
          </a:xfrm>
          <a:prstGeom prst="roundRect">
            <a:avLst>
              <a:gd name="adj" fmla="val 4947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  <p:txBody>
          <a:bodyPr wrap="square" lIns="104775" tIns="66675" rIns="104775" bIns="66675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Качественные ожидания:</a:t>
            </a: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консолидация ускорится до 5–10 сделок в год · первое образовательное IPO – ближе к 2027-му при ставке ниже 10–12% · закон об инфобизнесе примут в умеренной версии · ИИ уйдёт в себестоимость, а не в новые продукты</a:t>
            </a:r>
            <a:endParaRPr lang="en-US" sz="863" dirty="0"/>
          </a:p>
        </p:txBody>
      </p:sp>
      <p:sp>
        <p:nvSpPr>
          <p:cNvPr id="40" name="TextBox 50"/>
          <p:cNvSpPr/>
          <p:nvPr/>
        </p:nvSpPr>
        <p:spPr>
          <a:xfrm>
            <a:off x="4495800" y="4407247"/>
            <a:ext cx="4076700" cy="2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Даже оптимистичный сценарий не возвращает темпы 2021 года: это арифметика зрелости, а не осторожность</a:t>
            </a:r>
            <a:endParaRPr lang="en-US" sz="788" dirty="0"/>
          </a:p>
        </p:txBody>
      </p:sp>
      <p:sp>
        <p:nvSpPr>
          <p:cNvPr id="41" name="Shape 51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42" name="Picture 51" descr="__type_image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43" name="TextBox 52"/>
          <p:cNvSpPr/>
          <p:nvPr/>
        </p:nvSpPr>
        <p:spPr>
          <a:xfrm>
            <a:off x="571500" y="4814888"/>
            <a:ext cx="764522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топ-100, млрд ₽, номинал · факт: Smart Ranking · прогноз: собственное построение (допущения – приложение А) · ЦБ РФ, 19.06.2026</a:t>
            </a:r>
            <a:endParaRPr lang="en-US" sz="900" dirty="0"/>
          </a:p>
        </p:txBody>
      </p:sp>
      <p:sp>
        <p:nvSpPr>
          <p:cNvPr id="44" name="TextBox 53"/>
          <p:cNvSpPr/>
          <p:nvPr/>
        </p:nvSpPr>
        <p:spPr>
          <a:xfrm>
            <a:off x="8256389" y="4814888"/>
            <a:ext cx="37611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50" fill="hold" accel="20000" decel="6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50" fill="hold" accel="20000" de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 accel="20000" de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fill="hold" accel="20000" de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50" fill="hold" accel="20000" decel="6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50" fill="hold" accel="20000" decel="6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ВЫВОДЫ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из этого следует для школы</a:t>
            </a:r>
            <a:endParaRPr lang="en-US" sz="1875" dirty="0"/>
          </a:p>
        </p:txBody>
      </p:sp>
      <p:sp>
        <p:nvSpPr>
          <p:cNvPr id="6" name="Shape 6"/>
          <p:cNvSpPr/>
          <p:nvPr/>
        </p:nvSpPr>
        <p:spPr>
          <a:xfrm>
            <a:off x="571500" y="747712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7" name="TextBox 7"/>
          <p:cNvSpPr/>
          <p:nvPr/>
        </p:nvSpPr>
        <p:spPr>
          <a:xfrm>
            <a:off x="671513" y="828675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Box 8"/>
          <p:cNvSpPr/>
          <p:nvPr/>
        </p:nvSpPr>
        <p:spPr>
          <a:xfrm>
            <a:off x="671513" y="1014413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Планировать долю, а не волну</a:t>
            </a:r>
            <a:endParaRPr lang="en-US" sz="863" dirty="0"/>
          </a:p>
        </p:txBody>
      </p:sp>
      <p:sp>
        <p:nvSpPr>
          <p:cNvPr id="9" name="TextBox 9"/>
          <p:cNvSpPr/>
          <p:nvPr/>
        </p:nvSpPr>
        <p:spPr>
          <a:xfrm>
            <a:off x="671513" y="1174403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Рабочая цель – «взять долю в сегменте, который растёт на 15%», а не «дождаться, пока рынок вырастет на 30%»</a:t>
            </a:r>
            <a:endParaRPr lang="en-US" sz="788" dirty="0"/>
          </a:p>
        </p:txBody>
      </p:sp>
      <p:sp>
        <p:nvSpPr>
          <p:cNvPr id="10" name="Shape 10"/>
          <p:cNvSpPr/>
          <p:nvPr/>
        </p:nvSpPr>
        <p:spPr>
          <a:xfrm>
            <a:off x="2586038" y="747712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1" name="TextBox 11"/>
          <p:cNvSpPr/>
          <p:nvPr/>
        </p:nvSpPr>
        <p:spPr>
          <a:xfrm>
            <a:off x="2686050" y="828675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Box 12"/>
          <p:cNvSpPr/>
          <p:nvPr/>
        </p:nvSpPr>
        <p:spPr>
          <a:xfrm>
            <a:off x="2686050" y="1014413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Удержание – главный рычаг</a:t>
            </a:r>
            <a:endParaRPr lang="en-US" sz="863" dirty="0"/>
          </a:p>
        </p:txBody>
      </p:sp>
      <p:sp>
        <p:nvSpPr>
          <p:cNvPr id="13" name="TextBox 13"/>
          <p:cNvSpPr/>
          <p:nvPr/>
        </p:nvSpPr>
        <p:spPr>
          <a:xfrm>
            <a:off x="2686050" y="1174403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Выстроить для выпускников линейку следующих шагов, а долю возвращающихся мерить так же строго, как стоимость привлечения</a:t>
            </a:r>
            <a:endParaRPr lang="en-US" sz="788" dirty="0"/>
          </a:p>
        </p:txBody>
      </p:sp>
      <p:sp>
        <p:nvSpPr>
          <p:cNvPr id="14" name="Shape 14"/>
          <p:cNvSpPr/>
          <p:nvPr/>
        </p:nvSpPr>
        <p:spPr>
          <a:xfrm>
            <a:off x="4600575" y="747712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5" name="TextBox 15"/>
          <p:cNvSpPr/>
          <p:nvPr/>
        </p:nvSpPr>
        <p:spPr>
          <a:xfrm>
            <a:off x="4700588" y="828675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Box 16"/>
          <p:cNvSpPr/>
          <p:nvPr/>
        </p:nvSpPr>
        <p:spPr>
          <a:xfrm>
            <a:off x="4700588" y="1014413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Опора на один канал – риск</a:t>
            </a:r>
            <a:endParaRPr lang="en-US" sz="863" dirty="0"/>
          </a:p>
        </p:txBody>
      </p:sp>
      <p:sp>
        <p:nvSpPr>
          <p:cNvPr id="17" name="TextBox 17"/>
          <p:cNvSpPr/>
          <p:nvPr/>
        </p:nvSpPr>
        <p:spPr>
          <a:xfrm>
            <a:off x="4700588" y="1174403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Рекламные каналы гибнут четвёртый год подряд; устойчивость даёт органика – сообщество, контент, партнёрства</a:t>
            </a:r>
            <a:endParaRPr lang="en-US" sz="788" dirty="0"/>
          </a:p>
        </p:txBody>
      </p:sp>
      <p:sp>
        <p:nvSpPr>
          <p:cNvPr id="18" name="Shape 18"/>
          <p:cNvSpPr/>
          <p:nvPr/>
        </p:nvSpPr>
        <p:spPr>
          <a:xfrm>
            <a:off x="6615113" y="747712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19"/>
          <p:cNvSpPr/>
          <p:nvPr/>
        </p:nvSpPr>
        <p:spPr>
          <a:xfrm>
            <a:off x="6715125" y="828675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Box 20"/>
          <p:cNvSpPr/>
          <p:nvPr/>
        </p:nvSpPr>
        <p:spPr>
          <a:xfrm>
            <a:off x="6715125" y="1014412"/>
            <a:ext cx="1897952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Пересобрать платёжную модель</a:t>
            </a:r>
            <a:endParaRPr lang="en-US" sz="863" dirty="0"/>
          </a:p>
        </p:txBody>
      </p:sp>
      <p:sp>
        <p:nvSpPr>
          <p:cNvPr id="21" name="TextBox 21"/>
          <p:cNvSpPr/>
          <p:nvPr/>
        </p:nvSpPr>
        <p:spPr>
          <a:xfrm>
            <a:off x="6715125" y="1305818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Модульная оплата, умеренные чеки и прозрачные возвраты – теперь норма, а не антикризисная мера; за ставкой – следить</a:t>
            </a:r>
            <a:endParaRPr lang="en-US" sz="788" dirty="0"/>
          </a:p>
        </p:txBody>
      </p:sp>
      <p:sp>
        <p:nvSpPr>
          <p:cNvPr id="22" name="Shape 22"/>
          <p:cNvSpPr/>
          <p:nvPr/>
        </p:nvSpPr>
        <p:spPr>
          <a:xfrm>
            <a:off x="571500" y="2450306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3" name="TextBox 23"/>
          <p:cNvSpPr/>
          <p:nvPr/>
        </p:nvSpPr>
        <p:spPr>
          <a:xfrm>
            <a:off x="671513" y="2531269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Box 24"/>
          <p:cNvSpPr/>
          <p:nvPr/>
        </p:nvSpPr>
        <p:spPr>
          <a:xfrm>
            <a:off x="671513" y="2717006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Юридическая гигиена продаёт</a:t>
            </a:r>
            <a:endParaRPr lang="en-US" sz="863" dirty="0"/>
          </a:p>
        </p:txBody>
      </p:sp>
      <p:sp>
        <p:nvSpPr>
          <p:cNvPr id="25" name="TextBox 25"/>
          <p:cNvSpPr/>
          <p:nvPr/>
        </p:nvSpPr>
        <p:spPr>
          <a:xfrm>
            <a:off x="671513" y="2876996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Лицензия, маркировка и честная оферта – аргументы продаж: на фоне кризиса доверия чистые документы стали преимуществом</a:t>
            </a:r>
            <a:endParaRPr lang="en-US" sz="788" dirty="0"/>
          </a:p>
        </p:txBody>
      </p:sp>
      <p:sp>
        <p:nvSpPr>
          <p:cNvPr id="26" name="Shape 26"/>
          <p:cNvSpPr/>
          <p:nvPr/>
        </p:nvSpPr>
        <p:spPr>
          <a:xfrm>
            <a:off x="2586038" y="2450306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7" name="TextBox 27"/>
          <p:cNvSpPr/>
          <p:nvPr/>
        </p:nvSpPr>
        <p:spPr>
          <a:xfrm>
            <a:off x="2686050" y="2531269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Box 28"/>
          <p:cNvSpPr/>
          <p:nvPr/>
        </p:nvSpPr>
        <p:spPr>
          <a:xfrm>
            <a:off x="2686050" y="2717006"/>
            <a:ext cx="1897952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Партнёрства с формальным образованием</a:t>
            </a:r>
            <a:endParaRPr lang="en-US" sz="863" dirty="0"/>
          </a:p>
        </p:txBody>
      </p:sp>
      <p:sp>
        <p:nvSpPr>
          <p:cNvPr id="29" name="TextBox 29"/>
          <p:cNvSpPr/>
          <p:nvPr/>
        </p:nvSpPr>
        <p:spPr>
          <a:xfrm>
            <a:off x="2686050" y="3008412"/>
            <a:ext cx="1897952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Совместные программы с вузами и колледжами: крупнейшие игроки уже движутся туда через сделки</a:t>
            </a:r>
            <a:endParaRPr lang="en-US" sz="788" dirty="0"/>
          </a:p>
        </p:txBody>
      </p:sp>
      <p:sp>
        <p:nvSpPr>
          <p:cNvPr id="30" name="Shape 30"/>
          <p:cNvSpPr/>
          <p:nvPr/>
        </p:nvSpPr>
        <p:spPr>
          <a:xfrm>
            <a:off x="4600575" y="2450306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1" name="TextBox 31"/>
          <p:cNvSpPr/>
          <p:nvPr/>
        </p:nvSpPr>
        <p:spPr>
          <a:xfrm>
            <a:off x="4700588" y="2531269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Box 32"/>
          <p:cNvSpPr/>
          <p:nvPr/>
        </p:nvSpPr>
        <p:spPr>
          <a:xfrm>
            <a:off x="4700588" y="2717006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ИИ – в операционную модель</a:t>
            </a:r>
            <a:endParaRPr lang="en-US" sz="863" dirty="0"/>
          </a:p>
        </p:txBody>
      </p:sp>
      <p:sp>
        <p:nvSpPr>
          <p:cNvPr id="33" name="TextBox 33"/>
          <p:cNvSpPr/>
          <p:nvPr/>
        </p:nvSpPr>
        <p:spPr>
          <a:xfrm>
            <a:off x="4700588" y="2876996"/>
            <a:ext cx="1897952" cy="650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Встраивать туда, где ИИ снижает себестоимость: проверка работ, кураторство, производство контента; «ИИ-курс ради названия» покупатель распознаёт мгновенно</a:t>
            </a:r>
            <a:endParaRPr lang="en-US" sz="788" dirty="0"/>
          </a:p>
        </p:txBody>
      </p:sp>
      <p:sp>
        <p:nvSpPr>
          <p:cNvPr id="34" name="Shape 34"/>
          <p:cNvSpPr/>
          <p:nvPr/>
        </p:nvSpPr>
        <p:spPr>
          <a:xfrm>
            <a:off x="6615113" y="2450306"/>
            <a:ext cx="1957388" cy="164544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35" name="TextBox 35"/>
          <p:cNvSpPr/>
          <p:nvPr/>
        </p:nvSpPr>
        <p:spPr>
          <a:xfrm>
            <a:off x="6715125" y="2531269"/>
            <a:ext cx="19330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Box 36"/>
          <p:cNvSpPr/>
          <p:nvPr/>
        </p:nvSpPr>
        <p:spPr>
          <a:xfrm>
            <a:off x="6715125" y="2717006"/>
            <a:ext cx="1933099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Сейчас – рынок покупателя</a:t>
            </a:r>
            <a:endParaRPr lang="en-US" sz="863" dirty="0"/>
          </a:p>
        </p:txBody>
      </p:sp>
      <p:sp>
        <p:nvSpPr>
          <p:cNvPr id="37" name="TextBox 37"/>
          <p:cNvSpPr/>
          <p:nvPr/>
        </p:nvSpPr>
        <p:spPr>
          <a:xfrm>
            <a:off x="6715125" y="2876996"/>
            <a:ext cx="189795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Оценки скромные, стратеги активны; если продажа или партнёрство хотя бы на горизонте – готовиться к сделке заранее</a:t>
            </a:r>
            <a:endParaRPr lang="en-US" sz="788" dirty="0"/>
          </a:p>
        </p:txBody>
      </p:sp>
      <p:sp>
        <p:nvSpPr>
          <p:cNvPr id="38" name="Shape 38"/>
          <p:cNvSpPr/>
          <p:nvPr/>
        </p:nvSpPr>
        <p:spPr>
          <a:xfrm>
            <a:off x="571500" y="4191000"/>
            <a:ext cx="8001000" cy="466725"/>
          </a:xfrm>
          <a:prstGeom prst="roundRect">
            <a:avLst>
              <a:gd name="adj" fmla="val 16327"/>
            </a:avLst>
          </a:prstGeom>
          <a:solidFill>
            <a:srgbClr val="20242A"/>
          </a:solidFill>
          <a:ln/>
        </p:spPr>
      </p:sp>
      <p:sp>
        <p:nvSpPr>
          <p:cNvPr id="39" name="TextBox 39"/>
          <p:cNvSpPr/>
          <p:nvPr/>
        </p:nvSpPr>
        <p:spPr>
          <a:xfrm>
            <a:off x="695325" y="4257675"/>
            <a:ext cx="392072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F5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 обсуждению: какие два-три тезиса берём в работу до конца 2026 года?</a:t>
            </a:r>
            <a:endParaRPr lang="en-US" sz="938" dirty="0"/>
          </a:p>
        </p:txBody>
      </p:sp>
      <p:sp>
        <p:nvSpPr>
          <p:cNvPr id="40" name="TextBox 40"/>
          <p:cNvSpPr/>
          <p:nvPr/>
        </p:nvSpPr>
        <p:spPr>
          <a:xfrm>
            <a:off x="4616053" y="4291013"/>
            <a:ext cx="38326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1B57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приложения: А – прогноз по сегментам · Б – о точности цифр · В – данные · Г – источники</a:t>
            </a:r>
            <a:endParaRPr lang="en-US" sz="788" dirty="0"/>
          </a:p>
        </p:txBody>
      </p:sp>
      <p:sp>
        <p:nvSpPr>
          <p:cNvPr id="41" name="Shape 41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42" name="Picture 4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43" name="TextBox 42"/>
          <p:cNvSpPr/>
          <p:nvPr/>
        </p:nvSpPr>
        <p:spPr>
          <a:xfrm>
            <a:off x="571500" y="4814888"/>
            <a:ext cx="277932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Тезисы опираются на разделы 4–10 документа</a:t>
            </a:r>
            <a:endParaRPr lang="en-US" sz="900" dirty="0"/>
          </a:p>
        </p:txBody>
      </p:sp>
      <p:sp>
        <p:nvSpPr>
          <p:cNvPr id="44" name="TextBox 43"/>
          <p:cNvSpPr/>
          <p:nvPr/>
        </p:nvSpPr>
        <p:spPr>
          <a:xfrm>
            <a:off x="8251478" y="4814888"/>
            <a:ext cx="38102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 accel="20000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 accel="20000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 accel="20000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 accel="20000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50" fill="hold" accel="20000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 accel="20000" decel="6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50" fill="hold" accel="20000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 accel="20000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fill="hold" accel="20000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 accel="20000" decel="6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 accel="20000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fill="hold" accel="20000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 accel="20000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 accel="20000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 accel="20000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 accel="20000" decel="6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 accel="20000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 accel="20000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50" fill="hold" accel="20000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 accel="20000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 accel="20000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 accel="20000" decel="6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50" fill="hold" accel="20000" decel="6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50" fill="hold" accel="20000" decel="6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50" fill="hold" accel="20000" decel="6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 accel="20000" decel="6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50" fill="hold" accel="20000" decel="6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550" fill="hold" accel="20000" decel="6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550" fill="hold" accel="20000" decel="6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550" fill="hold" accel="20000" de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50" fill="hold" accel="20000" de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550" fill="hold" accel="20000" de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550" fill="hold" accel="20000" decel="6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550" fill="hold" accel="20000" decel="6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550" fill="hold" accel="20000" decel="6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А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3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 по сегментам, базовый сценарий</a:t>
            </a:r>
            <a:endParaRPr lang="en-US" sz="1650" dirty="0"/>
          </a:p>
        </p:txBody>
      </p:sp>
      <p:sp>
        <p:nvSpPr>
          <p:cNvPr id="6" name="Shape 5"/>
          <p:cNvSpPr/>
          <p:nvPr/>
        </p:nvSpPr>
        <p:spPr>
          <a:xfrm>
            <a:off x="571500" y="706710"/>
            <a:ext cx="8001000" cy="3960540"/>
          </a:xfrm>
          <a:prstGeom prst="roundRect">
            <a:avLst>
              <a:gd name="adj" fmla="val 192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7" name="Shape 6"/>
          <p:cNvSpPr/>
          <p:nvPr/>
        </p:nvSpPr>
        <p:spPr>
          <a:xfrm>
            <a:off x="576263" y="711473"/>
            <a:ext cx="7991475" cy="314325"/>
          </a:xfrm>
          <a:prstGeom prst="rect">
            <a:avLst/>
          </a:prstGeom>
          <a:noFill/>
          <a:ln/>
        </p:spPr>
      </p:sp>
      <p:pic>
        <p:nvPicPr>
          <p:cNvPr id="8" name="Picture 6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263" y="711473"/>
            <a:ext cx="7991475" cy="314325"/>
          </a:xfrm>
          <a:prstGeom prst="rect">
            <a:avLst/>
          </a:prstGeom>
        </p:spPr>
      </p:pic>
      <p:sp>
        <p:nvSpPr>
          <p:cNvPr id="9" name="TextBox 7"/>
          <p:cNvSpPr/>
          <p:nvPr/>
        </p:nvSpPr>
        <p:spPr>
          <a:xfrm>
            <a:off x="728663" y="787673"/>
            <a:ext cx="20431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</a:t>
            </a:r>
            <a:endParaRPr lang="en-US" sz="863" dirty="0"/>
          </a:p>
        </p:txBody>
      </p:sp>
      <p:sp>
        <p:nvSpPr>
          <p:cNvPr id="10" name="TextBox 8"/>
          <p:cNvSpPr/>
          <p:nvPr/>
        </p:nvSpPr>
        <p:spPr>
          <a:xfrm>
            <a:off x="2566987" y="787673"/>
            <a:ext cx="104775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 ФАКТ</a:t>
            </a:r>
            <a:endParaRPr lang="en-US" sz="863" dirty="0"/>
          </a:p>
        </p:txBody>
      </p:sp>
      <p:sp>
        <p:nvSpPr>
          <p:cNvPr id="11" name="TextBox 9"/>
          <p:cNvSpPr/>
          <p:nvPr/>
        </p:nvSpPr>
        <p:spPr>
          <a:xfrm>
            <a:off x="3586162" y="787673"/>
            <a:ext cx="11525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 ПРОГНОЗ</a:t>
            </a:r>
            <a:endParaRPr lang="en-US" sz="863" dirty="0"/>
          </a:p>
        </p:txBody>
      </p:sp>
      <p:sp>
        <p:nvSpPr>
          <p:cNvPr id="12" name="TextBox 10"/>
          <p:cNvSpPr/>
          <p:nvPr/>
        </p:nvSpPr>
        <p:spPr>
          <a:xfrm>
            <a:off x="4710112" y="787673"/>
            <a:ext cx="11525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2027 ПРОГНОЗ</a:t>
            </a:r>
            <a:endParaRPr lang="en-US" sz="863" dirty="0"/>
          </a:p>
        </p:txBody>
      </p:sp>
      <p:sp>
        <p:nvSpPr>
          <p:cNvPr id="13" name="TextBox 11"/>
          <p:cNvSpPr/>
          <p:nvPr/>
        </p:nvSpPr>
        <p:spPr>
          <a:xfrm>
            <a:off x="5938837" y="787673"/>
            <a:ext cx="2724150" cy="152400"/>
          </a:xfrm>
          <a:prstGeom prst="rect">
            <a:avLst/>
          </a:prstGeom>
          <a:noFill/>
          <a:ln/>
        </p:spPr>
        <p:txBody>
          <a:bodyPr wrap="non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КЛЮЧЕВОЙ ФАКТОР</a:t>
            </a:r>
            <a:endParaRPr lang="en-US" sz="863" dirty="0"/>
          </a:p>
        </p:txBody>
      </p:sp>
      <p:sp>
        <p:nvSpPr>
          <p:cNvPr id="14" name="Shape 12"/>
          <p:cNvSpPr/>
          <p:nvPr/>
        </p:nvSpPr>
        <p:spPr>
          <a:xfrm>
            <a:off x="576263" y="1025798"/>
            <a:ext cx="7991475" cy="481012"/>
          </a:xfrm>
          <a:prstGeom prst="rect">
            <a:avLst/>
          </a:prstGeom>
          <a:noFill/>
          <a:ln/>
        </p:spPr>
      </p:sp>
      <p:pic>
        <p:nvPicPr>
          <p:cNvPr id="15" name="Picture 12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63" y="1025798"/>
            <a:ext cx="7991475" cy="481012"/>
          </a:xfrm>
          <a:prstGeom prst="rect">
            <a:avLst/>
          </a:prstGeom>
        </p:spPr>
      </p:pic>
      <p:sp>
        <p:nvSpPr>
          <p:cNvPr id="16" name="TextBox 13"/>
          <p:cNvSpPr/>
          <p:nvPr/>
        </p:nvSpPr>
        <p:spPr>
          <a:xfrm>
            <a:off x="728663" y="1092473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Детское образование в целом</a:t>
            </a:r>
            <a:endParaRPr lang="en-US" sz="975" dirty="0"/>
          </a:p>
        </p:txBody>
      </p:sp>
      <p:sp>
        <p:nvSpPr>
          <p:cNvPr id="17" name="TextBox 14"/>
          <p:cNvSpPr/>
          <p:nvPr/>
        </p:nvSpPr>
        <p:spPr>
          <a:xfrm>
            <a:off x="2566987" y="1178198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+20%</a:t>
            </a:r>
            <a:endParaRPr lang="en-US" sz="975" dirty="0"/>
          </a:p>
        </p:txBody>
      </p:sp>
      <p:sp>
        <p:nvSpPr>
          <p:cNvPr id="18" name="TextBox 15"/>
          <p:cNvSpPr/>
          <p:nvPr/>
        </p:nvSpPr>
        <p:spPr>
          <a:xfrm>
            <a:off x="3586162" y="1178198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+12–15%</a:t>
            </a:r>
            <a:endParaRPr lang="en-US" sz="975" dirty="0"/>
          </a:p>
        </p:txBody>
      </p:sp>
      <p:sp>
        <p:nvSpPr>
          <p:cNvPr id="19" name="TextBox 16"/>
          <p:cNvSpPr/>
          <p:nvPr/>
        </p:nvSpPr>
        <p:spPr>
          <a:xfrm>
            <a:off x="4710112" y="1178198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+10–13%</a:t>
            </a:r>
            <a:endParaRPr lang="en-US" sz="975" dirty="0"/>
          </a:p>
        </p:txBody>
      </p:sp>
      <p:sp>
        <p:nvSpPr>
          <p:cNvPr id="20" name="TextBox 17"/>
          <p:cNvSpPr/>
          <p:nvPr/>
        </p:nvSpPr>
        <p:spPr>
          <a:xfrm>
            <a:off x="5938837" y="1106760"/>
            <a:ext cx="2476500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Демография «за», насыщение крупных городов «против»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6263" y="1506810"/>
            <a:ext cx="7991475" cy="481012"/>
          </a:xfrm>
          <a:prstGeom prst="rect">
            <a:avLst/>
          </a:prstGeom>
          <a:noFill/>
          <a:ln/>
        </p:spPr>
      </p:sp>
      <p:pic>
        <p:nvPicPr>
          <p:cNvPr id="22" name="Picture 18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263" y="1506810"/>
            <a:ext cx="7991475" cy="481012"/>
          </a:xfrm>
          <a:prstGeom prst="rect">
            <a:avLst/>
          </a:prstGeom>
        </p:spPr>
      </p:pic>
      <p:sp>
        <p:nvSpPr>
          <p:cNvPr id="23" name="TextBox 19"/>
          <p:cNvSpPr/>
          <p:nvPr/>
        </p:nvSpPr>
        <p:spPr>
          <a:xfrm>
            <a:off x="728663" y="1573485"/>
            <a:ext cx="2005965" cy="342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– в т.ч. подготовка к ЕГЭ/ОГЭ</a:t>
            </a:r>
            <a:endParaRPr lang="en-US" sz="975" dirty="0"/>
          </a:p>
        </p:txBody>
      </p:sp>
      <p:sp>
        <p:nvSpPr>
          <p:cNvPr id="24" name="TextBox 20"/>
          <p:cNvSpPr/>
          <p:nvPr/>
        </p:nvSpPr>
        <p:spPr>
          <a:xfrm>
            <a:off x="2566987" y="1659210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+50%</a:t>
            </a:r>
            <a:endParaRPr lang="en-US" sz="975" dirty="0"/>
          </a:p>
        </p:txBody>
      </p:sp>
      <p:sp>
        <p:nvSpPr>
          <p:cNvPr id="25" name="TextBox 21"/>
          <p:cNvSpPr/>
          <p:nvPr/>
        </p:nvSpPr>
        <p:spPr>
          <a:xfrm>
            <a:off x="3586162" y="165921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+25–35%</a:t>
            </a:r>
            <a:endParaRPr lang="en-US" sz="975" dirty="0"/>
          </a:p>
        </p:txBody>
      </p:sp>
      <p:sp>
        <p:nvSpPr>
          <p:cNvPr id="26" name="TextBox 22"/>
          <p:cNvSpPr/>
          <p:nvPr/>
        </p:nvSpPr>
        <p:spPr>
          <a:xfrm>
            <a:off x="4710112" y="165921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+20–25%</a:t>
            </a:r>
            <a:endParaRPr lang="en-US" sz="975" dirty="0"/>
          </a:p>
        </p:txBody>
      </p:sp>
      <p:sp>
        <p:nvSpPr>
          <p:cNvPr id="27" name="TextBox 23"/>
          <p:cNvSpPr/>
          <p:nvPr/>
        </p:nvSpPr>
        <p:spPr>
          <a:xfrm>
            <a:off x="5938837" y="1666354"/>
            <a:ext cx="2724150" cy="157163"/>
          </a:xfrm>
          <a:prstGeom prst="rect">
            <a:avLst/>
          </a:prstGeom>
          <a:noFill/>
          <a:ln/>
        </p:spPr>
        <p:txBody>
          <a:bodyPr wrap="non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Переток от репетиторов продолжается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76263" y="1987823"/>
            <a:ext cx="7991475" cy="452437"/>
          </a:xfrm>
          <a:prstGeom prst="rect">
            <a:avLst/>
          </a:prstGeom>
          <a:noFill/>
          <a:ln/>
        </p:spPr>
      </p:sp>
      <p:pic>
        <p:nvPicPr>
          <p:cNvPr id="29" name="Picture 24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263" y="1987823"/>
            <a:ext cx="7991475" cy="452437"/>
          </a:xfrm>
          <a:prstGeom prst="rect">
            <a:avLst/>
          </a:prstGeom>
        </p:spPr>
      </p:pic>
      <p:sp>
        <p:nvSpPr>
          <p:cNvPr id="30" name="TextBox 25"/>
          <p:cNvSpPr/>
          <p:nvPr/>
        </p:nvSpPr>
        <p:spPr>
          <a:xfrm>
            <a:off x="728663" y="2125935"/>
            <a:ext cx="20431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Взрослые профессии (ДПО)</a:t>
            </a:r>
            <a:endParaRPr lang="en-US" sz="975" dirty="0"/>
          </a:p>
        </p:txBody>
      </p:sp>
      <p:sp>
        <p:nvSpPr>
          <p:cNvPr id="31" name="TextBox 26"/>
          <p:cNvSpPr/>
          <p:nvPr/>
        </p:nvSpPr>
        <p:spPr>
          <a:xfrm>
            <a:off x="2566987" y="2125935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+6%</a:t>
            </a:r>
            <a:endParaRPr lang="en-US" sz="975" dirty="0"/>
          </a:p>
        </p:txBody>
      </p:sp>
      <p:sp>
        <p:nvSpPr>
          <p:cNvPr id="32" name="TextBox 27"/>
          <p:cNvSpPr/>
          <p:nvPr/>
        </p:nvSpPr>
        <p:spPr>
          <a:xfrm>
            <a:off x="3586162" y="2125935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0–3%</a:t>
            </a:r>
            <a:endParaRPr lang="en-US" sz="975" dirty="0"/>
          </a:p>
        </p:txBody>
      </p:sp>
      <p:sp>
        <p:nvSpPr>
          <p:cNvPr id="33" name="TextBox 28"/>
          <p:cNvSpPr/>
          <p:nvPr/>
        </p:nvSpPr>
        <p:spPr>
          <a:xfrm>
            <a:off x="4710112" y="2125935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+3–6%</a:t>
            </a:r>
            <a:endParaRPr lang="en-US" sz="975" dirty="0"/>
          </a:p>
        </p:txBody>
      </p:sp>
      <p:sp>
        <p:nvSpPr>
          <p:cNvPr id="34" name="TextBox 29"/>
          <p:cNvSpPr/>
          <p:nvPr/>
        </p:nvSpPr>
        <p:spPr>
          <a:xfrm>
            <a:off x="5938837" y="2054498"/>
            <a:ext cx="2476500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Оживает вслед за ставкой, с запаздыванием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76263" y="2440260"/>
            <a:ext cx="7991475" cy="481012"/>
          </a:xfrm>
          <a:prstGeom prst="rect">
            <a:avLst/>
          </a:prstGeom>
          <a:noFill/>
          <a:ln/>
        </p:spPr>
      </p:sp>
      <p:pic>
        <p:nvPicPr>
          <p:cNvPr id="36" name="Picture 30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263" y="2440260"/>
            <a:ext cx="7991475" cy="481012"/>
          </a:xfrm>
          <a:prstGeom prst="rect">
            <a:avLst/>
          </a:prstGeom>
        </p:spPr>
      </p:pic>
      <p:sp>
        <p:nvSpPr>
          <p:cNvPr id="37" name="TextBox 31"/>
          <p:cNvSpPr/>
          <p:nvPr/>
        </p:nvSpPr>
        <p:spPr>
          <a:xfrm>
            <a:off x="728663" y="2506935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Партнёрства с вузами и колледжами</a:t>
            </a:r>
            <a:endParaRPr lang="en-US" sz="975" dirty="0"/>
          </a:p>
        </p:txBody>
      </p:sp>
      <p:sp>
        <p:nvSpPr>
          <p:cNvPr id="38" name="TextBox 32"/>
          <p:cNvSpPr/>
          <p:nvPr/>
        </p:nvSpPr>
        <p:spPr>
          <a:xfrm>
            <a:off x="2566987" y="2592660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+29–36%</a:t>
            </a:r>
            <a:endParaRPr lang="en-US" sz="975" dirty="0"/>
          </a:p>
        </p:txBody>
      </p:sp>
      <p:sp>
        <p:nvSpPr>
          <p:cNvPr id="39" name="TextBox 33"/>
          <p:cNvSpPr/>
          <p:nvPr/>
        </p:nvSpPr>
        <p:spPr>
          <a:xfrm>
            <a:off x="3586162" y="259266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+20–30%</a:t>
            </a:r>
            <a:endParaRPr lang="en-US" sz="975" dirty="0"/>
          </a:p>
        </p:txBody>
      </p:sp>
      <p:sp>
        <p:nvSpPr>
          <p:cNvPr id="40" name="TextBox 34"/>
          <p:cNvSpPr/>
          <p:nvPr/>
        </p:nvSpPr>
        <p:spPr>
          <a:xfrm>
            <a:off x="4710112" y="259266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+15–25%</a:t>
            </a:r>
            <a:endParaRPr lang="en-US" sz="975" dirty="0"/>
          </a:p>
        </p:txBody>
      </p:sp>
      <p:sp>
        <p:nvSpPr>
          <p:cNvPr id="41" name="TextBox 35"/>
          <p:cNvSpPr/>
          <p:nvPr/>
        </p:nvSpPr>
        <p:spPr>
          <a:xfrm>
            <a:off x="5938837" y="2521223"/>
            <a:ext cx="2476500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Самый динамичный сегмент; риск – 114-ФЗ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576263" y="2921273"/>
            <a:ext cx="7991475" cy="331515"/>
          </a:xfrm>
          <a:prstGeom prst="rect">
            <a:avLst/>
          </a:prstGeom>
          <a:noFill/>
          <a:ln/>
        </p:spPr>
      </p:sp>
      <p:pic>
        <p:nvPicPr>
          <p:cNvPr id="43" name="Picture 36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263" y="2921273"/>
            <a:ext cx="7991475" cy="331515"/>
          </a:xfrm>
          <a:prstGeom prst="rect">
            <a:avLst/>
          </a:prstGeom>
        </p:spPr>
      </p:pic>
      <p:sp>
        <p:nvSpPr>
          <p:cNvPr id="44" name="TextBox 37"/>
          <p:cNvSpPr/>
          <p:nvPr/>
        </p:nvSpPr>
        <p:spPr>
          <a:xfrm>
            <a:off x="728663" y="2998887"/>
            <a:ext cx="20431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Языки</a:t>
            </a:r>
            <a:endParaRPr lang="en-US" sz="975" dirty="0"/>
          </a:p>
        </p:txBody>
      </p:sp>
      <p:sp>
        <p:nvSpPr>
          <p:cNvPr id="45" name="TextBox 38"/>
          <p:cNvSpPr/>
          <p:nvPr/>
        </p:nvSpPr>
        <p:spPr>
          <a:xfrm>
            <a:off x="2566987" y="2998887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~+3%</a:t>
            </a:r>
            <a:endParaRPr lang="en-US" sz="975" dirty="0"/>
          </a:p>
        </p:txBody>
      </p:sp>
      <p:sp>
        <p:nvSpPr>
          <p:cNvPr id="46" name="TextBox 39"/>
          <p:cNvSpPr/>
          <p:nvPr/>
        </p:nvSpPr>
        <p:spPr>
          <a:xfrm>
            <a:off x="3586162" y="2998887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−2…+2%</a:t>
            </a:r>
            <a:endParaRPr lang="en-US" sz="975" dirty="0"/>
          </a:p>
        </p:txBody>
      </p:sp>
      <p:sp>
        <p:nvSpPr>
          <p:cNvPr id="47" name="TextBox 40"/>
          <p:cNvSpPr/>
          <p:nvPr/>
        </p:nvSpPr>
        <p:spPr>
          <a:xfrm>
            <a:off x="4710112" y="2998887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−2…+2%</a:t>
            </a:r>
            <a:endParaRPr lang="en-US" sz="975" dirty="0"/>
          </a:p>
        </p:txBody>
      </p:sp>
      <p:sp>
        <p:nvSpPr>
          <p:cNvPr id="48" name="TextBox 41"/>
          <p:cNvSpPr/>
          <p:nvPr/>
        </p:nvSpPr>
        <p:spPr>
          <a:xfrm>
            <a:off x="5938837" y="3006030"/>
            <a:ext cx="2724150" cy="157163"/>
          </a:xfrm>
          <a:prstGeom prst="rect">
            <a:avLst/>
          </a:prstGeom>
          <a:noFill/>
          <a:ln/>
        </p:spPr>
        <p:txBody>
          <a:bodyPr wrap="non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Давление бесплатных ИИ-инструментов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76263" y="3252788"/>
            <a:ext cx="7991475" cy="452437"/>
          </a:xfrm>
          <a:prstGeom prst="rect">
            <a:avLst/>
          </a:prstGeom>
          <a:noFill/>
          <a:ln/>
        </p:spPr>
      </p:sp>
      <p:pic>
        <p:nvPicPr>
          <p:cNvPr id="50" name="Picture 42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263" y="3252788"/>
            <a:ext cx="7991475" cy="452437"/>
          </a:xfrm>
          <a:prstGeom prst="rect">
            <a:avLst/>
          </a:prstGeom>
        </p:spPr>
      </p:pic>
      <p:sp>
        <p:nvSpPr>
          <p:cNvPr id="51" name="TextBox 43"/>
          <p:cNvSpPr/>
          <p:nvPr/>
        </p:nvSpPr>
        <p:spPr>
          <a:xfrm>
            <a:off x="728663" y="3390900"/>
            <a:ext cx="20431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Корпоративное обучение</a:t>
            </a:r>
            <a:endParaRPr lang="en-US" sz="975" dirty="0"/>
          </a:p>
        </p:txBody>
      </p:sp>
      <p:sp>
        <p:nvSpPr>
          <p:cNvPr id="52" name="TextBox 44"/>
          <p:cNvSpPr/>
          <p:nvPr/>
        </p:nvSpPr>
        <p:spPr>
          <a:xfrm>
            <a:off x="2566987" y="3390900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+30%*</a:t>
            </a:r>
            <a:endParaRPr lang="en-US" sz="975" dirty="0"/>
          </a:p>
        </p:txBody>
      </p:sp>
      <p:sp>
        <p:nvSpPr>
          <p:cNvPr id="53" name="TextBox 45"/>
          <p:cNvSpPr/>
          <p:nvPr/>
        </p:nvSpPr>
        <p:spPr>
          <a:xfrm>
            <a:off x="3586162" y="339090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+10–15%</a:t>
            </a:r>
            <a:endParaRPr lang="en-US" sz="975" dirty="0"/>
          </a:p>
        </p:txBody>
      </p:sp>
      <p:sp>
        <p:nvSpPr>
          <p:cNvPr id="54" name="TextBox 46"/>
          <p:cNvSpPr/>
          <p:nvPr/>
        </p:nvSpPr>
        <p:spPr>
          <a:xfrm>
            <a:off x="4710112" y="3390900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+10–15%</a:t>
            </a:r>
            <a:endParaRPr lang="en-US" sz="975" dirty="0"/>
          </a:p>
        </p:txBody>
      </p:sp>
      <p:sp>
        <p:nvSpPr>
          <p:cNvPr id="55" name="TextBox 47"/>
          <p:cNvSpPr/>
          <p:nvPr/>
        </p:nvSpPr>
        <p:spPr>
          <a:xfrm>
            <a:off x="5938837" y="3319462"/>
            <a:ext cx="2476500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Кадровый голод, внедрение ИИ · *по лидерам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576263" y="3705225"/>
            <a:ext cx="7991475" cy="481012"/>
          </a:xfrm>
          <a:prstGeom prst="rect">
            <a:avLst/>
          </a:prstGeom>
          <a:noFill/>
          <a:ln/>
        </p:spPr>
      </p:sp>
      <p:pic>
        <p:nvPicPr>
          <p:cNvPr id="57" name="Picture 48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6263" y="3705225"/>
            <a:ext cx="7991475" cy="481012"/>
          </a:xfrm>
          <a:prstGeom prst="rect">
            <a:avLst/>
          </a:prstGeom>
        </p:spPr>
      </p:pic>
      <p:sp>
        <p:nvSpPr>
          <p:cNvPr id="58" name="TextBox 49"/>
          <p:cNvSpPr/>
          <p:nvPr/>
        </p:nvSpPr>
        <p:spPr>
          <a:xfrm>
            <a:off x="728663" y="3771900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Бизнес-образование частных лиц</a:t>
            </a:r>
            <a:endParaRPr lang="en-US" sz="975" dirty="0"/>
          </a:p>
        </p:txBody>
      </p:sp>
      <p:sp>
        <p:nvSpPr>
          <p:cNvPr id="59" name="TextBox 50"/>
          <p:cNvSpPr/>
          <p:nvPr/>
        </p:nvSpPr>
        <p:spPr>
          <a:xfrm>
            <a:off x="2566987" y="3857625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−12%</a:t>
            </a:r>
            <a:endParaRPr lang="en-US" sz="975" dirty="0"/>
          </a:p>
        </p:txBody>
      </p:sp>
      <p:sp>
        <p:nvSpPr>
          <p:cNvPr id="60" name="TextBox 51"/>
          <p:cNvSpPr/>
          <p:nvPr/>
        </p:nvSpPr>
        <p:spPr>
          <a:xfrm>
            <a:off x="3586162" y="3857625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−5…0%</a:t>
            </a:r>
            <a:endParaRPr lang="en-US" sz="975" dirty="0"/>
          </a:p>
        </p:txBody>
      </p:sp>
      <p:sp>
        <p:nvSpPr>
          <p:cNvPr id="61" name="TextBox 52"/>
          <p:cNvSpPr/>
          <p:nvPr/>
        </p:nvSpPr>
        <p:spPr>
          <a:xfrm>
            <a:off x="4710112" y="3857625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0…+5%</a:t>
            </a:r>
            <a:endParaRPr lang="en-US" sz="975" dirty="0"/>
          </a:p>
        </p:txBody>
      </p:sp>
      <p:sp>
        <p:nvSpPr>
          <p:cNvPr id="62" name="TextBox 53"/>
          <p:cNvSpPr/>
          <p:nvPr/>
        </p:nvSpPr>
        <p:spPr>
          <a:xfrm>
            <a:off x="5938837" y="3786188"/>
            <a:ext cx="2476500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Дно близко; восстановление вместе с рассрочками</a:t>
            </a:r>
            <a:endParaRPr lang="en-US" sz="900" dirty="0"/>
          </a:p>
        </p:txBody>
      </p:sp>
      <p:sp>
        <p:nvSpPr>
          <p:cNvPr id="63" name="TextBox 55"/>
          <p:cNvSpPr/>
          <p:nvPr/>
        </p:nvSpPr>
        <p:spPr>
          <a:xfrm>
            <a:off x="728663" y="4252912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Массовый инфобизнес (вне топ-100)</a:t>
            </a:r>
            <a:endParaRPr lang="en-US" sz="975" dirty="0"/>
          </a:p>
        </p:txBody>
      </p:sp>
      <p:sp>
        <p:nvSpPr>
          <p:cNvPr id="64" name="TextBox 56"/>
          <p:cNvSpPr/>
          <p:nvPr/>
        </p:nvSpPr>
        <p:spPr>
          <a:xfrm>
            <a:off x="2566987" y="4338637"/>
            <a:ext cx="104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445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−6%</a:t>
            </a:r>
            <a:endParaRPr lang="en-US" sz="975" dirty="0"/>
          </a:p>
        </p:txBody>
      </p:sp>
      <p:sp>
        <p:nvSpPr>
          <p:cNvPr id="65" name="TextBox 57"/>
          <p:cNvSpPr/>
          <p:nvPr/>
        </p:nvSpPr>
        <p:spPr>
          <a:xfrm>
            <a:off x="3586162" y="4338637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−5…0%</a:t>
            </a:r>
            <a:endParaRPr lang="en-US" sz="975" dirty="0"/>
          </a:p>
        </p:txBody>
      </p:sp>
      <p:sp>
        <p:nvSpPr>
          <p:cNvPr id="66" name="TextBox 58"/>
          <p:cNvSpPr/>
          <p:nvPr/>
        </p:nvSpPr>
        <p:spPr>
          <a:xfrm>
            <a:off x="4710112" y="4338637"/>
            <a:ext cx="1152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−3…+2%</a:t>
            </a:r>
            <a:endParaRPr lang="en-US" sz="975" dirty="0"/>
          </a:p>
        </p:txBody>
      </p:sp>
      <p:sp>
        <p:nvSpPr>
          <p:cNvPr id="67" name="TextBox 59"/>
          <p:cNvSpPr/>
          <p:nvPr/>
        </p:nvSpPr>
        <p:spPr>
          <a:xfrm>
            <a:off x="5938837" y="4345781"/>
            <a:ext cx="2724150" cy="157163"/>
          </a:xfrm>
          <a:prstGeom prst="rect">
            <a:avLst/>
          </a:prstGeom>
          <a:noFill/>
          <a:ln/>
        </p:spPr>
        <p:txBody>
          <a:bodyPr wrap="non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Ниша продолжает очищаться</a:t>
            </a:r>
            <a:endParaRPr lang="en-US" sz="900" dirty="0"/>
          </a:p>
        </p:txBody>
      </p:sp>
      <p:sp>
        <p:nvSpPr>
          <p:cNvPr id="68" name="Shape 60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69" name="Picture 60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70" name="TextBox 61"/>
          <p:cNvSpPr/>
          <p:nvPr/>
        </p:nvSpPr>
        <p:spPr>
          <a:xfrm>
            <a:off x="571500" y="4814888"/>
            <a:ext cx="60719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Годовые темпы роста выручки · факт: Smart Ranking, РБК Тренды · прогноз: собственное построение, июль 2026</a:t>
            </a:r>
            <a:endParaRPr lang="en-US" sz="900" dirty="0"/>
          </a:p>
        </p:txBody>
      </p:sp>
      <p:sp>
        <p:nvSpPr>
          <p:cNvPr id="71" name="TextBox 62"/>
          <p:cNvSpPr/>
          <p:nvPr/>
        </p:nvSpPr>
        <p:spPr>
          <a:xfrm>
            <a:off x="7789441" y="4814888"/>
            <a:ext cx="86136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А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Б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3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 точности цифр: что не прошло проверку</a:t>
            </a:r>
            <a:endParaRPr lang="en-US" sz="1650" dirty="0"/>
          </a:p>
        </p:txBody>
      </p:sp>
      <p:sp>
        <p:nvSpPr>
          <p:cNvPr id="6" name="Shape 6"/>
          <p:cNvSpPr/>
          <p:nvPr/>
        </p:nvSpPr>
        <p:spPr>
          <a:xfrm>
            <a:off x="571500" y="706710"/>
            <a:ext cx="3971925" cy="947217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7" name="TextBox 7"/>
          <p:cNvSpPr/>
          <p:nvPr/>
        </p:nvSpPr>
        <p:spPr>
          <a:xfrm>
            <a:off x="690563" y="958155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«Рынок вырос на 12% в 2025 году»</a:t>
            </a:r>
            <a:endParaRPr lang="en-US" sz="825" dirty="0"/>
          </a:p>
        </p:txBody>
      </p:sp>
      <p:sp>
        <p:nvSpPr>
          <p:cNvPr id="8" name="TextBox 8"/>
          <p:cNvSpPr/>
          <p:nvPr/>
        </p:nvSpPr>
        <p:spPr>
          <a:xfrm>
            <a:off x="690563" y="1117699"/>
            <a:ext cx="373380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 ранее опубликованной базой сходится лишь ~+6,6%: 154 против 144,5 млрд ₽. База, судя по всему, пересмотрена задним числом</a:t>
            </a:r>
            <a:endParaRPr lang="en-US" sz="863" dirty="0"/>
          </a:p>
        </p:txBody>
      </p:sp>
      <p:sp>
        <p:nvSpPr>
          <p:cNvPr id="9" name="Shape 9"/>
          <p:cNvSpPr/>
          <p:nvPr/>
        </p:nvSpPr>
        <p:spPr>
          <a:xfrm>
            <a:off x="4600575" y="706710"/>
            <a:ext cx="3971925" cy="947217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0" name="TextBox 10"/>
          <p:cNvSpPr/>
          <p:nvPr/>
        </p:nvSpPr>
        <p:spPr>
          <a:xfrm>
            <a:off x="4719638" y="958155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«25% покупателей платят в рассрочку»</a:t>
            </a:r>
            <a:endParaRPr lang="en-US" sz="825" dirty="0"/>
          </a:p>
        </p:txBody>
      </p:sp>
      <p:sp>
        <p:nvSpPr>
          <p:cNvPr id="11" name="TextBox 11"/>
          <p:cNvSpPr/>
          <p:nvPr/>
        </p:nvSpPr>
        <p:spPr>
          <a:xfrm>
            <a:off x="4719638" y="1117699"/>
            <a:ext cx="373380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Усреднение бессмысленно: доля колеблется от ~1% (чек до 15 тыс. ₽) до 35–42% (чек 120–200 тыс. ₽)</a:t>
            </a:r>
            <a:endParaRPr lang="en-US" sz="863" dirty="0"/>
          </a:p>
        </p:txBody>
      </p:sp>
      <p:sp>
        <p:nvSpPr>
          <p:cNvPr id="12" name="Shape 12"/>
          <p:cNvSpPr/>
          <p:nvPr/>
        </p:nvSpPr>
        <p:spPr>
          <a:xfrm>
            <a:off x="571500" y="1711077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3" name="TextBox 13"/>
          <p:cNvSpPr/>
          <p:nvPr/>
        </p:nvSpPr>
        <p:spPr>
          <a:xfrm>
            <a:off x="690563" y="1962596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«Одобрения рассрочек упали с 80% до 20%»</a:t>
            </a:r>
            <a:endParaRPr lang="en-US" sz="825" dirty="0"/>
          </a:p>
        </p:txBody>
      </p:sp>
      <p:sp>
        <p:nvSpPr>
          <p:cNvPr id="14" name="TextBox 14"/>
          <p:cNvSpPr/>
          <p:nvPr/>
        </p:nvSpPr>
        <p:spPr>
          <a:xfrm>
            <a:off x="690563" y="2122140"/>
            <a:ext cx="373380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Оценка единственного сервиса (Prodamus), а не статистика; направление подтверждается банковскими данными</a:t>
            </a:r>
            <a:endParaRPr lang="en-US" sz="863" dirty="0"/>
          </a:p>
        </p:txBody>
      </p:sp>
      <p:sp>
        <p:nvSpPr>
          <p:cNvPr id="15" name="Shape 15"/>
          <p:cNvSpPr/>
          <p:nvPr/>
        </p:nvSpPr>
        <p:spPr>
          <a:xfrm>
            <a:off x="4600575" y="1711077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16"/>
          <p:cNvSpPr/>
          <p:nvPr/>
        </p:nvSpPr>
        <p:spPr>
          <a:xfrm>
            <a:off x="4719638" y="1962596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«GeekBrains проиграл 155 судов из-за качества курсов»</a:t>
            </a:r>
            <a:endParaRPr lang="en-US" sz="825" dirty="0"/>
          </a:p>
        </p:txBody>
      </p:sp>
      <p:sp>
        <p:nvSpPr>
          <p:cNvPr id="17" name="TextBox 17"/>
          <p:cNvSpPr/>
          <p:nvPr/>
        </p:nvSpPr>
        <p:spPr>
          <a:xfrm>
            <a:off x="4719638" y="2122140"/>
            <a:ext cx="373380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действительности ~23,5 млн ₽ преимущественно досудебных выплат – из-за незаконных условий возврата, а не качества</a:t>
            </a:r>
            <a:endParaRPr lang="en-US" sz="863" dirty="0"/>
          </a:p>
        </p:txBody>
      </p:sp>
      <p:sp>
        <p:nvSpPr>
          <p:cNvPr id="18" name="Shape 18"/>
          <p:cNvSpPr/>
          <p:nvPr/>
        </p:nvSpPr>
        <p:spPr>
          <a:xfrm>
            <a:off x="571500" y="2715518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19"/>
          <p:cNvSpPr/>
          <p:nvPr/>
        </p:nvSpPr>
        <p:spPr>
          <a:xfrm>
            <a:off x="690563" y="3038177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«Штрафы за немаркированную рекламу – от 100 тыс. ₽»</a:t>
            </a:r>
            <a:endParaRPr lang="en-US" sz="825" dirty="0"/>
          </a:p>
        </p:txBody>
      </p:sp>
      <p:sp>
        <p:nvSpPr>
          <p:cNvPr id="20" name="TextBox 20"/>
          <p:cNvSpPr/>
          <p:nvPr/>
        </p:nvSpPr>
        <p:spPr>
          <a:xfrm>
            <a:off x="690563" y="3197721"/>
            <a:ext cx="4107180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юрлиц – от 200 до 500 тыс. ₽ (274-ФЗ)</a:t>
            </a:r>
            <a:endParaRPr lang="en-US" sz="863" dirty="0"/>
          </a:p>
        </p:txBody>
      </p:sp>
      <p:sp>
        <p:nvSpPr>
          <p:cNvPr id="21" name="Shape 21"/>
          <p:cNvSpPr/>
          <p:nvPr/>
        </p:nvSpPr>
        <p:spPr>
          <a:xfrm>
            <a:off x="4600575" y="2715518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2" name="TextBox 22"/>
          <p:cNvSpPr/>
          <p:nvPr/>
        </p:nvSpPr>
        <p:spPr>
          <a:xfrm>
            <a:off x="4719638" y="3038177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«Введена обязательная госаккредитация онлайн-школ»</a:t>
            </a:r>
            <a:endParaRPr lang="en-US" sz="825" dirty="0"/>
          </a:p>
        </p:txBody>
      </p:sp>
      <p:sp>
        <p:nvSpPr>
          <p:cNvPr id="23" name="TextBox 23"/>
          <p:cNvSpPr/>
          <p:nvPr/>
        </p:nvSpPr>
        <p:spPr>
          <a:xfrm>
            <a:off x="4719638" y="3197721"/>
            <a:ext cx="4107180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Первичными источниками не подтверждается</a:t>
            </a:r>
            <a:endParaRPr lang="en-US" sz="863" dirty="0"/>
          </a:p>
        </p:txBody>
      </p:sp>
      <p:sp>
        <p:nvSpPr>
          <p:cNvPr id="24" name="Shape 24"/>
          <p:cNvSpPr/>
          <p:nvPr/>
        </p:nvSpPr>
        <p:spPr>
          <a:xfrm>
            <a:off x="571500" y="3719959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5" name="TextBox 25"/>
          <p:cNvSpPr/>
          <p:nvPr/>
        </p:nvSpPr>
        <p:spPr>
          <a:xfrm>
            <a:off x="690563" y="4042618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«ДПО уйдёт в минус в 2026 году»</a:t>
            </a:r>
            <a:endParaRPr lang="en-US" sz="825" dirty="0"/>
          </a:p>
        </p:txBody>
      </p:sp>
      <p:sp>
        <p:nvSpPr>
          <p:cNvPr id="26" name="TextBox 26"/>
          <p:cNvSpPr/>
          <p:nvPr/>
        </p:nvSpPr>
        <p:spPr>
          <a:xfrm>
            <a:off x="690563" y="4202162"/>
            <a:ext cx="4107180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Опровергнуто фактом первого квартала: +1,4% год к году</a:t>
            </a:r>
            <a:endParaRPr lang="en-US" sz="863" dirty="0"/>
          </a:p>
        </p:txBody>
      </p:sp>
      <p:sp>
        <p:nvSpPr>
          <p:cNvPr id="27" name="Shape 27"/>
          <p:cNvSpPr/>
          <p:nvPr/>
        </p:nvSpPr>
        <p:spPr>
          <a:xfrm>
            <a:off x="4600575" y="3719959"/>
            <a:ext cx="3971925" cy="947291"/>
          </a:xfrm>
          <a:prstGeom prst="roundRect">
            <a:avLst>
              <a:gd name="adj" fmla="val 804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8" name="TextBox 28"/>
          <p:cNvSpPr/>
          <p:nvPr/>
        </p:nvSpPr>
        <p:spPr>
          <a:xfrm>
            <a:off x="4719638" y="3971479"/>
            <a:ext cx="4107180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b="1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Прогнозы EVOLYUT</a:t>
            </a:r>
            <a:endParaRPr lang="en-US" sz="825" dirty="0"/>
          </a:p>
        </p:txBody>
      </p:sp>
      <p:sp>
        <p:nvSpPr>
          <p:cNvPr id="29" name="TextBox 29"/>
          <p:cNvSpPr/>
          <p:nvPr/>
        </p:nvSpPr>
        <p:spPr>
          <a:xfrm>
            <a:off x="4719638" y="4131022"/>
            <a:ext cx="3733800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документ взята только вилка +10–15% на 2026 год; остальные цифры источника первоисточниками не подтверждаются</a:t>
            </a:r>
            <a:endParaRPr lang="en-US" sz="863" dirty="0"/>
          </a:p>
        </p:txBody>
      </p:sp>
      <p:sp>
        <p:nvSpPr>
          <p:cNvPr id="30" name="Shape 30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31" name="Picture 30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32" name="TextBox 31"/>
          <p:cNvSpPr/>
          <p:nvPr/>
        </p:nvSpPr>
        <p:spPr>
          <a:xfrm>
            <a:off x="571500" y="4814888"/>
            <a:ext cx="353820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Сводка проверки фактов – раздел 12 исходного документа</a:t>
            </a:r>
            <a:endParaRPr lang="en-US" sz="900" dirty="0"/>
          </a:p>
        </p:txBody>
      </p:sp>
      <p:sp>
        <p:nvSpPr>
          <p:cNvPr id="33" name="TextBox 32"/>
          <p:cNvSpPr/>
          <p:nvPr/>
        </p:nvSpPr>
        <p:spPr>
          <a:xfrm>
            <a:off x="7792789" y="4814888"/>
            <a:ext cx="85768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Б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В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3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Опорный ряд данных</a:t>
            </a:r>
            <a:endParaRPr lang="en-US" sz="1650" dirty="0"/>
          </a:p>
        </p:txBody>
      </p:sp>
      <p:sp>
        <p:nvSpPr>
          <p:cNvPr id="6" name="Shape 6"/>
          <p:cNvSpPr/>
          <p:nvPr/>
        </p:nvSpPr>
        <p:spPr>
          <a:xfrm>
            <a:off x="571500" y="706710"/>
            <a:ext cx="5648325" cy="3960540"/>
          </a:xfrm>
          <a:prstGeom prst="roundRect">
            <a:avLst>
              <a:gd name="adj" fmla="val 1924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7" name="Shape 7"/>
          <p:cNvSpPr/>
          <p:nvPr/>
        </p:nvSpPr>
        <p:spPr>
          <a:xfrm>
            <a:off x="576263" y="711473"/>
            <a:ext cx="5638800" cy="314325"/>
          </a:xfrm>
          <a:prstGeom prst="rect">
            <a:avLst/>
          </a:prstGeom>
          <a:noFill/>
          <a:ln/>
        </p:spPr>
      </p:sp>
      <p:pic>
        <p:nvPicPr>
          <p:cNvPr id="8" name="Picture 7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263" y="711473"/>
            <a:ext cx="5638800" cy="314325"/>
          </a:xfrm>
          <a:prstGeom prst="rect">
            <a:avLst/>
          </a:prstGeom>
        </p:spPr>
      </p:pic>
      <p:sp>
        <p:nvSpPr>
          <p:cNvPr id="9" name="TextBox 8"/>
          <p:cNvSpPr/>
          <p:nvPr/>
        </p:nvSpPr>
        <p:spPr>
          <a:xfrm>
            <a:off x="728663" y="787673"/>
            <a:ext cx="8905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ГОД</a:t>
            </a:r>
            <a:endParaRPr lang="en-US" sz="863" dirty="0"/>
          </a:p>
        </p:txBody>
      </p:sp>
      <p:sp>
        <p:nvSpPr>
          <p:cNvPr id="10" name="TextBox 9"/>
          <p:cNvSpPr/>
          <p:nvPr/>
        </p:nvSpPr>
        <p:spPr>
          <a:xfrm>
            <a:off x="1495426" y="787673"/>
            <a:ext cx="13096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ВЫРУЧКА ТОП-100</a:t>
            </a:r>
            <a:endParaRPr lang="en-US" sz="863" dirty="0"/>
          </a:p>
        </p:txBody>
      </p:sp>
      <p:sp>
        <p:nvSpPr>
          <p:cNvPr id="11" name="TextBox 10"/>
          <p:cNvSpPr/>
          <p:nvPr/>
        </p:nvSpPr>
        <p:spPr>
          <a:xfrm>
            <a:off x="2790826" y="787673"/>
            <a:ext cx="9953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</a:t>
            </a:r>
            <a:endParaRPr lang="en-US" sz="863" dirty="0"/>
          </a:p>
        </p:txBody>
      </p:sp>
      <p:sp>
        <p:nvSpPr>
          <p:cNvPr id="12" name="TextBox 11"/>
          <p:cNvSpPr/>
          <p:nvPr/>
        </p:nvSpPr>
        <p:spPr>
          <a:xfrm>
            <a:off x="3862387" y="787673"/>
            <a:ext cx="2420302" cy="152400"/>
          </a:xfrm>
          <a:prstGeom prst="rect">
            <a:avLst/>
          </a:prstGeom>
          <a:noFill/>
          <a:ln/>
        </p:spPr>
        <p:txBody>
          <a:bodyPr wrap="non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63" b="1" spc="38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КОНТЕКСТ</a:t>
            </a:r>
            <a:endParaRPr lang="en-US" sz="863" dirty="0"/>
          </a:p>
        </p:txBody>
      </p:sp>
      <p:sp>
        <p:nvSpPr>
          <p:cNvPr id="13" name="Shape 12"/>
          <p:cNvSpPr/>
          <p:nvPr/>
        </p:nvSpPr>
        <p:spPr>
          <a:xfrm>
            <a:off x="576263" y="1025798"/>
            <a:ext cx="5638800" cy="506834"/>
          </a:xfrm>
          <a:prstGeom prst="rect">
            <a:avLst/>
          </a:prstGeom>
          <a:noFill/>
          <a:ln/>
        </p:spPr>
      </p:sp>
      <p:pic>
        <p:nvPicPr>
          <p:cNvPr id="14" name="Picture 12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63" y="1025798"/>
            <a:ext cx="5638800" cy="506834"/>
          </a:xfrm>
          <a:prstGeom prst="rect">
            <a:avLst/>
          </a:prstGeom>
        </p:spPr>
      </p:pic>
      <p:sp>
        <p:nvSpPr>
          <p:cNvPr id="15" name="TextBox 13"/>
          <p:cNvSpPr/>
          <p:nvPr/>
        </p:nvSpPr>
        <p:spPr>
          <a:xfrm>
            <a:off x="728663" y="1191071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2020</a:t>
            </a:r>
            <a:endParaRPr lang="en-US" sz="975" dirty="0"/>
          </a:p>
        </p:txBody>
      </p:sp>
      <p:sp>
        <p:nvSpPr>
          <p:cNvPr id="16" name="TextBox 14"/>
          <p:cNvSpPr/>
          <p:nvPr/>
        </p:nvSpPr>
        <p:spPr>
          <a:xfrm>
            <a:off x="1495426" y="1191071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~43 млрд ₽</a:t>
            </a:r>
            <a:endParaRPr lang="en-US" sz="975" dirty="0"/>
          </a:p>
        </p:txBody>
      </p:sp>
      <p:sp>
        <p:nvSpPr>
          <p:cNvPr id="17" name="TextBox 15"/>
          <p:cNvSpPr/>
          <p:nvPr/>
        </p:nvSpPr>
        <p:spPr>
          <a:xfrm>
            <a:off x="2790826" y="1191071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–</a:t>
            </a:r>
            <a:endParaRPr lang="en-US" sz="975" dirty="0"/>
          </a:p>
        </p:txBody>
      </p:sp>
      <p:sp>
        <p:nvSpPr>
          <p:cNvPr id="18" name="TextBox 16"/>
          <p:cNvSpPr/>
          <p:nvPr/>
        </p:nvSpPr>
        <p:spPr>
          <a:xfrm>
            <a:off x="3862387" y="1119634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Пандемия загоняет обучение в онлайн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263" y="1532632"/>
            <a:ext cx="5638800" cy="506909"/>
          </a:xfrm>
          <a:prstGeom prst="rect">
            <a:avLst/>
          </a:prstGeom>
          <a:noFill/>
          <a:ln/>
        </p:spPr>
      </p:sp>
      <p:pic>
        <p:nvPicPr>
          <p:cNvPr id="20" name="Picture 17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263" y="1532632"/>
            <a:ext cx="5638800" cy="506909"/>
          </a:xfrm>
          <a:prstGeom prst="rect">
            <a:avLst/>
          </a:prstGeom>
        </p:spPr>
      </p:pic>
      <p:sp>
        <p:nvSpPr>
          <p:cNvPr id="21" name="TextBox 18"/>
          <p:cNvSpPr/>
          <p:nvPr/>
        </p:nvSpPr>
        <p:spPr>
          <a:xfrm>
            <a:off x="728663" y="1697980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2021</a:t>
            </a:r>
            <a:endParaRPr lang="en-US" sz="975" dirty="0"/>
          </a:p>
        </p:txBody>
      </p:sp>
      <p:sp>
        <p:nvSpPr>
          <p:cNvPr id="22" name="TextBox 19"/>
          <p:cNvSpPr/>
          <p:nvPr/>
        </p:nvSpPr>
        <p:spPr>
          <a:xfrm>
            <a:off x="1495426" y="1697980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73 млрд ₽</a:t>
            </a:r>
            <a:endParaRPr lang="en-US" sz="975" dirty="0"/>
          </a:p>
        </p:txBody>
      </p:sp>
      <p:sp>
        <p:nvSpPr>
          <p:cNvPr id="23" name="TextBox 20"/>
          <p:cNvSpPr/>
          <p:nvPr/>
        </p:nvSpPr>
        <p:spPr>
          <a:xfrm>
            <a:off x="2790826" y="1697980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+70%</a:t>
            </a:r>
            <a:endParaRPr lang="en-US" sz="975" dirty="0"/>
          </a:p>
        </p:txBody>
      </p:sp>
      <p:sp>
        <p:nvSpPr>
          <p:cNvPr id="24" name="TextBox 21"/>
          <p:cNvSpPr/>
          <p:nvPr/>
        </p:nvSpPr>
        <p:spPr>
          <a:xfrm>
            <a:off x="3862387" y="1626543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Пик бума; венчурные вложения ~14 млрд ₽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76263" y="2039541"/>
            <a:ext cx="5638800" cy="600075"/>
          </a:xfrm>
          <a:prstGeom prst="rect">
            <a:avLst/>
          </a:prstGeom>
          <a:noFill/>
          <a:ln/>
        </p:spPr>
      </p:sp>
      <p:pic>
        <p:nvPicPr>
          <p:cNvPr id="26" name="Picture 22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263" y="2039541"/>
            <a:ext cx="5638800" cy="600075"/>
          </a:xfrm>
          <a:prstGeom prst="rect">
            <a:avLst/>
          </a:prstGeom>
        </p:spPr>
      </p:pic>
      <p:sp>
        <p:nvSpPr>
          <p:cNvPr id="27" name="TextBox 23"/>
          <p:cNvSpPr/>
          <p:nvPr/>
        </p:nvSpPr>
        <p:spPr>
          <a:xfrm>
            <a:off x="728663" y="2251472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2022</a:t>
            </a:r>
            <a:endParaRPr lang="en-US" sz="975" dirty="0"/>
          </a:p>
        </p:txBody>
      </p:sp>
      <p:sp>
        <p:nvSpPr>
          <p:cNvPr id="28" name="TextBox 24"/>
          <p:cNvSpPr/>
          <p:nvPr/>
        </p:nvSpPr>
        <p:spPr>
          <a:xfrm>
            <a:off x="1495426" y="2251472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87 млрд ₽</a:t>
            </a:r>
            <a:endParaRPr lang="en-US" sz="975" dirty="0"/>
          </a:p>
        </p:txBody>
      </p:sp>
      <p:sp>
        <p:nvSpPr>
          <p:cNvPr id="29" name="TextBox 25"/>
          <p:cNvSpPr/>
          <p:nvPr/>
        </p:nvSpPr>
        <p:spPr>
          <a:xfrm>
            <a:off x="2790826" y="2251472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+18%</a:t>
            </a:r>
            <a:endParaRPr lang="en-US" sz="975" dirty="0"/>
          </a:p>
        </p:txBody>
      </p:sp>
      <p:sp>
        <p:nvSpPr>
          <p:cNvPr id="30" name="TextBox 26"/>
          <p:cNvSpPr/>
          <p:nvPr/>
        </p:nvSpPr>
        <p:spPr>
          <a:xfrm>
            <a:off x="3862387" y="2101453"/>
            <a:ext cx="2200275" cy="471488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Февральский шок: продажи проседают на 20–50%, уходят рекламные платформы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76263" y="2639616"/>
            <a:ext cx="5638800" cy="506909"/>
          </a:xfrm>
          <a:prstGeom prst="rect">
            <a:avLst/>
          </a:prstGeom>
          <a:noFill/>
          <a:ln/>
        </p:spPr>
      </p:sp>
      <p:pic>
        <p:nvPicPr>
          <p:cNvPr id="32" name="Picture 2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263" y="2639616"/>
            <a:ext cx="5638800" cy="506909"/>
          </a:xfrm>
          <a:prstGeom prst="rect">
            <a:avLst/>
          </a:prstGeom>
        </p:spPr>
      </p:pic>
      <p:sp>
        <p:nvSpPr>
          <p:cNvPr id="33" name="TextBox 28"/>
          <p:cNvSpPr/>
          <p:nvPr/>
        </p:nvSpPr>
        <p:spPr>
          <a:xfrm>
            <a:off x="728663" y="2804964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2023</a:t>
            </a:r>
            <a:endParaRPr lang="en-US" sz="975" dirty="0"/>
          </a:p>
        </p:txBody>
      </p:sp>
      <p:sp>
        <p:nvSpPr>
          <p:cNvPr id="34" name="TextBox 29"/>
          <p:cNvSpPr/>
          <p:nvPr/>
        </p:nvSpPr>
        <p:spPr>
          <a:xfrm>
            <a:off x="1495426" y="2804964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118–119 млрд ₽</a:t>
            </a:r>
            <a:endParaRPr lang="en-US" sz="975" dirty="0"/>
          </a:p>
        </p:txBody>
      </p:sp>
      <p:sp>
        <p:nvSpPr>
          <p:cNvPr id="35" name="TextBox 30"/>
          <p:cNvSpPr/>
          <p:nvPr/>
        </p:nvSpPr>
        <p:spPr>
          <a:xfrm>
            <a:off x="2790826" y="2804964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+31–32%</a:t>
            </a:r>
            <a:endParaRPr lang="en-US" sz="975" dirty="0"/>
          </a:p>
        </p:txBody>
      </p:sp>
      <p:sp>
        <p:nvSpPr>
          <p:cNvPr id="36" name="TextBox 31"/>
          <p:cNvSpPr/>
          <p:nvPr/>
        </p:nvSpPr>
        <p:spPr>
          <a:xfrm>
            <a:off x="3862387" y="2733526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Восстановление на волне смены профессий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576263" y="3146524"/>
            <a:ext cx="5638800" cy="506909"/>
          </a:xfrm>
          <a:prstGeom prst="rect">
            <a:avLst/>
          </a:prstGeom>
          <a:noFill/>
          <a:ln/>
        </p:spPr>
      </p:sp>
      <p:pic>
        <p:nvPicPr>
          <p:cNvPr id="38" name="Picture 32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263" y="3146524"/>
            <a:ext cx="5638800" cy="506909"/>
          </a:xfrm>
          <a:prstGeom prst="rect">
            <a:avLst/>
          </a:prstGeom>
        </p:spPr>
      </p:pic>
      <p:sp>
        <p:nvSpPr>
          <p:cNvPr id="39" name="TextBox 33"/>
          <p:cNvSpPr/>
          <p:nvPr/>
        </p:nvSpPr>
        <p:spPr>
          <a:xfrm>
            <a:off x="728663" y="3311872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</a:t>
            </a:r>
            <a:endParaRPr lang="en-US" sz="975" dirty="0"/>
          </a:p>
        </p:txBody>
      </p:sp>
      <p:sp>
        <p:nvSpPr>
          <p:cNvPr id="40" name="TextBox 34"/>
          <p:cNvSpPr/>
          <p:nvPr/>
        </p:nvSpPr>
        <p:spPr>
          <a:xfrm>
            <a:off x="1495426" y="3311872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144,5 млрд ₽</a:t>
            </a:r>
            <a:endParaRPr lang="en-US" sz="975" dirty="0"/>
          </a:p>
        </p:txBody>
      </p:sp>
      <p:sp>
        <p:nvSpPr>
          <p:cNvPr id="41" name="TextBox 35"/>
          <p:cNvSpPr/>
          <p:nvPr/>
        </p:nvSpPr>
        <p:spPr>
          <a:xfrm>
            <a:off x="2790826" y="3311872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+19%</a:t>
            </a:r>
            <a:endParaRPr lang="en-US" sz="975" dirty="0"/>
          </a:p>
        </p:txBody>
      </p:sp>
      <p:sp>
        <p:nvSpPr>
          <p:cNvPr id="42" name="TextBox 36"/>
          <p:cNvSpPr/>
          <p:nvPr/>
        </p:nvSpPr>
        <p:spPr>
          <a:xfrm>
            <a:off x="3862387" y="3240435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Торможение; ставка бьёт по рассрочкам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76263" y="3653433"/>
            <a:ext cx="5638800" cy="506909"/>
          </a:xfrm>
          <a:prstGeom prst="rect">
            <a:avLst/>
          </a:prstGeom>
          <a:noFill/>
          <a:ln/>
        </p:spPr>
      </p:sp>
      <p:pic>
        <p:nvPicPr>
          <p:cNvPr id="44" name="Picture 37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263" y="3653433"/>
            <a:ext cx="5638800" cy="506909"/>
          </a:xfrm>
          <a:prstGeom prst="rect">
            <a:avLst/>
          </a:prstGeom>
        </p:spPr>
      </p:pic>
      <p:sp>
        <p:nvSpPr>
          <p:cNvPr id="45" name="TextBox 38"/>
          <p:cNvSpPr/>
          <p:nvPr/>
        </p:nvSpPr>
        <p:spPr>
          <a:xfrm>
            <a:off x="728663" y="3818781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</a:t>
            </a:r>
            <a:endParaRPr lang="en-US" sz="975" dirty="0"/>
          </a:p>
        </p:txBody>
      </p:sp>
      <p:sp>
        <p:nvSpPr>
          <p:cNvPr id="46" name="TextBox 39"/>
          <p:cNvSpPr/>
          <p:nvPr/>
        </p:nvSpPr>
        <p:spPr>
          <a:xfrm>
            <a:off x="1495426" y="3818781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154 млрд ₽</a:t>
            </a:r>
            <a:endParaRPr lang="en-US" sz="975" dirty="0"/>
          </a:p>
        </p:txBody>
      </p:sp>
      <p:sp>
        <p:nvSpPr>
          <p:cNvPr id="47" name="TextBox 40"/>
          <p:cNvSpPr/>
          <p:nvPr/>
        </p:nvSpPr>
        <p:spPr>
          <a:xfrm>
            <a:off x="2790826" y="3818781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~+12%*</a:t>
            </a:r>
            <a:endParaRPr lang="en-US" sz="975" dirty="0"/>
          </a:p>
        </p:txBody>
      </p:sp>
      <p:sp>
        <p:nvSpPr>
          <p:cNvPr id="48" name="TextBox 41"/>
          <p:cNvSpPr/>
          <p:nvPr/>
        </p:nvSpPr>
        <p:spPr>
          <a:xfrm>
            <a:off x="3862387" y="3747343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Стагнация; поквартально +16 → +10 → +12 → +10%</a:t>
            </a:r>
            <a:endParaRPr lang="en-US" sz="900" dirty="0"/>
          </a:p>
        </p:txBody>
      </p:sp>
      <p:sp>
        <p:nvSpPr>
          <p:cNvPr id="49" name="TextBox 43"/>
          <p:cNvSpPr/>
          <p:nvPr/>
        </p:nvSpPr>
        <p:spPr>
          <a:xfrm>
            <a:off x="728663" y="4325689"/>
            <a:ext cx="8905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кв. 2026</a:t>
            </a:r>
            <a:endParaRPr lang="en-US" sz="975" dirty="0"/>
          </a:p>
        </p:txBody>
      </p:sp>
      <p:sp>
        <p:nvSpPr>
          <p:cNvPr id="50" name="TextBox 44"/>
          <p:cNvSpPr/>
          <p:nvPr/>
        </p:nvSpPr>
        <p:spPr>
          <a:xfrm>
            <a:off x="1495426" y="4325689"/>
            <a:ext cx="13096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39,1 млрд ₽</a:t>
            </a:r>
            <a:endParaRPr lang="en-US" sz="975" dirty="0"/>
          </a:p>
        </p:txBody>
      </p:sp>
      <p:sp>
        <p:nvSpPr>
          <p:cNvPr id="51" name="TextBox 45"/>
          <p:cNvSpPr/>
          <p:nvPr/>
        </p:nvSpPr>
        <p:spPr>
          <a:xfrm>
            <a:off x="2790826" y="4325689"/>
            <a:ext cx="995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+10,2%</a:t>
            </a:r>
            <a:endParaRPr lang="en-US" sz="975" dirty="0"/>
          </a:p>
        </p:txBody>
      </p:sp>
      <p:sp>
        <p:nvSpPr>
          <p:cNvPr id="52" name="TextBox 46"/>
          <p:cNvSpPr/>
          <p:nvPr/>
        </p:nvSpPr>
        <p:spPr>
          <a:xfrm>
            <a:off x="3862387" y="4254252"/>
            <a:ext cx="2200275" cy="31432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«Перестройка»: выросли 60 компаний из 100</a:t>
            </a:r>
            <a:endParaRPr lang="en-US" sz="900" dirty="0"/>
          </a:p>
        </p:txBody>
      </p:sp>
      <p:sp>
        <p:nvSpPr>
          <p:cNvPr id="53" name="TextBox 48"/>
          <p:cNvSpPr/>
          <p:nvPr/>
        </p:nvSpPr>
        <p:spPr>
          <a:xfrm>
            <a:off x="6334125" y="706710"/>
            <a:ext cx="2238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Один 2025 год – четырьмя методиками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6334125" y="1087710"/>
            <a:ext cx="2238375" cy="376238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55" name="TextBox 50"/>
          <p:cNvSpPr/>
          <p:nvPr/>
        </p:nvSpPr>
        <p:spPr>
          <a:xfrm>
            <a:off x="6462713" y="1202010"/>
            <a:ext cx="144818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Ranking, топ-100</a:t>
            </a:r>
            <a:endParaRPr lang="en-US" sz="938" dirty="0"/>
          </a:p>
        </p:txBody>
      </p:sp>
      <p:sp>
        <p:nvSpPr>
          <p:cNvPr id="56" name="TextBox 51"/>
          <p:cNvSpPr/>
          <p:nvPr/>
        </p:nvSpPr>
        <p:spPr>
          <a:xfrm>
            <a:off x="8206978" y="1178198"/>
            <a:ext cx="29693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154</a:t>
            </a:r>
            <a:endParaRPr lang="en-US" sz="1125" dirty="0"/>
          </a:p>
        </p:txBody>
      </p:sp>
      <p:sp>
        <p:nvSpPr>
          <p:cNvPr id="57" name="Shape 52"/>
          <p:cNvSpPr/>
          <p:nvPr/>
        </p:nvSpPr>
        <p:spPr>
          <a:xfrm>
            <a:off x="6334125" y="1530623"/>
            <a:ext cx="2238375" cy="376238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58" name="TextBox 53"/>
          <p:cNvSpPr/>
          <p:nvPr/>
        </p:nvSpPr>
        <p:spPr>
          <a:xfrm>
            <a:off x="6462713" y="1644923"/>
            <a:ext cx="126630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BusinesStat, EdTech</a:t>
            </a:r>
            <a:endParaRPr lang="en-US" sz="938" dirty="0"/>
          </a:p>
        </p:txBody>
      </p:sp>
      <p:sp>
        <p:nvSpPr>
          <p:cNvPr id="59" name="TextBox 54"/>
          <p:cNvSpPr/>
          <p:nvPr/>
        </p:nvSpPr>
        <p:spPr>
          <a:xfrm>
            <a:off x="8201248" y="1621110"/>
            <a:ext cx="30266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166</a:t>
            </a:r>
            <a:endParaRPr lang="en-US" sz="1125" dirty="0"/>
          </a:p>
        </p:txBody>
      </p:sp>
      <p:sp>
        <p:nvSpPr>
          <p:cNvPr id="60" name="Shape 55"/>
          <p:cNvSpPr/>
          <p:nvPr/>
        </p:nvSpPr>
        <p:spPr>
          <a:xfrm>
            <a:off x="6334125" y="1973535"/>
            <a:ext cx="2238375" cy="376238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61" name="TextBox 56"/>
          <p:cNvSpPr/>
          <p:nvPr/>
        </p:nvSpPr>
        <p:spPr>
          <a:xfrm>
            <a:off x="6462713" y="2087835"/>
            <a:ext cx="18973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GetCourse, школы платформы</a:t>
            </a:r>
            <a:endParaRPr lang="en-US" sz="938" dirty="0"/>
          </a:p>
        </p:txBody>
      </p:sp>
      <p:sp>
        <p:nvSpPr>
          <p:cNvPr id="62" name="TextBox 57"/>
          <p:cNvSpPr/>
          <p:nvPr/>
        </p:nvSpPr>
        <p:spPr>
          <a:xfrm>
            <a:off x="8205862" y="2064023"/>
            <a:ext cx="29805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158</a:t>
            </a:r>
            <a:endParaRPr lang="en-US" sz="1125" dirty="0"/>
          </a:p>
        </p:txBody>
      </p:sp>
      <p:sp>
        <p:nvSpPr>
          <p:cNvPr id="63" name="Shape 58"/>
          <p:cNvSpPr/>
          <p:nvPr/>
        </p:nvSpPr>
        <p:spPr>
          <a:xfrm>
            <a:off x="6334125" y="2416448"/>
            <a:ext cx="2238375" cy="538163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64" name="TextBox 59"/>
          <p:cNvSpPr/>
          <p:nvPr/>
        </p:nvSpPr>
        <p:spPr>
          <a:xfrm>
            <a:off x="6462713" y="2530748"/>
            <a:ext cx="174557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5C64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Росстат/ВШЭ, вся платная сфера</a:t>
            </a:r>
            <a:endParaRPr lang="en-US" sz="938" dirty="0"/>
          </a:p>
        </p:txBody>
      </p:sp>
      <p:sp>
        <p:nvSpPr>
          <p:cNvPr id="65" name="TextBox 60"/>
          <p:cNvSpPr/>
          <p:nvPr/>
        </p:nvSpPr>
        <p:spPr>
          <a:xfrm>
            <a:off x="8078986" y="2506935"/>
            <a:ext cx="42492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1 290</a:t>
            </a:r>
            <a:endParaRPr lang="en-US" sz="1125" dirty="0"/>
          </a:p>
        </p:txBody>
      </p:sp>
      <p:sp>
        <p:nvSpPr>
          <p:cNvPr id="66" name="TextBox 61"/>
          <p:cNvSpPr/>
          <p:nvPr/>
        </p:nvSpPr>
        <p:spPr>
          <a:xfrm>
            <a:off x="6334125" y="3021285"/>
            <a:ext cx="22383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млрд ₽ · методики измеряют разные периметры и несравнимы между собой напрямую</a:t>
            </a:r>
            <a:endParaRPr lang="en-US" sz="900" dirty="0"/>
          </a:p>
        </p:txBody>
      </p:sp>
      <p:sp>
        <p:nvSpPr>
          <p:cNvPr id="67" name="Shape 62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68" name="Picture 62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69" name="TextBox 63"/>
          <p:cNvSpPr/>
          <p:nvPr/>
        </p:nvSpPr>
        <p:spPr>
          <a:xfrm>
            <a:off x="571500" y="4814888"/>
            <a:ext cx="456213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Ranking, 2020–2026 · *об арифметике пары 154 и 144,5 – приложение Б</a:t>
            </a:r>
            <a:endParaRPr lang="en-US" sz="900" dirty="0"/>
          </a:p>
        </p:txBody>
      </p:sp>
      <p:sp>
        <p:nvSpPr>
          <p:cNvPr id="70" name="TextBox 64"/>
          <p:cNvSpPr/>
          <p:nvPr/>
        </p:nvSpPr>
        <p:spPr>
          <a:xfrm>
            <a:off x="7791822" y="4814888"/>
            <a:ext cx="85874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В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4" name="TextBox 3"/>
          <p:cNvSpPr/>
          <p:nvPr/>
        </p:nvSpPr>
        <p:spPr>
          <a:xfrm>
            <a:off x="571500" y="247650"/>
            <a:ext cx="8801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25" b="1" spc="150" kern="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Г</a:t>
            </a:r>
            <a:endParaRPr lang="en-US" sz="825" dirty="0"/>
          </a:p>
        </p:txBody>
      </p:sp>
      <p:sp>
        <p:nvSpPr>
          <p:cNvPr id="5" name="TextBox 4"/>
          <p:cNvSpPr/>
          <p:nvPr/>
        </p:nvSpPr>
        <p:spPr>
          <a:xfrm>
            <a:off x="571500" y="390525"/>
            <a:ext cx="8801100" cy="23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2024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Источники</a:t>
            </a:r>
            <a:endParaRPr lang="en-US" sz="1650" dirty="0"/>
          </a:p>
        </p:txBody>
      </p:sp>
      <p:sp>
        <p:nvSpPr>
          <p:cNvPr id="6" name="Shape 6"/>
          <p:cNvSpPr/>
          <p:nvPr/>
        </p:nvSpPr>
        <p:spPr>
          <a:xfrm>
            <a:off x="571500" y="706710"/>
            <a:ext cx="3962400" cy="1269355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7" name="TextBox 7"/>
          <p:cNvSpPr/>
          <p:nvPr/>
        </p:nvSpPr>
        <p:spPr>
          <a:xfrm>
            <a:off x="700088" y="787673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 и рейтинги</a:t>
            </a:r>
            <a:endParaRPr lang="en-US" sz="900" dirty="0"/>
          </a:p>
        </p:txBody>
      </p:sp>
      <p:sp>
        <p:nvSpPr>
          <p:cNvPr id="8" name="TextBox 8"/>
          <p:cNvSpPr/>
          <p:nvPr/>
        </p:nvSpPr>
        <p:spPr>
          <a:xfrm>
            <a:off x="700088" y="973410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Ranking / edtechs.ru (годовые и квартальные отчёты топ-100, 2022–2026) · «Коммерсантъ» · Forbes · Интерфакс · «Ведомости» · РБК Тренды · BusinesStat · TAdviser · ВШЭ</a:t>
            </a:r>
            <a:endParaRPr lang="en-US" sz="863" dirty="0"/>
          </a:p>
        </p:txBody>
      </p:sp>
      <p:sp>
        <p:nvSpPr>
          <p:cNvPr id="9" name="Shape 9"/>
          <p:cNvSpPr/>
          <p:nvPr/>
        </p:nvSpPr>
        <p:spPr>
          <a:xfrm>
            <a:off x="4610100" y="706710"/>
            <a:ext cx="3962400" cy="1269355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0" name="TextBox 10"/>
          <p:cNvSpPr/>
          <p:nvPr/>
        </p:nvSpPr>
        <p:spPr>
          <a:xfrm>
            <a:off x="4738687" y="787673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Сегменты</a:t>
            </a:r>
            <a:endParaRPr lang="en-US" sz="900" dirty="0"/>
          </a:p>
        </p:txBody>
      </p:sp>
      <p:sp>
        <p:nvSpPr>
          <p:cNvPr id="11" name="TextBox 11"/>
          <p:cNvSpPr/>
          <p:nvPr/>
        </p:nvSpPr>
        <p:spPr>
          <a:xfrm>
            <a:off x="4738687" y="973410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ComNews · отчёты Smart Ranking по экзаменационной подготовке · ежегодный опрос учащихся «Нетологии» (2025) · РБК Тренды (корпоративное обучение, онлайн-высшее, СОВО)</a:t>
            </a:r>
            <a:endParaRPr lang="en-US" sz="863" dirty="0"/>
          </a:p>
        </p:txBody>
      </p:sp>
      <p:sp>
        <p:nvSpPr>
          <p:cNvPr id="12" name="Shape 12"/>
          <p:cNvSpPr/>
          <p:nvPr/>
        </p:nvSpPr>
        <p:spPr>
          <a:xfrm>
            <a:off x="571500" y="2052265"/>
            <a:ext cx="3962400" cy="1269355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3" name="TextBox 13"/>
          <p:cNvSpPr/>
          <p:nvPr/>
        </p:nvSpPr>
        <p:spPr>
          <a:xfrm>
            <a:off x="700088" y="2133228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Игроки и сделки</a:t>
            </a:r>
            <a:endParaRPr lang="en-US" sz="900" dirty="0"/>
          </a:p>
        </p:txBody>
      </p:sp>
      <p:sp>
        <p:nvSpPr>
          <p:cNvPr id="14" name="TextBox 14"/>
          <p:cNvSpPr/>
          <p:nvPr/>
        </p:nvSpPr>
        <p:spPr>
          <a:xfrm>
            <a:off x="700088" y="2318965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Skillbox Media · Sostav · Forbes (сделка Сбера, перерегистрация Skillbox) · «Коммерсантъ» · TAdviser (отчётность) · Интерфакс (сегмент VK) · RTVI (Like Center)</a:t>
            </a:r>
            <a:endParaRPr lang="en-US" sz="863" dirty="0"/>
          </a:p>
        </p:txBody>
      </p:sp>
      <p:sp>
        <p:nvSpPr>
          <p:cNvPr id="15" name="Shape 15"/>
          <p:cNvSpPr/>
          <p:nvPr/>
        </p:nvSpPr>
        <p:spPr>
          <a:xfrm>
            <a:off x="4610100" y="2052265"/>
            <a:ext cx="3962400" cy="1269355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6" name="TextBox 16"/>
          <p:cNvSpPr/>
          <p:nvPr/>
        </p:nvSpPr>
        <p:spPr>
          <a:xfrm>
            <a:off x="4738687" y="2133228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Покупатель</a:t>
            </a:r>
            <a:endParaRPr lang="en-US" sz="900" dirty="0"/>
          </a:p>
        </p:txBody>
      </p:sp>
      <p:sp>
        <p:nvSpPr>
          <p:cNvPr id="17" name="TextBox 17"/>
          <p:cNvSpPr/>
          <p:nvPr/>
        </p:nvSpPr>
        <p:spPr>
          <a:xfrm>
            <a:off x="4738687" y="2318965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«Коммерсантъ» (рассрочки: Центральный университет / Т-Данные) · Smart Ranking и GetCourse (повторные покупки, чеки) · РАПСИ, Право.ру (определение ВС 4-КГ24-57-К1) · Sostav</a:t>
            </a:r>
            <a:endParaRPr lang="en-US" sz="863" dirty="0"/>
          </a:p>
        </p:txBody>
      </p:sp>
      <p:sp>
        <p:nvSpPr>
          <p:cNvPr id="18" name="Shape 18"/>
          <p:cNvSpPr/>
          <p:nvPr/>
        </p:nvSpPr>
        <p:spPr>
          <a:xfrm>
            <a:off x="571500" y="3397821"/>
            <a:ext cx="3962400" cy="1269429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19" name="TextBox 19"/>
          <p:cNvSpPr/>
          <p:nvPr/>
        </p:nvSpPr>
        <p:spPr>
          <a:xfrm>
            <a:off x="700088" y="3478783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Регулирование</a:t>
            </a:r>
            <a:endParaRPr lang="en-US" sz="900" dirty="0"/>
          </a:p>
        </p:txBody>
      </p:sp>
      <p:sp>
        <p:nvSpPr>
          <p:cNvPr id="20" name="TextBox 20"/>
          <p:cNvSpPr/>
          <p:nvPr/>
        </p:nvSpPr>
        <p:spPr>
          <a:xfrm>
            <a:off x="700088" y="3664521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Тексты 274-ФЗ, 303-ФЗ, 416-ФЗ, 479-ФЗ, 72-ФЗ, 114-ФЗ, 283-ФЗ (pravo.gov.ru, КонсультантПлюс, Гарант) · «Ведомости» · Интерфакс, РАПСИ, ТАСС (приговоры) · законопроект № 884102-8</a:t>
            </a:r>
            <a:endParaRPr lang="en-US" sz="863" dirty="0"/>
          </a:p>
        </p:txBody>
      </p:sp>
      <p:sp>
        <p:nvSpPr>
          <p:cNvPr id="21" name="Shape 21"/>
          <p:cNvSpPr/>
          <p:nvPr/>
        </p:nvSpPr>
        <p:spPr>
          <a:xfrm>
            <a:off x="4610100" y="3397821"/>
            <a:ext cx="3962400" cy="1269429"/>
          </a:xfrm>
          <a:prstGeom prst="roundRect">
            <a:avLst>
              <a:gd name="adj" fmla="val 6003"/>
            </a:avLst>
          </a:prstGeom>
          <a:solidFill>
            <a:srgbClr val="FFFFFF"/>
          </a:solidFill>
          <a:ln w="4763">
            <a:solidFill>
              <a:srgbClr val="E2E5E8"/>
            </a:solidFill>
            <a:prstDash val="solid"/>
          </a:ln>
        </p:spPr>
      </p:sp>
      <p:sp>
        <p:nvSpPr>
          <p:cNvPr id="22" name="TextBox 22"/>
          <p:cNvSpPr/>
          <p:nvPr/>
        </p:nvSpPr>
        <p:spPr>
          <a:xfrm>
            <a:off x="4738687" y="3478783"/>
            <a:ext cx="4075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9A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Прогнозы и макро</a:t>
            </a:r>
            <a:endParaRPr lang="en-US" sz="900" dirty="0"/>
          </a:p>
        </p:txBody>
      </p:sp>
      <p:sp>
        <p:nvSpPr>
          <p:cNvPr id="23" name="TextBox 23"/>
          <p:cNvSpPr/>
          <p:nvPr/>
        </p:nvSpPr>
        <p:spPr>
          <a:xfrm>
            <a:off x="4738687" y="3664521"/>
            <a:ext cx="37052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3D44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Панель руководителей edtechs.ru (январь 2026) · Smart Ranking об инвестициях · опрос РБК/GetCourse · vc.ru (EVOLYUT, с оговорками приложения Б) · HolonIQ · Банк России (19.06.2026) · Росстат</a:t>
            </a:r>
            <a:endParaRPr lang="en-US" sz="863" dirty="0"/>
          </a:p>
        </p:txBody>
      </p:sp>
      <p:sp>
        <p:nvSpPr>
          <p:cNvPr id="24" name="Shape 24"/>
          <p:cNvSpPr/>
          <p:nvPr/>
        </p:nvSpPr>
        <p:spPr>
          <a:xfrm>
            <a:off x="571500" y="4752975"/>
            <a:ext cx="8001000" cy="219075"/>
          </a:xfrm>
          <a:prstGeom prst="rect">
            <a:avLst/>
          </a:prstGeom>
          <a:noFill/>
          <a:ln/>
        </p:spPr>
      </p:sp>
      <p:pic>
        <p:nvPicPr>
          <p:cNvPr id="25" name="Picture 2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4752975"/>
            <a:ext cx="8001000" cy="219075"/>
          </a:xfrm>
          <a:prstGeom prst="rect">
            <a:avLst/>
          </a:prstGeom>
        </p:spPr>
      </p:pic>
      <p:sp>
        <p:nvSpPr>
          <p:cNvPr id="26" name="TextBox 25"/>
          <p:cNvSpPr/>
          <p:nvPr/>
        </p:nvSpPr>
        <p:spPr>
          <a:xfrm>
            <a:off x="571500" y="4814888"/>
            <a:ext cx="568865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Документ подготовлен в июле 2026 года; прогнозы подлежат пересмотру при изменении макроусловий</a:t>
            </a:r>
            <a:endParaRPr lang="en-US" sz="900" dirty="0"/>
          </a:p>
        </p:txBody>
      </p:sp>
      <p:sp>
        <p:nvSpPr>
          <p:cNvPr id="27" name="TextBox 26"/>
          <p:cNvSpPr/>
          <p:nvPr/>
        </p:nvSpPr>
        <p:spPr>
          <a:xfrm>
            <a:off x="7801273" y="4814888"/>
            <a:ext cx="84834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B94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Г</a:t>
            </a:r>
            <a:endParaRPr lang="en-US" sz="900" dirty="0"/>
          </a:p>
        </p:txBody>
      </p:sp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 accel="20000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 accel="20000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accel="20000" decel="6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Рынок онлайн-образования России 2022–2026</dc:title>
  <dc:subject>PptxGenJS Presentation</dc:subject>
  <dc:creator/>
  <cp:lastModifiedBy/>
  <cp:revision>1</cp:revision>
  <dcterms:created xsi:type="dcterms:W3CDTF">2026-07-25T18:58:08Z</dcterms:created>
  <dcterms:modified xsi:type="dcterms:W3CDTF">2026-07-25T18:58:08Z</dcterms:modified>
</cp:coreProperties>
</file>