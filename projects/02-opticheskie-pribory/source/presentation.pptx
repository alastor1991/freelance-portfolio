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media/image12.emf" ContentType="image/x-emf"/>
  <Override PartName="/ppt/media/image11.emf" ContentType="image/x-emf"/>
  <Override PartName="/ppt/media/image9.emf" ContentType="image/x-emf"/>
  <Override PartName="/ppt/media/image20.emf" ContentType="image/x-emf"/>
  <Override PartName="/ppt/media/image14.emf" ContentType="image/x-emf"/>
  <Override PartName="/ppt/media/image2.emf" ContentType="image/x-emf"/>
  <Override PartName="/ppt/media/image1.emf" ContentType="image/x-emf"/>
  <Override PartName="/ppt/media/image19.emf" ContentType="image/x-emf"/>
  <Override PartName="/ppt/media/image4.emf" ContentType="image/x-emf"/>
  <Override PartName="/ppt/media/image5.emf" ContentType="image/x-emf"/>
  <Override PartName="/ppt/media/image6.emf" ContentType="image/x-emf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перемещения страницы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формата примечаний щёлкните мышью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443BF19-0431-4652-A770-DAC1A2D4402C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7CCAAC0-C756-4898-B213-9E76E21E7B6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F6EE41D-2287-477E-A5FE-F1EBD21B112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F61FD13-B9E8-4E63-90BA-38D2821633D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05396A9-B385-426E-BBF1-DB929CC839C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0F6E89C-81BE-4CF5-A2AC-2BACA4AF318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911354F-8BC6-4993-B45F-7DEED015E43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77050F0-10C2-4C16-9D0C-F69B104959A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B5E513F-158F-47EB-A70E-903C824BC81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ED853F8-8432-4909-8EC6-A61DB5C7B64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591ED2D-E33F-4031-AE0C-DE2BCCB7C49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3DA3A8E-C063-49C6-AA75-2C1061BB4DF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EC2FF9F-51E9-4D27-8960-D60641340E2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9695F5E-1F94-4608-AEFC-1B291222C8D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9308FD8-7128-409C-9D05-C68A64C2A12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C509CC-9D7E-4100-B15C-E86774D9D98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0A4D592-89A3-4D53-8BB7-537D8269056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emf"/><Relationship Id="rId2" Type="http://schemas.openxmlformats.org/officeDocument/2006/relationships/image" Target="../media/image2.emf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emf"/><Relationship Id="rId2" Type="http://schemas.openxmlformats.org/officeDocument/2006/relationships/image" Target="../media/image5.emf"/><Relationship Id="rId3" Type="http://schemas.openxmlformats.org/officeDocument/2006/relationships/image" Target="../media/image6.emf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9.emf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1.emf"/><Relationship Id="rId2" Type="http://schemas.openxmlformats.org/officeDocument/2006/relationships/image" Target="../media/image12.emf"/><Relationship Id="rId3" Type="http://schemas.openxmlformats.org/officeDocument/2006/relationships/image" Target="../media/image1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4.emf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emf"/><Relationship Id="rId3" Type="http://schemas.openxmlformats.org/officeDocument/2006/relationships/image" Target="../media/image20.emf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1.em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9143640" cy="109440"/>
          </a:xfrm>
          <a:solidFill>
            <a:srgbClr val="0288D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0" y="5033880"/>
            <a:ext cx="9143640" cy="109440"/>
          </a:xfrm>
          <a:solidFill>
            <a:srgbClr val="0288D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457200" y="45720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pc="400" strike="noStrike">
                <a:solidFill>
                  <a:srgbClr val="0288D1"/>
                </a:solidFill>
                <a:effectLst/>
                <a:uFillTx/>
                <a:latin typeface="Calibri"/>
                <a:ea typeface="Calibri"/>
              </a:rPr>
              <a:t>ИНДИВИДУАЛЬНЫЙ ПРОЕКТ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457200" y="1097280"/>
            <a:ext cx="822924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Опти</a:t>
            </a: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ческ</a:t>
            </a: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ие </a:t>
            </a: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приб</a:t>
            </a: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оры:</a:t>
            </a:r>
            <a:endParaRPr lang="ru-RU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устр</a:t>
            </a: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ойст</a:t>
            </a: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во и </a:t>
            </a: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прин</a:t>
            </a: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цип </a:t>
            </a: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дейс</a:t>
            </a: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твия</a:t>
            </a:r>
            <a:endParaRPr lang="ru-RU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4"/>
          <p:cNvSpPr/>
          <p:nvPr/>
        </p:nvSpPr>
        <p:spPr>
          <a:xfrm>
            <a:off x="1371600" y="3017520"/>
            <a:ext cx="6400440" cy="1645560"/>
          </a:xfrm>
          <a:solidFill>
            <a:srgbClr val="FFFFFF"/>
          </a:solidFill>
          <a:ln w="6350">
            <a:solidFill>
              <a:srgbClr val="E0E0E0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1645920" y="3154680"/>
            <a:ext cx="585180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Выполнил: </a:t>
            </a: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XXXXXXX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Руководитель: </a:t>
            </a: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XXXXXXX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FFE994"/>
                </a:solidFill>
                <a:effectLst/>
                <a:uFillTx/>
                <a:latin typeface="Calibri"/>
                <a:ea typeface="Calibri"/>
              </a:rPr>
              <a:t>XXXXXXX, 2026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0"/>
          <p:cNvSpPr/>
          <p:nvPr/>
        </p:nvSpPr>
        <p:spPr>
          <a:xfrm>
            <a:off x="0" y="0"/>
            <a:ext cx="9143640" cy="776880"/>
          </a:xfrm>
          <a:solidFill>
            <a:srgbClr val="1A3C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1"/>
          <p:cNvSpPr/>
          <p:nvPr/>
        </p:nvSpPr>
        <p:spPr>
          <a:xfrm>
            <a:off x="457200" y="9144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00000"/>
                </a:solidFill>
                <a:effectLst/>
                <a:uFillTx/>
                <a:latin typeface="Georgia"/>
                <a:ea typeface="Georgia"/>
              </a:rPr>
              <a:t>АКТУА</a:t>
            </a:r>
            <a:r>
              <a:rPr lang="en-US" sz="2600" b="1" u="none" strike="noStrike">
                <a:solidFill>
                  <a:srgbClr val="000000"/>
                </a:solidFill>
                <a:effectLst/>
                <a:uFillTx/>
                <a:latin typeface="Georgia"/>
                <a:ea typeface="Georgia"/>
              </a:rPr>
              <a:t>ЛЬНО</a:t>
            </a:r>
            <a:r>
              <a:rPr lang="en-US" sz="2600" b="1" u="none" strike="noStrike">
                <a:solidFill>
                  <a:srgbClr val="000000"/>
                </a:solidFill>
                <a:effectLst/>
                <a:uFillTx/>
                <a:latin typeface="Georgia"/>
                <a:ea typeface="Georgia"/>
              </a:rPr>
              <a:t>СТЬ </a:t>
            </a:r>
            <a:r>
              <a:rPr lang="en-US" sz="2600" b="1" u="none" strike="noStrike">
                <a:solidFill>
                  <a:srgbClr val="000000"/>
                </a:solidFill>
                <a:effectLst/>
                <a:uFillTx/>
                <a:latin typeface="Georgia"/>
                <a:ea typeface="Georgia"/>
              </a:rPr>
              <a:t>РАБОТ</a:t>
            </a:r>
            <a:r>
              <a:rPr lang="en-US" sz="2600" b="1" u="none" strike="noStrike">
                <a:solidFill>
                  <a:srgbClr val="000000"/>
                </a:solidFill>
                <a:effectLst/>
                <a:uFillTx/>
                <a:latin typeface="Georgia"/>
                <a:ea typeface="Georgia"/>
              </a:rPr>
              <a:t>Ы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2"/>
          <p:cNvSpPr/>
          <p:nvPr/>
        </p:nvSpPr>
        <p:spPr>
          <a:xfrm>
            <a:off x="0" y="777240"/>
            <a:ext cx="9143640" cy="36360"/>
          </a:xfrm>
          <a:solidFill>
            <a:srgbClr val="0288D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640" rIns="90000" bIns="-864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4"/>
          <p:cNvSpPr/>
          <p:nvPr/>
        </p:nvSpPr>
        <p:spPr>
          <a:xfrm>
            <a:off x="365760" y="1005840"/>
            <a:ext cx="8412120" cy="1462680"/>
          </a:xfrm>
          <a:solidFill>
            <a:srgbClr val="FFFFFF"/>
          </a:solidFill>
          <a:ln w="6350">
            <a:solidFill>
              <a:srgbClr val="E0E0E0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5"/>
          <p:cNvSpPr/>
          <p:nvPr/>
        </p:nvSpPr>
        <p:spPr>
          <a:xfrm>
            <a:off x="548640" y="1097280"/>
            <a:ext cx="804636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Оптические приборы – неотъемлемая часть науки и техники. Микроскопы позволяют исследовать клеточные структуры, телескопы – наблюдать удалённые космические объекты, фотоаппараты – фиксировать изображения. При этом все эти приборы работают на одних и тех же физических принципах: преломлении и отражении света в линзах и зеркалах.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6"/>
          <p:cNvSpPr/>
          <p:nvPr/>
        </p:nvSpPr>
        <p:spPr>
          <a:xfrm>
            <a:off x="365760" y="2697480"/>
            <a:ext cx="2651400" cy="1188360"/>
          </a:xfrm>
          <a:solidFill>
            <a:srgbClr val="FFFFFF"/>
          </a:solidFill>
          <a:ln w="6350">
            <a:solidFill>
              <a:srgbClr val="E0E0E0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7"/>
          <p:cNvSpPr/>
          <p:nvPr/>
        </p:nvSpPr>
        <p:spPr>
          <a:xfrm>
            <a:off x="365760" y="2697480"/>
            <a:ext cx="2651400" cy="54360"/>
          </a:xfrm>
          <a:solidFill>
            <a:srgbClr val="2E7D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360" rIns="90000" bIns="936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8"/>
          <p:cNvSpPr/>
          <p:nvPr/>
        </p:nvSpPr>
        <p:spPr>
          <a:xfrm>
            <a:off x="502920" y="2834640"/>
            <a:ext cx="2377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E7D32"/>
                </a:solidFill>
                <a:effectLst/>
                <a:uFillTx/>
                <a:latin typeface="Georgia"/>
                <a:ea typeface="Georgia"/>
              </a:rPr>
              <a:t>Медицина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9"/>
          <p:cNvSpPr/>
          <p:nvPr/>
        </p:nvSpPr>
        <p:spPr>
          <a:xfrm>
            <a:off x="502920" y="3200400"/>
            <a:ext cx="23770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Микроскопы для диагностики и исследований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0"/>
          <p:cNvSpPr/>
          <p:nvPr/>
        </p:nvSpPr>
        <p:spPr>
          <a:xfrm>
            <a:off x="3200400" y="2697480"/>
            <a:ext cx="2651400" cy="1188360"/>
          </a:xfrm>
          <a:solidFill>
            <a:srgbClr val="FFFFFF"/>
          </a:solidFill>
          <a:ln w="6350">
            <a:solidFill>
              <a:srgbClr val="E0E0E0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1"/>
          <p:cNvSpPr/>
          <p:nvPr/>
        </p:nvSpPr>
        <p:spPr>
          <a:xfrm>
            <a:off x="3200400" y="2697480"/>
            <a:ext cx="2651400" cy="54360"/>
          </a:xfrm>
          <a:solidFill>
            <a:srgbClr val="0288D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360" rIns="90000" bIns="936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2"/>
          <p:cNvSpPr/>
          <p:nvPr/>
        </p:nvSpPr>
        <p:spPr>
          <a:xfrm>
            <a:off x="3337560" y="2834640"/>
            <a:ext cx="2377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288D1"/>
                </a:solidFill>
                <a:effectLst/>
                <a:uFillTx/>
                <a:latin typeface="Georgia"/>
                <a:ea typeface="Georgia"/>
              </a:rPr>
              <a:t>Астрономия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3"/>
          <p:cNvSpPr/>
          <p:nvPr/>
        </p:nvSpPr>
        <p:spPr>
          <a:xfrm>
            <a:off x="3337560" y="3200400"/>
            <a:ext cx="23770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Телескопы для наблюдения 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космических объектов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4"/>
          <p:cNvSpPr/>
          <p:nvPr/>
        </p:nvSpPr>
        <p:spPr>
          <a:xfrm>
            <a:off x="6035040" y="2697480"/>
            <a:ext cx="2651400" cy="1188360"/>
          </a:xfrm>
          <a:solidFill>
            <a:srgbClr val="FFFFFF"/>
          </a:solidFill>
          <a:ln w="6350">
            <a:solidFill>
              <a:srgbClr val="E0E0E0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5"/>
          <p:cNvSpPr/>
          <p:nvPr/>
        </p:nvSpPr>
        <p:spPr>
          <a:xfrm>
            <a:off x="6035040" y="2697480"/>
            <a:ext cx="2651400" cy="54360"/>
          </a:xfrm>
          <a:solidFill>
            <a:srgbClr val="E651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360" rIns="90000" bIns="936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6"/>
          <p:cNvSpPr/>
          <p:nvPr/>
        </p:nvSpPr>
        <p:spPr>
          <a:xfrm>
            <a:off x="6172200" y="2834640"/>
            <a:ext cx="2377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65100"/>
                </a:solidFill>
                <a:effectLst/>
                <a:uFillTx/>
                <a:latin typeface="Georgia"/>
                <a:ea typeface="Georgia"/>
              </a:rPr>
              <a:t>Фотография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7"/>
          <p:cNvSpPr/>
          <p:nvPr/>
        </p:nvSpPr>
        <p:spPr>
          <a:xfrm>
            <a:off x="6172200" y="3200400"/>
            <a:ext cx="23770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Объективы для 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фиксации 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изображений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8"/>
          <p:cNvSpPr/>
          <p:nvPr/>
        </p:nvSpPr>
        <p:spPr>
          <a:xfrm>
            <a:off x="365760" y="4114800"/>
            <a:ext cx="8412120" cy="822600"/>
          </a:xfrm>
          <a:solidFill>
            <a:srgbClr val="FFFFFF"/>
          </a:solidFill>
          <a:ln w="6350">
            <a:solidFill>
              <a:srgbClr val="E0E0E0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9"/>
          <p:cNvSpPr/>
          <p:nvPr/>
        </p:nvSpPr>
        <p:spPr>
          <a:xfrm>
            <a:off x="548640" y="4160520"/>
            <a:ext cx="8046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A3C5E"/>
                </a:solidFill>
                <a:effectLst/>
                <a:uFillTx/>
                <a:latin typeface="Calibri"/>
                <a:ea typeface="Calibri"/>
              </a:rPr>
              <a:t>Ключевая идея: </a:t>
            </a: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систематическое </a:t>
            </a: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рассмотрение устройства приборов и </a:t>
            </a: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сравнение их характеристик позволяет </a:t>
            </a: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установить связь между конструкцией </a:t>
            </a: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прибора и решаемой им задачей.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0"/>
          <p:cNvSpPr/>
          <p:nvPr/>
        </p:nvSpPr>
        <p:spPr>
          <a:xfrm>
            <a:off x="0" y="0"/>
            <a:ext cx="9143640" cy="776880"/>
          </a:xfrm>
          <a:solidFill>
            <a:srgbClr val="1A3C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"/>
          <p:cNvSpPr/>
          <p:nvPr/>
        </p:nvSpPr>
        <p:spPr>
          <a:xfrm>
            <a:off x="457200" y="9144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00000"/>
                </a:solidFill>
                <a:effectLst/>
                <a:uFillTx/>
                <a:latin typeface="Georgia"/>
                <a:ea typeface="Georgia"/>
              </a:rPr>
              <a:t>ОСНОВЫ ГЕОМЕТРИЧЕСКОЙ ОПТИКИ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2"/>
          <p:cNvSpPr/>
          <p:nvPr/>
        </p:nvSpPr>
        <p:spPr>
          <a:xfrm>
            <a:off x="0" y="777240"/>
            <a:ext cx="9143640" cy="36360"/>
          </a:xfrm>
          <a:solidFill>
            <a:srgbClr val="0288D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640" rIns="90000" bIns="-864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5"/>
          <p:cNvSpPr/>
          <p:nvPr/>
        </p:nvSpPr>
        <p:spPr>
          <a:xfrm>
            <a:off x="365760" y="1554480"/>
            <a:ext cx="8412120" cy="914040"/>
          </a:xfrm>
          <a:solidFill>
            <a:srgbClr val="FFFFFF"/>
          </a:solidFill>
          <a:ln w="6350">
            <a:solidFill>
              <a:srgbClr val="E0E0E0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6"/>
          <p:cNvSpPr/>
          <p:nvPr/>
        </p:nvSpPr>
        <p:spPr>
          <a:xfrm>
            <a:off x="365760" y="1554480"/>
            <a:ext cx="63720" cy="914040"/>
          </a:xfrm>
          <a:solidFill>
            <a:srgbClr val="0288D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7"/>
          <p:cNvSpPr/>
          <p:nvPr/>
        </p:nvSpPr>
        <p:spPr>
          <a:xfrm>
            <a:off x="457200" y="6256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288D1"/>
                </a:solidFill>
                <a:effectLst/>
                <a:uFillTx/>
                <a:latin typeface="Georgia"/>
                <a:ea typeface="Georgia"/>
              </a:rPr>
              <a:t>Закон прямолинейного распространения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8"/>
          <p:cNvSpPr/>
          <p:nvPr/>
        </p:nvSpPr>
        <p:spPr>
          <a:xfrm>
            <a:off x="457200" y="945720"/>
            <a:ext cx="7954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В однородной, прозрачной и изотропной среде свет распространяется прямолинейно. Это позволяет описывать свет в виде лучей – прямых линий.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9"/>
          <p:cNvSpPr/>
          <p:nvPr/>
        </p:nvSpPr>
        <p:spPr>
          <a:xfrm>
            <a:off x="365760" y="2651760"/>
            <a:ext cx="8412120" cy="914040"/>
          </a:xfrm>
          <a:solidFill>
            <a:srgbClr val="FFFFFF"/>
          </a:solidFill>
          <a:ln w="6350">
            <a:solidFill>
              <a:srgbClr val="E0E0E0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10"/>
          <p:cNvSpPr/>
          <p:nvPr/>
        </p:nvSpPr>
        <p:spPr>
          <a:xfrm>
            <a:off x="365760" y="2651760"/>
            <a:ext cx="63720" cy="914040"/>
          </a:xfrm>
          <a:solidFill>
            <a:srgbClr val="2E7D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1"/>
          <p:cNvSpPr/>
          <p:nvPr/>
        </p:nvSpPr>
        <p:spPr>
          <a:xfrm>
            <a:off x="457200" y="144900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E7D32"/>
                </a:solidFill>
                <a:effectLst/>
                <a:uFillTx/>
                <a:latin typeface="Georgia"/>
                <a:ea typeface="Georgia"/>
              </a:rPr>
              <a:t>Закон отражения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2"/>
          <p:cNvSpPr/>
          <p:nvPr/>
        </p:nvSpPr>
        <p:spPr>
          <a:xfrm>
            <a:off x="457200" y="1722960"/>
            <a:ext cx="7954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Угол отражения равен углу падения. Падающий луч, отражённый луч и перпендикуляр к поверхности лежат в одной плоскости. Основа работы зеркал и зеркальных телескопов.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13"/>
          <p:cNvSpPr/>
          <p:nvPr/>
        </p:nvSpPr>
        <p:spPr>
          <a:xfrm>
            <a:off x="365760" y="3749040"/>
            <a:ext cx="8412120" cy="1142640"/>
          </a:xfrm>
          <a:solidFill>
            <a:srgbClr val="FFFFFF"/>
          </a:solidFill>
          <a:ln w="6350">
            <a:solidFill>
              <a:srgbClr val="E0E0E0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14"/>
          <p:cNvSpPr/>
          <p:nvPr/>
        </p:nvSpPr>
        <p:spPr>
          <a:xfrm>
            <a:off x="365760" y="3749040"/>
            <a:ext cx="63720" cy="1142640"/>
          </a:xfrm>
          <a:solidFill>
            <a:srgbClr val="E651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5"/>
          <p:cNvSpPr/>
          <p:nvPr/>
        </p:nvSpPr>
        <p:spPr>
          <a:xfrm>
            <a:off x="468360" y="2246040"/>
            <a:ext cx="4571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65100"/>
                </a:solidFill>
                <a:effectLst/>
                <a:uFillTx/>
                <a:latin typeface="Georgia"/>
                <a:ea typeface="Georgia"/>
              </a:rPr>
              <a:t>Закон </a:t>
            </a:r>
            <a:r>
              <a:rPr lang="en-US" sz="1300" b="1" u="none" strike="noStrike">
                <a:solidFill>
                  <a:srgbClr val="E65100"/>
                </a:solidFill>
                <a:effectLst/>
                <a:uFillTx/>
                <a:latin typeface="Georgia"/>
                <a:ea typeface="Georgia"/>
              </a:rPr>
              <a:t>преломления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6"/>
          <p:cNvSpPr/>
          <p:nvPr/>
        </p:nvSpPr>
        <p:spPr>
          <a:xfrm>
            <a:off x="540000" y="2603160"/>
            <a:ext cx="5028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При переходе 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луча через 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границу двух 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сред он 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преломляется. 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Отношение 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синуса угла 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падения к 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синусу угла 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преломления 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постоянно для 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данной пары 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сред: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17"/>
          <p:cNvSpPr/>
          <p:nvPr/>
        </p:nvSpPr>
        <p:spPr>
          <a:xfrm>
            <a:off x="5943600" y="3977640"/>
            <a:ext cx="2651400" cy="822600"/>
          </a:xfrm>
          <a:solidFill>
            <a:srgbClr val="FFFFFF"/>
          </a:solidFill>
          <a:ln w="6350">
            <a:solidFill>
              <a:srgbClr val="E0E0E0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9"/>
          <p:cNvSpPr/>
          <p:nvPr/>
        </p:nvSpPr>
        <p:spPr>
          <a:xfrm>
            <a:off x="497880" y="4108320"/>
            <a:ext cx="2468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Основной механизм работы линз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52" name=""/>
              <p:cNvSpPr txBox="1"/>
              <p:nvPr/>
            </p:nvSpPr>
            <p:spPr>
              <a:xfrm>
                <a:off x="3807360" y="1281600"/>
                <a:ext cx="1269720" cy="6346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/>
                </a14:m>
              </a:p>
            </p:txBody>
          </p:sp>
        </mc:Choice>
        <mc:Fallback>
          <p:sp>
            <p:nvSpPr>
              <p:cNvPr id="52" name=""/>
              <p:cNvSpPr txBox="1"/>
              <p:nvPr/>
            </p:nvSpPr>
            <p:spPr>
              <a:xfrm>
                <a:off x="3807360" y="1281600"/>
                <a:ext cx="1269720" cy="63468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53" name=""/>
              <p:cNvSpPr txBox="1"/>
              <p:nvPr/>
            </p:nvSpPr>
            <p:spPr>
              <a:xfrm>
                <a:off x="1278000" y="3747240"/>
                <a:ext cx="924840" cy="3610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f>
                      <m:num>
                        <m:r>
                          <m:t xml:space="preserve">sinα</m:t>
                        </m:r>
                      </m:num>
                      <m:den>
                        <m:r>
                          <m:t xml:space="preserve">sinβ</m:t>
                        </m:r>
                      </m:den>
                    </m:f>
                    <m:r>
                      <m:t xml:space="preserve">=</m:t>
                    </m:r>
                    <m:f>
                      <m:num>
                        <m:r>
                          <m:t xml:space="preserve">v</m:t>
                        </m:r>
                        <m:r>
                          <m:t xml:space="preserve">₁</m:t>
                        </m:r>
                      </m:num>
                      <m:den>
                        <m:r>
                          <m:t xml:space="preserve">v</m:t>
                        </m:r>
                        <m:r>
                          <m:t xml:space="preserve">₂</m:t>
                        </m:r>
                      </m:den>
                    </m:f>
                    <m:r>
                      <m:t xml:space="preserve">=</m:t>
                    </m:r>
                    <m:f>
                      <m:num>
                        <m:r>
                          <m:t xml:space="preserve">n</m:t>
                        </m:r>
                        <m:r>
                          <m:t xml:space="preserve">₂</m:t>
                        </m:r>
                      </m:num>
                      <m:den>
                        <m:r>
                          <m:t xml:space="preserve">n</m:t>
                        </m:r>
                        <m:r>
                          <m:t xml:space="preserve">₁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53" name=""/>
              <p:cNvSpPr txBox="1"/>
              <p:nvPr/>
            </p:nvSpPr>
            <p:spPr>
              <a:xfrm>
                <a:off x="1278000" y="3747240"/>
                <a:ext cx="924840" cy="3610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p:pic>
        <p:nvPicPr>
          <p:cNvPr id="54" name=""/>
          <p:cNvPicPr/>
          <p:nvPr/>
        </p:nvPicPr>
        <p:blipFill>
          <a:blip r:embed="rId3"/>
          <a:stretch/>
        </p:blipFill>
        <p:spPr>
          <a:xfrm>
            <a:off x="5602680" y="2520000"/>
            <a:ext cx="3071160" cy="234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0"/>
          <p:cNvSpPr/>
          <p:nvPr/>
        </p:nvSpPr>
        <p:spPr>
          <a:xfrm>
            <a:off x="0" y="0"/>
            <a:ext cx="9143640" cy="776880"/>
          </a:xfrm>
          <a:solidFill>
            <a:srgbClr val="1A3C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"/>
          <p:cNvSpPr/>
          <p:nvPr/>
        </p:nvSpPr>
        <p:spPr>
          <a:xfrm>
            <a:off x="457200" y="9144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00000"/>
                </a:solidFill>
                <a:effectLst/>
                <a:uFillTx/>
                <a:latin typeface="Georgia"/>
                <a:ea typeface="Georgia"/>
              </a:rPr>
              <a:t>ЛИНЗЫ И ФОРМУЛЫ ТОНКОЙ ЛИНЗЫ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2"/>
          <p:cNvSpPr/>
          <p:nvPr/>
        </p:nvSpPr>
        <p:spPr>
          <a:xfrm>
            <a:off x="0" y="777240"/>
            <a:ext cx="9143640" cy="36360"/>
          </a:xfrm>
          <a:solidFill>
            <a:srgbClr val="0288D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640" rIns="90000" bIns="-864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4"/>
          <p:cNvSpPr/>
          <p:nvPr/>
        </p:nvSpPr>
        <p:spPr>
          <a:xfrm>
            <a:off x="365760" y="1005840"/>
            <a:ext cx="4023000" cy="2011320"/>
          </a:xfrm>
          <a:solidFill>
            <a:srgbClr val="FFFFFF"/>
          </a:solidFill>
          <a:ln w="6350">
            <a:solidFill>
              <a:srgbClr val="E0E0E0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5"/>
          <p:cNvSpPr/>
          <p:nvPr/>
        </p:nvSpPr>
        <p:spPr>
          <a:xfrm>
            <a:off x="548640" y="69156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A3C5E"/>
                </a:solidFill>
                <a:effectLst/>
                <a:uFillTx/>
                <a:latin typeface="Georgia"/>
                <a:ea typeface="Georgia"/>
              </a:rPr>
              <a:t>Типы линз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6"/>
          <p:cNvSpPr/>
          <p:nvPr/>
        </p:nvSpPr>
        <p:spPr>
          <a:xfrm>
            <a:off x="482760" y="1011600"/>
            <a:ext cx="3657240" cy="15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E7D32"/>
                </a:solidFill>
                <a:effectLst/>
                <a:uFillTx/>
                <a:latin typeface="Calibri"/>
                <a:ea typeface="Calibri"/>
              </a:rPr>
              <a:t>Собирающая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Выпуклая в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сечении,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преобразует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параллельный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пучок в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сходящийся.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Фокус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действительный.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endParaRPr lang="ru-RU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endParaRPr lang="ru-RU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C62828"/>
                </a:solidFill>
                <a:effectLst/>
                <a:uFillTx/>
                <a:latin typeface="Calibri"/>
                <a:ea typeface="Calibri"/>
              </a:rPr>
              <a:t>Рассеивающая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Вогнутая в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сечении,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преобразует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параллельный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пучок в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расходящийся.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Фокус мнимый.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7"/>
          <p:cNvSpPr/>
          <p:nvPr/>
        </p:nvSpPr>
        <p:spPr>
          <a:xfrm>
            <a:off x="4572000" y="1005840"/>
            <a:ext cx="4205880" cy="2011320"/>
          </a:xfrm>
          <a:solidFill>
            <a:srgbClr val="FFFFFF"/>
          </a:solidFill>
          <a:ln w="6350">
            <a:solidFill>
              <a:srgbClr val="E0E0E0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8"/>
          <p:cNvSpPr/>
          <p:nvPr/>
        </p:nvSpPr>
        <p:spPr>
          <a:xfrm>
            <a:off x="5114880" y="69156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A3C5E"/>
                </a:solidFill>
                <a:effectLst/>
                <a:uFillTx/>
                <a:latin typeface="Georgia"/>
                <a:ea typeface="Georgia"/>
              </a:rPr>
              <a:t>Ключевые формулы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9"/>
          <p:cNvSpPr/>
          <p:nvPr/>
        </p:nvSpPr>
        <p:spPr>
          <a:xfrm>
            <a:off x="4709160" y="1463040"/>
            <a:ext cx="3931560" cy="438480"/>
          </a:xfrm>
          <a:solidFill>
            <a:srgbClr val="E3F2FD"/>
          </a:solidFill>
          <a:ln w="6350">
            <a:solidFill>
              <a:srgbClr val="0288D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0"/>
          <p:cNvSpPr/>
          <p:nvPr/>
        </p:nvSpPr>
        <p:spPr>
          <a:xfrm>
            <a:off x="5162760" y="900000"/>
            <a:ext cx="36572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Оптическая сила:  </a:t>
            </a:r>
            <a:r>
              <a:rPr lang="en-US" sz="1400" b="1" u="none" strike="noStrike">
                <a:solidFill>
                  <a:srgbClr val="0D2137"/>
                </a:solidFill>
                <a:effectLst/>
                <a:uFillTx/>
                <a:latin typeface="Cambria Math"/>
                <a:ea typeface="Cambria Math"/>
              </a:rPr>
              <a:t>          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11"/>
          <p:cNvSpPr/>
          <p:nvPr/>
        </p:nvSpPr>
        <p:spPr>
          <a:xfrm>
            <a:off x="4709160" y="1965960"/>
            <a:ext cx="3931560" cy="438480"/>
          </a:xfrm>
          <a:solidFill>
            <a:srgbClr val="E3F2FD"/>
          </a:solidFill>
          <a:ln w="6350">
            <a:solidFill>
              <a:srgbClr val="0288D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2"/>
          <p:cNvSpPr/>
          <p:nvPr/>
        </p:nvSpPr>
        <p:spPr>
          <a:xfrm>
            <a:off x="5162760" y="1260000"/>
            <a:ext cx="36572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Формула тонкой линзы:  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13"/>
          <p:cNvSpPr/>
          <p:nvPr/>
        </p:nvSpPr>
        <p:spPr>
          <a:xfrm>
            <a:off x="4709160" y="2468880"/>
            <a:ext cx="3931560" cy="438480"/>
          </a:xfrm>
          <a:solidFill>
            <a:srgbClr val="E3F2FD"/>
          </a:solidFill>
          <a:ln w="6350">
            <a:solidFill>
              <a:srgbClr val="0288D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4"/>
          <p:cNvSpPr/>
          <p:nvPr/>
        </p:nvSpPr>
        <p:spPr>
          <a:xfrm>
            <a:off x="5162760" y="1643040"/>
            <a:ext cx="36572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Линейное увеличение:  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15"/>
          <p:cNvSpPr/>
          <p:nvPr/>
        </p:nvSpPr>
        <p:spPr>
          <a:xfrm>
            <a:off x="365760" y="3246120"/>
            <a:ext cx="8412120" cy="1645560"/>
          </a:xfrm>
          <a:solidFill>
            <a:srgbClr val="FFFFFF"/>
          </a:solidFill>
          <a:ln w="6350">
            <a:solidFill>
              <a:srgbClr val="E0E0E0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6"/>
          <p:cNvSpPr/>
          <p:nvPr/>
        </p:nvSpPr>
        <p:spPr>
          <a:xfrm>
            <a:off x="540000" y="256032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3C5E"/>
                </a:solidFill>
                <a:effectLst/>
                <a:uFillTx/>
                <a:latin typeface="Georgia"/>
                <a:ea typeface="Georgia"/>
              </a:rPr>
              <a:t>Правила знаков и свойства изображений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7"/>
          <p:cNvSpPr/>
          <p:nvPr/>
        </p:nvSpPr>
        <p:spPr>
          <a:xfrm>
            <a:off x="426240" y="3403080"/>
            <a:ext cx="46137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• f &gt; 0 – действительное изображение;  f &lt; 0 – мнимое изображение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• F &gt; 0 – собирающая линза;  F &lt; 0 – рассеивающая линза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• d – расстояние от предмета до линзы (всегда положительно)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• Изображение может быть: действительным/мнимым, прямым/перевёрнутым, увеличенным/уменьшенным – в зависимости от положения предмета относительно линзы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72" name=""/>
              <p:cNvSpPr txBox="1"/>
              <p:nvPr/>
            </p:nvSpPr>
            <p:spPr>
              <a:xfrm>
                <a:off x="6623640" y="977400"/>
                <a:ext cx="396360" cy="3610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D</m:t>
                    </m:r>
                    <m:r>
                      <m:t xml:space="preserve">=</m:t>
                    </m:r>
                    <m:f>
                      <m:num>
                        <m:r>
                          <m:t xml:space="preserve">1</m:t>
                        </m:r>
                      </m:num>
                      <m:den>
                        <m:r>
                          <m:t xml:space="preserve">F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72" name=""/>
              <p:cNvSpPr txBox="1"/>
              <p:nvPr/>
            </p:nvSpPr>
            <p:spPr>
              <a:xfrm>
                <a:off x="6623640" y="977400"/>
                <a:ext cx="396360" cy="36108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73" name=""/>
              <p:cNvSpPr txBox="1"/>
              <p:nvPr/>
            </p:nvSpPr>
            <p:spPr>
              <a:xfrm>
                <a:off x="6840000" y="1337400"/>
                <a:ext cx="602280" cy="3610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f>
                      <m:num>
                        <m:r>
                          <m:t xml:space="preserve">1</m:t>
                        </m:r>
                      </m:num>
                      <m:den>
                        <m:r>
                          <m:t xml:space="preserve">F</m:t>
                        </m:r>
                      </m:den>
                    </m:f>
                    <m:r>
                      <m:t xml:space="preserve">=</m:t>
                    </m:r>
                    <m:f>
                      <m:num>
                        <m:r>
                          <m:t xml:space="preserve">1</m:t>
                        </m:r>
                      </m:num>
                      <m:den>
                        <m:r>
                          <m:t xml:space="preserve">d</m:t>
                        </m:r>
                      </m:den>
                    </m:f>
                    <m:r>
                      <m:t xml:space="preserve">+</m:t>
                    </m:r>
                    <m:f>
                      <m:num>
                        <m:r>
                          <m:t xml:space="preserve">1</m:t>
                        </m:r>
                      </m:num>
                      <m:den>
                        <m:r>
                          <m:t xml:space="preserve">f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73" name=""/>
              <p:cNvSpPr txBox="1"/>
              <p:nvPr/>
            </p:nvSpPr>
            <p:spPr>
              <a:xfrm>
                <a:off x="6840000" y="1337400"/>
                <a:ext cx="602280" cy="3610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74" name=""/>
              <p:cNvSpPr txBox="1"/>
              <p:nvPr/>
            </p:nvSpPr>
            <p:spPr>
              <a:xfrm>
                <a:off x="6865200" y="1720440"/>
                <a:ext cx="651240" cy="3610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Г</m:t>
                    </m:r>
                    <m:r>
                      <m:t xml:space="preserve">=</m:t>
                    </m:r>
                    <m:f>
                      <m:num>
                        <m:r>
                          <m:t xml:space="preserve">H</m:t>
                        </m:r>
                      </m:num>
                      <m:den>
                        <m:r>
                          <m:t xml:space="preserve">h</m:t>
                        </m:r>
                      </m:den>
                    </m:f>
                    <m:r>
                      <m:t xml:space="preserve">=</m:t>
                    </m:r>
                    <m:f>
                      <m:num>
                        <m:r>
                          <m:t xml:space="preserve">f</m:t>
                        </m:r>
                      </m:num>
                      <m:den>
                        <m:r>
                          <m:t xml:space="preserve">d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74" name=""/>
              <p:cNvSpPr txBox="1"/>
              <p:nvPr/>
            </p:nvSpPr>
            <p:spPr>
              <a:xfrm>
                <a:off x="6865200" y="1720440"/>
                <a:ext cx="651240" cy="3610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  <p:pic>
        <p:nvPicPr>
          <p:cNvPr id="75" name=""/>
          <p:cNvPicPr/>
          <p:nvPr/>
        </p:nvPicPr>
        <p:blipFill>
          <a:blip r:embed="rId4"/>
          <a:stretch/>
        </p:blipFill>
        <p:spPr>
          <a:xfrm>
            <a:off x="5040000" y="2287800"/>
            <a:ext cx="3780000" cy="1945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"/>
          <p:cNvPicPr/>
          <p:nvPr/>
        </p:nvPicPr>
        <p:blipFill>
          <a:blip r:embed="rId5"/>
          <a:stretch/>
        </p:blipFill>
        <p:spPr>
          <a:xfrm>
            <a:off x="5040000" y="2287800"/>
            <a:ext cx="3872880" cy="2212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7" dur="2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0"/>
          <p:cNvSpPr/>
          <p:nvPr/>
        </p:nvSpPr>
        <p:spPr>
          <a:xfrm>
            <a:off x="0" y="0"/>
            <a:ext cx="9143640" cy="776880"/>
          </a:xfrm>
          <a:solidFill>
            <a:srgbClr val="1A3C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"/>
          <p:cNvSpPr/>
          <p:nvPr/>
        </p:nvSpPr>
        <p:spPr>
          <a:xfrm>
            <a:off x="457200" y="9144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00000"/>
                </a:solidFill>
                <a:effectLst/>
                <a:uFillTx/>
                <a:latin typeface="Georgia"/>
                <a:ea typeface="Georgia"/>
              </a:rPr>
              <a:t>КЛАССИФИКАЦИЯ ОПТИЧЕСКИХ ПРИБОРОВ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2"/>
          <p:cNvSpPr/>
          <p:nvPr/>
        </p:nvSpPr>
        <p:spPr>
          <a:xfrm>
            <a:off x="0" y="777240"/>
            <a:ext cx="9143640" cy="36360"/>
          </a:xfrm>
          <a:solidFill>
            <a:srgbClr val="0288D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640" rIns="90000" bIns="-864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4"/>
          <p:cNvSpPr/>
          <p:nvPr/>
        </p:nvSpPr>
        <p:spPr>
          <a:xfrm>
            <a:off x="365760" y="1051560"/>
            <a:ext cx="4023000" cy="3200040"/>
          </a:xfrm>
          <a:solidFill>
            <a:srgbClr val="FFFFFF"/>
          </a:solidFill>
          <a:ln w="6350">
            <a:solidFill>
              <a:srgbClr val="E0E0E0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5"/>
          <p:cNvSpPr/>
          <p:nvPr/>
        </p:nvSpPr>
        <p:spPr>
          <a:xfrm>
            <a:off x="365760" y="1051560"/>
            <a:ext cx="4023000" cy="502560"/>
          </a:xfrm>
          <a:solidFill>
            <a:srgbClr val="0288D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6"/>
          <p:cNvSpPr/>
          <p:nvPr/>
        </p:nvSpPr>
        <p:spPr>
          <a:xfrm>
            <a:off x="457200" y="1097280"/>
            <a:ext cx="3840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Georgia"/>
                <a:ea typeface="Georgia"/>
              </a:rPr>
              <a:t>ВИЗУАЛЬН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Georgia"/>
                <a:ea typeface="Georgia"/>
              </a:rPr>
              <a:t>ЫЕ 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Georgia"/>
                <a:ea typeface="Georgia"/>
              </a:rPr>
              <a:t>ПРИБОРЫ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7"/>
          <p:cNvSpPr/>
          <p:nvPr/>
        </p:nvSpPr>
        <p:spPr>
          <a:xfrm>
            <a:off x="548640" y="1691640"/>
            <a:ext cx="3657240" cy="242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Работают совместно с глазом наблюдателя.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endParaRPr lang="ru-RU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endParaRPr lang="ru-RU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Увеличивают угол зрения, под которым наблюдатель видит предмет.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endParaRPr lang="ru-RU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endParaRPr lang="ru-RU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Изображение может быть мнимым – оно воспринимается непосредственно глазом.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endParaRPr lang="ru-RU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endParaRPr lang="ru-RU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288D1"/>
                </a:solidFill>
                <a:effectLst/>
                <a:uFillTx/>
                <a:latin typeface="Calibri"/>
                <a:ea typeface="Calibri"/>
              </a:rPr>
              <a:t>Примеры: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Лупа · Микроскоп · Телескоп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8"/>
          <p:cNvSpPr/>
          <p:nvPr/>
        </p:nvSpPr>
        <p:spPr>
          <a:xfrm>
            <a:off x="4754880" y="1051560"/>
            <a:ext cx="4023000" cy="3200040"/>
          </a:xfrm>
          <a:solidFill>
            <a:srgbClr val="FFFFFF"/>
          </a:solidFill>
          <a:ln w="6350">
            <a:solidFill>
              <a:srgbClr val="E0E0E0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9"/>
          <p:cNvSpPr/>
          <p:nvPr/>
        </p:nvSpPr>
        <p:spPr>
          <a:xfrm>
            <a:off x="4754880" y="1051560"/>
            <a:ext cx="4023000" cy="502560"/>
          </a:xfrm>
          <a:solidFill>
            <a:srgbClr val="E651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0"/>
          <p:cNvSpPr/>
          <p:nvPr/>
        </p:nvSpPr>
        <p:spPr>
          <a:xfrm>
            <a:off x="4846320" y="1097280"/>
            <a:ext cx="3840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Georgia"/>
                <a:ea typeface="Georgia"/>
              </a:rPr>
              <a:t>ПРОЕКЦИОННЫЕ ПРИБОРЫ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1"/>
          <p:cNvSpPr/>
          <p:nvPr/>
        </p:nvSpPr>
        <p:spPr>
          <a:xfrm>
            <a:off x="4937760" y="1691640"/>
            <a:ext cx="3657240" cy="242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Формируют действительное изображение на экране или светочувствительном материале.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endParaRPr lang="ru-RU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endParaRPr lang="ru-RU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Изображение существует объективно – можно зафиксировать на плёнке, матрице или экране.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endParaRPr lang="ru-RU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endParaRPr lang="ru-RU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Предмет должен находиться за фокусом объектива.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endParaRPr lang="ru-RU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endParaRPr lang="ru-RU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65100"/>
                </a:solidFill>
                <a:effectLst/>
                <a:uFillTx/>
                <a:latin typeface="Calibri"/>
                <a:ea typeface="Calibri"/>
              </a:rPr>
              <a:t>Примеры: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Фотоаппарат · Проектор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12"/>
          <p:cNvSpPr/>
          <p:nvPr/>
        </p:nvSpPr>
        <p:spPr>
          <a:xfrm>
            <a:off x="365760" y="4434840"/>
            <a:ext cx="8412120" cy="502560"/>
          </a:xfrm>
          <a:solidFill>
            <a:srgbClr val="FFFFFF"/>
          </a:solidFill>
          <a:ln w="6350">
            <a:solidFill>
              <a:srgbClr val="E0E0E0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3"/>
          <p:cNvSpPr/>
          <p:nvPr/>
        </p:nvSpPr>
        <p:spPr>
          <a:xfrm>
            <a:off x="548640" y="4480560"/>
            <a:ext cx="8046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Такое </a:t>
            </a:r>
            <a:r>
              <a:rPr lang="en-US" sz="11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разделение </a:t>
            </a:r>
            <a:r>
              <a:rPr lang="en-US" sz="11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определяет </a:t>
            </a:r>
            <a:r>
              <a:rPr lang="en-US" sz="11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конструкт</a:t>
            </a:r>
            <a:r>
              <a:rPr lang="en-US" sz="11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ивные </a:t>
            </a:r>
            <a:r>
              <a:rPr lang="en-US" sz="11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особенност</a:t>
            </a:r>
            <a:r>
              <a:rPr lang="en-US" sz="11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и: </a:t>
            </a:r>
            <a:r>
              <a:rPr lang="en-US" sz="11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проекционн</a:t>
            </a:r>
            <a:r>
              <a:rPr lang="en-US" sz="11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ые приборы </a:t>
            </a:r>
            <a:r>
              <a:rPr lang="en-US" sz="11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требуют </a:t>
            </a:r>
            <a:r>
              <a:rPr lang="en-US" sz="11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предмет за </a:t>
            </a:r>
            <a:r>
              <a:rPr lang="en-US" sz="11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фокусом </a:t>
            </a:r>
            <a:r>
              <a:rPr lang="en-US" sz="11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объектива, </a:t>
            </a:r>
            <a:r>
              <a:rPr lang="en-US" sz="11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визуальные </a:t>
            </a:r>
            <a:r>
              <a:rPr lang="en-US" sz="11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могут </a:t>
            </a:r>
            <a:r>
              <a:rPr lang="en-US" sz="11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использова</a:t>
            </a:r>
            <a:r>
              <a:rPr lang="en-US" sz="11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ть и </a:t>
            </a:r>
            <a:r>
              <a:rPr lang="en-US" sz="11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мнимые </a:t>
            </a:r>
            <a:r>
              <a:rPr lang="en-US" sz="11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изображени</a:t>
            </a:r>
            <a:r>
              <a:rPr lang="en-US" sz="11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я.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0"/>
          <p:cNvSpPr/>
          <p:nvPr/>
        </p:nvSpPr>
        <p:spPr>
          <a:xfrm>
            <a:off x="0" y="0"/>
            <a:ext cx="9143640" cy="776880"/>
          </a:xfrm>
          <a:solidFill>
            <a:srgbClr val="1A3C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"/>
          <p:cNvSpPr/>
          <p:nvPr/>
        </p:nvSpPr>
        <p:spPr>
          <a:xfrm>
            <a:off x="457200" y="9144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00000"/>
                </a:solidFill>
                <a:effectLst/>
                <a:uFillTx/>
                <a:latin typeface="Georgia"/>
                <a:ea typeface="Georgia"/>
              </a:rPr>
              <a:t>ЛУПА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2"/>
          <p:cNvSpPr/>
          <p:nvPr/>
        </p:nvSpPr>
        <p:spPr>
          <a:xfrm>
            <a:off x="0" y="777240"/>
            <a:ext cx="9143640" cy="36360"/>
          </a:xfrm>
          <a:solidFill>
            <a:srgbClr val="0288D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640" rIns="90000" bIns="-864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5"/>
          <p:cNvSpPr/>
          <p:nvPr/>
        </p:nvSpPr>
        <p:spPr>
          <a:xfrm>
            <a:off x="365760" y="1554480"/>
            <a:ext cx="5028840" cy="2377080"/>
          </a:xfrm>
          <a:solidFill>
            <a:srgbClr val="FFFFFF"/>
          </a:solidFill>
          <a:ln w="6350">
            <a:solidFill>
              <a:srgbClr val="E0E0E0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6"/>
          <p:cNvSpPr/>
          <p:nvPr/>
        </p:nvSpPr>
        <p:spPr>
          <a:xfrm>
            <a:off x="548640" y="68544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3C5E"/>
                </a:solidFill>
                <a:effectLst/>
                <a:uFillTx/>
                <a:latin typeface="Georgia"/>
                <a:ea typeface="Georgia"/>
              </a:rPr>
              <a:t>Устройство и принцип действия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7"/>
          <p:cNvSpPr/>
          <p:nvPr/>
        </p:nvSpPr>
        <p:spPr>
          <a:xfrm>
            <a:off x="360000" y="1951560"/>
            <a:ext cx="431136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288D1"/>
                </a:solidFill>
                <a:effectLst/>
                <a:uFillTx/>
                <a:latin typeface="Calibri"/>
                <a:ea typeface="Calibri"/>
              </a:rPr>
              <a:t>Конструкция: 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собирающая линза с малым фокусным расстоянием (10–100 мм).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endParaRPr lang="ru-RU" sz="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endParaRPr lang="ru-RU" sz="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288D1"/>
                </a:solidFill>
                <a:effectLst/>
                <a:uFillTx/>
                <a:latin typeface="Calibri"/>
                <a:ea typeface="Calibri"/>
              </a:rPr>
              <a:t>Принцип: 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предмет помещают между линзой и её фокусом (d &lt; F). Линза создаёт мнимое, прямое и 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увеличенное изображение.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endParaRPr lang="ru-RU" sz="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endParaRPr lang="ru-RU" sz="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Лупа увеличивает угол зрения, под которым глаз воспринимает предмет.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endParaRPr lang="ru-RU" sz="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endParaRPr lang="ru-RU" sz="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C62828"/>
                </a:solidFill>
                <a:effectLst/>
                <a:uFillTx/>
                <a:latin typeface="Calibri"/>
                <a:ea typeface="Calibri"/>
              </a:rPr>
              <a:t>Ограничения: 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при уменьшении F линза становится слишком маленькой, усиливаются аберрации.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8"/>
          <p:cNvSpPr/>
          <p:nvPr/>
        </p:nvSpPr>
        <p:spPr>
          <a:xfrm>
            <a:off x="5577840" y="1554480"/>
            <a:ext cx="3200040" cy="1096920"/>
          </a:xfrm>
          <a:solidFill>
            <a:srgbClr val="FFFFFF"/>
          </a:solidFill>
          <a:ln w="6350">
            <a:solidFill>
              <a:srgbClr val="E0E0E0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9"/>
          <p:cNvSpPr/>
          <p:nvPr/>
        </p:nvSpPr>
        <p:spPr>
          <a:xfrm>
            <a:off x="5577840" y="1554480"/>
            <a:ext cx="3200040" cy="36360"/>
          </a:xfrm>
          <a:solidFill>
            <a:srgbClr val="0288D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640" rIns="90000" bIns="-864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0"/>
          <p:cNvSpPr/>
          <p:nvPr/>
        </p:nvSpPr>
        <p:spPr>
          <a:xfrm>
            <a:off x="5400000" y="720000"/>
            <a:ext cx="1800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A3C5E"/>
                </a:solidFill>
                <a:effectLst/>
                <a:uFillTx/>
                <a:latin typeface="Georgia"/>
                <a:ea typeface="Georgia"/>
              </a:rPr>
              <a:t>Формула увеличения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13"/>
          <p:cNvSpPr/>
          <p:nvPr/>
        </p:nvSpPr>
        <p:spPr>
          <a:xfrm>
            <a:off x="5577840" y="2834640"/>
            <a:ext cx="3200040" cy="1096920"/>
          </a:xfrm>
          <a:solidFill>
            <a:srgbClr val="FFFFFF"/>
          </a:solidFill>
          <a:ln w="6350">
            <a:solidFill>
              <a:srgbClr val="E0E0E0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4"/>
          <p:cNvSpPr/>
          <p:nvPr/>
        </p:nvSpPr>
        <p:spPr>
          <a:xfrm>
            <a:off x="5458680" y="99396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A3C5E"/>
                </a:solidFill>
                <a:effectLst/>
                <a:uFillTx/>
                <a:latin typeface="Georgia"/>
                <a:ea typeface="Georgia"/>
              </a:rPr>
              <a:t>Характер</a:t>
            </a:r>
            <a:r>
              <a:rPr lang="en-US" sz="1200" b="1" u="none" strike="noStrike">
                <a:solidFill>
                  <a:srgbClr val="1A3C5E"/>
                </a:solidFill>
                <a:effectLst/>
                <a:uFillTx/>
                <a:latin typeface="Georgia"/>
                <a:ea typeface="Georgia"/>
              </a:rPr>
              <a:t>истики: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5"/>
          <p:cNvSpPr/>
          <p:nvPr/>
        </p:nvSpPr>
        <p:spPr>
          <a:xfrm>
            <a:off x="5458680" y="1353960"/>
            <a:ext cx="29257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Увеличение: 2–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10×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Тип: визуальный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прибор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Изображение: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мнимое, прямое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Положение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предмета: d &lt; F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16"/>
          <p:cNvSpPr/>
          <p:nvPr/>
        </p:nvSpPr>
        <p:spPr>
          <a:xfrm>
            <a:off x="365760" y="4160520"/>
            <a:ext cx="8412120" cy="776880"/>
          </a:xfrm>
          <a:solidFill>
            <a:srgbClr val="FFFFFF"/>
          </a:solidFill>
          <a:ln w="6350">
            <a:solidFill>
              <a:srgbClr val="E0E0E0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03" name=""/>
              <p:cNvSpPr txBox="1"/>
              <p:nvPr/>
            </p:nvSpPr>
            <p:spPr>
              <a:xfrm>
                <a:off x="7200000" y="720000"/>
                <a:ext cx="464400" cy="3610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Г</m:t>
                    </m:r>
                    <m:r>
                      <m:t xml:space="preserve">=</m:t>
                    </m:r>
                    <m:f>
                      <m:num>
                        <m:r>
                          <m:t xml:space="preserve">D</m:t>
                        </m:r>
                        <m:r>
                          <m:t xml:space="preserve">₀</m:t>
                        </m:r>
                      </m:num>
                      <m:den>
                        <m:r>
                          <m:t xml:space="preserve">F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103" name=""/>
              <p:cNvSpPr txBox="1"/>
              <p:nvPr/>
            </p:nvSpPr>
            <p:spPr>
              <a:xfrm>
                <a:off x="7200000" y="720000"/>
                <a:ext cx="464400" cy="36108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p:pic>
        <p:nvPicPr>
          <p:cNvPr id="104" name=""/>
          <p:cNvPicPr/>
          <p:nvPr/>
        </p:nvPicPr>
        <p:blipFill>
          <a:blip r:embed="rId2"/>
          <a:stretch/>
        </p:blipFill>
        <p:spPr>
          <a:xfrm>
            <a:off x="4860000" y="2340000"/>
            <a:ext cx="4168080" cy="270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0"/>
          <p:cNvSpPr/>
          <p:nvPr/>
        </p:nvSpPr>
        <p:spPr>
          <a:xfrm>
            <a:off x="0" y="0"/>
            <a:ext cx="9143640" cy="776880"/>
          </a:xfrm>
          <a:solidFill>
            <a:srgbClr val="1A3C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"/>
          <p:cNvSpPr/>
          <p:nvPr/>
        </p:nvSpPr>
        <p:spPr>
          <a:xfrm>
            <a:off x="457200" y="9144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00000"/>
                </a:solidFill>
                <a:effectLst/>
                <a:uFillTx/>
                <a:latin typeface="Georgia"/>
                <a:ea typeface="Georgia"/>
              </a:rPr>
              <a:t>МИКРОСКОП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2"/>
          <p:cNvSpPr/>
          <p:nvPr/>
        </p:nvSpPr>
        <p:spPr>
          <a:xfrm>
            <a:off x="0" y="777240"/>
            <a:ext cx="9143640" cy="36360"/>
          </a:xfrm>
          <a:solidFill>
            <a:srgbClr val="0288D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640" rIns="90000" bIns="-864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5"/>
          <p:cNvSpPr/>
          <p:nvPr/>
        </p:nvSpPr>
        <p:spPr>
          <a:xfrm>
            <a:off x="365760" y="1554480"/>
            <a:ext cx="5028840" cy="2559960"/>
          </a:xfrm>
          <a:solidFill>
            <a:srgbClr val="FFFFFF"/>
          </a:solidFill>
          <a:ln w="6350">
            <a:solidFill>
              <a:srgbClr val="E0E0E0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6"/>
          <p:cNvSpPr/>
          <p:nvPr/>
        </p:nvSpPr>
        <p:spPr>
          <a:xfrm>
            <a:off x="540000" y="90000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3C5E"/>
                </a:solidFill>
                <a:effectLst/>
                <a:uFillTx/>
                <a:latin typeface="Georgia"/>
                <a:ea typeface="Georgia"/>
              </a:rPr>
              <a:t>Устройство и </a:t>
            </a:r>
            <a:r>
              <a:rPr lang="en-US" sz="1400" b="1" u="none" strike="noStrike">
                <a:solidFill>
                  <a:srgbClr val="1A3C5E"/>
                </a:solidFill>
                <a:effectLst/>
                <a:uFillTx/>
                <a:latin typeface="Georgia"/>
                <a:ea typeface="Georgia"/>
              </a:rPr>
              <a:t>принцип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7"/>
          <p:cNvSpPr/>
          <p:nvPr/>
        </p:nvSpPr>
        <p:spPr>
          <a:xfrm>
            <a:off x="448560" y="1408680"/>
            <a:ext cx="466308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Система из двух собирающих линз: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endParaRPr lang="ru-RU" sz="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endParaRPr lang="ru-RU" sz="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E7D32"/>
                </a:solidFill>
                <a:effectLst/>
                <a:uFillTx/>
                <a:latin typeface="Calibri"/>
                <a:ea typeface="Calibri"/>
              </a:rPr>
              <a:t>Объектив 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– короткофокусная линза вблизи объекта. Создаёт действительное, перевёрнутое, увеличенное промежуточное изображение (F_об &lt; d &lt; 2F_об).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endParaRPr lang="ru-RU" sz="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endParaRPr lang="ru-RU" sz="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288D1"/>
                </a:solidFill>
                <a:effectLst/>
                <a:uFillTx/>
                <a:latin typeface="Calibri"/>
                <a:ea typeface="Calibri"/>
              </a:rPr>
              <a:t>Окуляр 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– линза с бо́льшим фокусным расстоянием. Работает как лупа: создаёт мнимое, увеличенное изображение промежуточного.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endParaRPr lang="ru-RU" sz="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endParaRPr lang="ru-RU" sz="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00" b="1" i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Увеличение происходит в два каскада.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8"/>
          <p:cNvSpPr/>
          <p:nvPr/>
        </p:nvSpPr>
        <p:spPr>
          <a:xfrm>
            <a:off x="5577840" y="1554480"/>
            <a:ext cx="3200040" cy="1188360"/>
          </a:xfrm>
          <a:solidFill>
            <a:srgbClr val="FFFFFF"/>
          </a:solidFill>
          <a:ln w="6350">
            <a:solidFill>
              <a:srgbClr val="E0E0E0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9"/>
          <p:cNvSpPr/>
          <p:nvPr/>
        </p:nvSpPr>
        <p:spPr>
          <a:xfrm>
            <a:off x="5577840" y="1554480"/>
            <a:ext cx="3200040" cy="36360"/>
          </a:xfrm>
          <a:solidFill>
            <a:srgbClr val="2E7D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640" rIns="90000" bIns="-864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0"/>
          <p:cNvSpPr/>
          <p:nvPr/>
        </p:nvSpPr>
        <p:spPr>
          <a:xfrm>
            <a:off x="360000" y="3600000"/>
            <a:ext cx="1980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A3C5E"/>
                </a:solidFill>
                <a:effectLst/>
                <a:uFillTx/>
                <a:latin typeface="Georgia"/>
                <a:ea typeface="Georgia"/>
              </a:rPr>
              <a:t>Формулы увеличения: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13"/>
          <p:cNvSpPr/>
          <p:nvPr/>
        </p:nvSpPr>
        <p:spPr>
          <a:xfrm>
            <a:off x="5577840" y="2926080"/>
            <a:ext cx="3200040" cy="1188360"/>
          </a:xfrm>
          <a:solidFill>
            <a:srgbClr val="FFFFFF"/>
          </a:solidFill>
          <a:ln w="6350">
            <a:solidFill>
              <a:srgbClr val="E0E0E0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4"/>
          <p:cNvSpPr/>
          <p:nvPr/>
        </p:nvSpPr>
        <p:spPr>
          <a:xfrm>
            <a:off x="5669280" y="98604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A3C5E"/>
                </a:solidFill>
                <a:effectLst/>
                <a:uFillTx/>
                <a:latin typeface="Georgia"/>
                <a:ea typeface="Georgia"/>
              </a:rPr>
              <a:t>Характеристики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5"/>
          <p:cNvSpPr/>
          <p:nvPr/>
        </p:nvSpPr>
        <p:spPr>
          <a:xfrm>
            <a:off x="5669280" y="1440000"/>
            <a:ext cx="29257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Увеличен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ие: 20–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2000×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Тип: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визуальн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ый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прибор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Изображе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ние: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мнимое,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перевёрн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утое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Разрешен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ие: ≈ 0,2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мкм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(ограниче</a:t>
            </a:r>
            <a:r>
              <a:rPr lang="en-US" sz="11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но длиной </a:t>
            </a:r>
            <a:r>
              <a:rPr lang="en-US" sz="11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волны </a:t>
            </a:r>
            <a:r>
              <a:rPr lang="en-US" sz="11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света)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16"/>
          <p:cNvSpPr/>
          <p:nvPr/>
        </p:nvSpPr>
        <p:spPr>
          <a:xfrm>
            <a:off x="365760" y="4297680"/>
            <a:ext cx="8412120" cy="639720"/>
          </a:xfrm>
          <a:solidFill>
            <a:srgbClr val="FFFFFF"/>
          </a:solidFill>
          <a:ln w="6350">
            <a:solidFill>
              <a:srgbClr val="E0E0E0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18" name=""/>
              <p:cNvSpPr txBox="1"/>
              <p:nvPr/>
            </p:nvSpPr>
            <p:spPr>
              <a:xfrm>
                <a:off x="540000" y="4489200"/>
                <a:ext cx="786240" cy="1908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Г</m:t>
                    </m:r>
                    <m:r>
                      <m:t xml:space="preserve">=</m:t>
                    </m:r>
                    <m:sSub>
                      <m:e>
                        <m:r>
                          <m:t xml:space="preserve">Г</m:t>
                        </m:r>
                      </m:e>
                      <m:sub>
                        <m:r>
                          <m:t xml:space="preserve">об</m:t>
                        </m:r>
                      </m:sub>
                    </m:sSub>
                    <m:r>
                      <m:t xml:space="preserve">×</m:t>
                    </m:r>
                    <m:sSub>
                      <m:e>
                        <m:r>
                          <m:t xml:space="preserve">Г</m:t>
                        </m:r>
                      </m:e>
                      <m:sub>
                        <m:r>
                          <m:t xml:space="preserve">ок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118" name=""/>
              <p:cNvSpPr txBox="1"/>
              <p:nvPr/>
            </p:nvSpPr>
            <p:spPr>
              <a:xfrm>
                <a:off x="540000" y="4489200"/>
                <a:ext cx="786240" cy="19080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119" name=""/>
              <p:cNvSpPr txBox="1"/>
              <p:nvPr/>
            </p:nvSpPr>
            <p:spPr>
              <a:xfrm>
                <a:off x="540000" y="3960000"/>
                <a:ext cx="852480" cy="3826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Г</m:t>
                    </m:r>
                    <m:r>
                      <m:t xml:space="preserve">=</m:t>
                    </m:r>
                    <m:f>
                      <m:num>
                        <m:r>
                          <m:t xml:space="preserve">L</m:t>
                        </m:r>
                      </m:num>
                      <m:den>
                        <m:sSub>
                          <m:e>
                            <m:r>
                              <m:t xml:space="preserve">F</m:t>
                            </m:r>
                          </m:e>
                          <m:sub>
                            <m:r>
                              <m:t xml:space="preserve">об</m:t>
                            </m:r>
                          </m:sub>
                        </m:sSub>
                      </m:den>
                    </m:f>
                    <m:r>
                      <m:t xml:space="preserve">×</m:t>
                    </m:r>
                    <m:f>
                      <m:num>
                        <m:r>
                          <m:t xml:space="preserve">D</m:t>
                        </m:r>
                        <m:r>
                          <m:t xml:space="preserve">₀</m:t>
                        </m:r>
                      </m:num>
                      <m:den>
                        <m:sSub>
                          <m:e>
                            <m:r>
                              <m:t xml:space="preserve">F</m:t>
                            </m:r>
                          </m:e>
                          <m:sub>
                            <m:r>
                              <m:t xml:space="preserve">ок</m:t>
                            </m:r>
                          </m:sub>
                        </m:sSub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119" name=""/>
              <p:cNvSpPr txBox="1"/>
              <p:nvPr/>
            </p:nvSpPr>
            <p:spPr>
              <a:xfrm>
                <a:off x="540000" y="3960000"/>
                <a:ext cx="852480" cy="3826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p:pic>
        <p:nvPicPr>
          <p:cNvPr id="120" name=""/>
          <p:cNvPicPr/>
          <p:nvPr/>
        </p:nvPicPr>
        <p:blipFill>
          <a:blip r:embed="rId3"/>
          <a:stretch/>
        </p:blipFill>
        <p:spPr>
          <a:xfrm>
            <a:off x="5220000" y="2520000"/>
            <a:ext cx="3240000" cy="2461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"/>
          <p:cNvPicPr/>
          <p:nvPr/>
        </p:nvPicPr>
        <p:blipFill>
          <a:blip r:embed="rId1"/>
          <a:stretch/>
        </p:blipFill>
        <p:spPr>
          <a:xfrm>
            <a:off x="1260000" y="0"/>
            <a:ext cx="6660000" cy="5059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0"/>
          <p:cNvSpPr/>
          <p:nvPr/>
        </p:nvSpPr>
        <p:spPr>
          <a:xfrm>
            <a:off x="0" y="0"/>
            <a:ext cx="9143640" cy="776880"/>
          </a:xfrm>
          <a:solidFill>
            <a:srgbClr val="1A3C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"/>
          <p:cNvSpPr/>
          <p:nvPr/>
        </p:nvSpPr>
        <p:spPr>
          <a:xfrm>
            <a:off x="457200" y="0"/>
            <a:ext cx="8229240" cy="50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00000"/>
                </a:solidFill>
                <a:effectLst/>
                <a:uFillTx/>
                <a:latin typeface="Georgia"/>
                <a:ea typeface="Georgia"/>
              </a:rPr>
              <a:t>ТЕЛЕС</a:t>
            </a:r>
            <a:r>
              <a:rPr lang="en-US" sz="2600" b="1" u="none" strike="noStrike">
                <a:solidFill>
                  <a:srgbClr val="000000"/>
                </a:solidFill>
                <a:effectLst/>
                <a:uFillTx/>
                <a:latin typeface="Georgia"/>
                <a:ea typeface="Georgia"/>
              </a:rPr>
              <a:t>КОП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2"/>
          <p:cNvSpPr/>
          <p:nvPr/>
        </p:nvSpPr>
        <p:spPr>
          <a:xfrm>
            <a:off x="0" y="777240"/>
            <a:ext cx="9143640" cy="36360"/>
          </a:xfrm>
          <a:solidFill>
            <a:srgbClr val="0288D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640" rIns="90000" bIns="-864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5"/>
          <p:cNvSpPr/>
          <p:nvPr/>
        </p:nvSpPr>
        <p:spPr>
          <a:xfrm>
            <a:off x="365760" y="1554480"/>
            <a:ext cx="4023000" cy="2285640"/>
          </a:xfrm>
          <a:solidFill>
            <a:srgbClr val="FFFFFF"/>
          </a:solidFill>
          <a:ln w="6350">
            <a:solidFill>
              <a:srgbClr val="E0E0E0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6"/>
          <p:cNvSpPr/>
          <p:nvPr/>
        </p:nvSpPr>
        <p:spPr>
          <a:xfrm>
            <a:off x="365760" y="1554480"/>
            <a:ext cx="4023000" cy="411120"/>
          </a:xfrm>
          <a:solidFill>
            <a:srgbClr val="0288D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7"/>
          <p:cNvSpPr/>
          <p:nvPr/>
        </p:nvSpPr>
        <p:spPr>
          <a:xfrm>
            <a:off x="479880" y="372960"/>
            <a:ext cx="3840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Georgia"/>
                <a:ea typeface="Georgia"/>
              </a:rPr>
              <a:t>РЕФРАКТОР (линзовый)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8"/>
          <p:cNvSpPr/>
          <p:nvPr/>
        </p:nvSpPr>
        <p:spPr>
          <a:xfrm>
            <a:off x="502920" y="720000"/>
            <a:ext cx="374868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Объектив с большим F + окуляр с малым F.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endParaRPr lang="ru-RU" sz="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endParaRPr lang="ru-RU" sz="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Лучи от удалённого объекта (≈ параллельный пучок) собираются в фокальной плоскости объектива.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Окуляр (как лупа) увеличивает это изображение. Наблюдатель видит мнимое увеличенное изображение.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9"/>
          <p:cNvSpPr/>
          <p:nvPr/>
        </p:nvSpPr>
        <p:spPr>
          <a:xfrm>
            <a:off x="4572000" y="1554480"/>
            <a:ext cx="4205880" cy="2285640"/>
          </a:xfrm>
          <a:solidFill>
            <a:srgbClr val="FFFFFF"/>
          </a:solidFill>
          <a:ln w="6350">
            <a:solidFill>
              <a:srgbClr val="E0E0E0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10"/>
          <p:cNvSpPr/>
          <p:nvPr/>
        </p:nvSpPr>
        <p:spPr>
          <a:xfrm>
            <a:off x="4572000" y="1554480"/>
            <a:ext cx="4205880" cy="411120"/>
          </a:xfrm>
          <a:solidFill>
            <a:srgbClr val="E651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11"/>
          <p:cNvSpPr/>
          <p:nvPr/>
        </p:nvSpPr>
        <p:spPr>
          <a:xfrm>
            <a:off x="4663440" y="141840"/>
            <a:ext cx="4023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Georgia"/>
                <a:ea typeface="Georgia"/>
              </a:rPr>
              <a:t>РЕФЛЕКТОР (зеркальный)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2"/>
          <p:cNvSpPr/>
          <p:nvPr/>
        </p:nvSpPr>
        <p:spPr>
          <a:xfrm>
            <a:off x="4709160" y="334440"/>
            <a:ext cx="393156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Вогнутое зеркало вместо линзового </a:t>
            </a:r>
            <a:r>
              <a:rPr lang="en-US" sz="12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объектива.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endParaRPr lang="ru-RU" sz="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endParaRPr lang="ru-RU" sz="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Зеркальная конструкция позволяет 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изготавливать объектив большого диаметра.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Это важно для сбора света от слабых 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источников и повышения разрешающей 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способности.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13"/>
          <p:cNvSpPr/>
          <p:nvPr/>
        </p:nvSpPr>
        <p:spPr>
          <a:xfrm>
            <a:off x="365760" y="4023360"/>
            <a:ext cx="4388760" cy="914040"/>
          </a:xfrm>
          <a:solidFill>
            <a:srgbClr val="FFFFFF"/>
          </a:solidFill>
          <a:ln w="6350">
            <a:solidFill>
              <a:srgbClr val="E0E0E0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14"/>
          <p:cNvSpPr/>
          <p:nvPr/>
        </p:nvSpPr>
        <p:spPr>
          <a:xfrm>
            <a:off x="414360" y="256032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A3C5E"/>
                </a:solidFill>
                <a:effectLst/>
                <a:uFillTx/>
                <a:latin typeface="Georgia"/>
                <a:ea typeface="Georgia"/>
              </a:rPr>
              <a:t>Угловое увеличение: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6"/>
          <p:cNvSpPr/>
          <p:nvPr/>
        </p:nvSpPr>
        <p:spPr>
          <a:xfrm>
            <a:off x="360000" y="3060000"/>
            <a:ext cx="1828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Ключевой параметр: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диаметр объектива (светосбор + разрешение)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17"/>
          <p:cNvSpPr/>
          <p:nvPr/>
        </p:nvSpPr>
        <p:spPr>
          <a:xfrm>
            <a:off x="5029200" y="4023360"/>
            <a:ext cx="3748680" cy="914040"/>
          </a:xfrm>
          <a:solidFill>
            <a:srgbClr val="FFFFFF"/>
          </a:solidFill>
          <a:ln w="6350">
            <a:solidFill>
              <a:srgbClr val="E0E0E0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8"/>
          <p:cNvSpPr/>
          <p:nvPr/>
        </p:nvSpPr>
        <p:spPr>
          <a:xfrm>
            <a:off x="305640" y="3960000"/>
            <a:ext cx="34743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Увеличение: 20–50× (учебные) и более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Тип: визуальный прибор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Изображение: мнимое, перевёрнутое, увеличенное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Предмет: d → ∞ (удалённые объекты)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38" name=""/>
              <p:cNvSpPr txBox="1"/>
              <p:nvPr/>
            </p:nvSpPr>
            <p:spPr>
              <a:xfrm>
                <a:off x="2340000" y="2560320"/>
                <a:ext cx="480240" cy="4042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Г</m:t>
                    </m:r>
                    <m:r>
                      <m:t xml:space="preserve">=</m:t>
                    </m:r>
                    <m:f>
                      <m:num>
                        <m:sSub>
                          <m:e>
                            <m:r>
                              <m:t xml:space="preserve">F</m:t>
                            </m:r>
                          </m:e>
                          <m:sub>
                            <m:r>
                              <m:t xml:space="preserve">об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m:t xml:space="preserve">F</m:t>
                            </m:r>
                          </m:e>
                          <m:sub>
                            <m:r>
                              <m:t xml:space="preserve">ок</m:t>
                            </m:r>
                          </m:sub>
                        </m:sSub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138" name=""/>
              <p:cNvSpPr txBox="1"/>
              <p:nvPr/>
            </p:nvSpPr>
            <p:spPr>
              <a:xfrm>
                <a:off x="2340000" y="2560320"/>
                <a:ext cx="480240" cy="40428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p:pic>
        <p:nvPicPr>
          <p:cNvPr id="139" name=""/>
          <p:cNvPicPr/>
          <p:nvPr/>
        </p:nvPicPr>
        <p:blipFill>
          <a:blip r:embed="rId2"/>
          <a:stretch/>
        </p:blipFill>
        <p:spPr>
          <a:xfrm>
            <a:off x="3780000" y="1980000"/>
            <a:ext cx="5220000" cy="3835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0"/>
          <p:cNvSpPr/>
          <p:nvPr/>
        </p:nvSpPr>
        <p:spPr>
          <a:xfrm>
            <a:off x="0" y="0"/>
            <a:ext cx="9143640" cy="776880"/>
          </a:xfrm>
          <a:solidFill>
            <a:srgbClr val="1A3C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"/>
          <p:cNvSpPr/>
          <p:nvPr/>
        </p:nvSpPr>
        <p:spPr>
          <a:xfrm>
            <a:off x="457200" y="9144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00000"/>
                </a:solidFill>
                <a:effectLst/>
                <a:uFillTx/>
                <a:latin typeface="Georgia"/>
                <a:ea typeface="Georgia"/>
              </a:rPr>
              <a:t>ФОТО</a:t>
            </a:r>
            <a:r>
              <a:rPr lang="en-US" sz="2600" b="1" u="none" strike="noStrike">
                <a:solidFill>
                  <a:srgbClr val="000000"/>
                </a:solidFill>
                <a:effectLst/>
                <a:uFillTx/>
                <a:latin typeface="Georgia"/>
                <a:ea typeface="Georgia"/>
              </a:rPr>
              <a:t>АППАР</a:t>
            </a:r>
            <a:r>
              <a:rPr lang="en-US" sz="2600" b="1" u="none" strike="noStrike">
                <a:solidFill>
                  <a:srgbClr val="000000"/>
                </a:solidFill>
                <a:effectLst/>
                <a:uFillTx/>
                <a:latin typeface="Georgia"/>
                <a:ea typeface="Georgia"/>
              </a:rPr>
              <a:t>АТ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2"/>
          <p:cNvSpPr/>
          <p:nvPr/>
        </p:nvSpPr>
        <p:spPr>
          <a:xfrm>
            <a:off x="0" y="777240"/>
            <a:ext cx="9143640" cy="36360"/>
          </a:xfrm>
          <a:solidFill>
            <a:srgbClr val="0288D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640" rIns="90000" bIns="-864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5"/>
          <p:cNvSpPr/>
          <p:nvPr/>
        </p:nvSpPr>
        <p:spPr>
          <a:xfrm>
            <a:off x="365760" y="1554480"/>
            <a:ext cx="5028840" cy="2377080"/>
          </a:xfrm>
          <a:solidFill>
            <a:srgbClr val="FFFFFF"/>
          </a:solidFill>
          <a:ln w="6350">
            <a:solidFill>
              <a:srgbClr val="E0E0E0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6"/>
          <p:cNvSpPr/>
          <p:nvPr/>
        </p:nvSpPr>
        <p:spPr>
          <a:xfrm>
            <a:off x="457200" y="58032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3C5E"/>
                </a:solidFill>
                <a:effectLst/>
                <a:uFillTx/>
                <a:latin typeface="Georgia"/>
                <a:ea typeface="Georgia"/>
              </a:rPr>
              <a:t>Устройство и принцип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7"/>
          <p:cNvSpPr/>
          <p:nvPr/>
        </p:nvSpPr>
        <p:spPr>
          <a:xfrm>
            <a:off x="360000" y="1980000"/>
            <a:ext cx="466308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A3C5E"/>
                </a:solidFill>
                <a:effectLst/>
                <a:uFillTx/>
                <a:latin typeface="Calibri"/>
                <a:ea typeface="Calibri"/>
              </a:rPr>
              <a:t>Объектив 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– система линз в передней части светонепроницаемого корпуса.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A3C5E"/>
                </a:solidFill>
                <a:effectLst/>
                <a:uFillTx/>
                <a:latin typeface="Calibri"/>
                <a:ea typeface="Calibri"/>
              </a:rPr>
              <a:t>Светочувствительный элемент 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(плёнка или цифровая матрица) – в задней части.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Между ними – затвор и диафрагма.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288D1"/>
                </a:solidFill>
                <a:effectLst/>
                <a:uFillTx/>
                <a:latin typeface="Calibri"/>
                <a:ea typeface="Calibri"/>
              </a:rPr>
              <a:t>Принцип: 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объект на расстоянии d ≫ F. Объектив создаёт действительное, перевёрнутое и уменьшенное изображение на матрице.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Для наведения резкости меняется расстояние объектив–матрица.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8"/>
          <p:cNvSpPr/>
          <p:nvPr/>
        </p:nvSpPr>
        <p:spPr>
          <a:xfrm>
            <a:off x="5577840" y="1554480"/>
            <a:ext cx="3200040" cy="2377080"/>
          </a:xfrm>
          <a:solidFill>
            <a:srgbClr val="FFFFFF"/>
          </a:solidFill>
          <a:ln w="6350">
            <a:solidFill>
              <a:srgbClr val="E0E0E0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9"/>
          <p:cNvSpPr/>
          <p:nvPr/>
        </p:nvSpPr>
        <p:spPr>
          <a:xfrm>
            <a:off x="5028840" y="54000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3C5E"/>
                </a:solidFill>
                <a:effectLst/>
                <a:uFillTx/>
                <a:latin typeface="Georgia"/>
                <a:ea typeface="Georgia"/>
              </a:rPr>
              <a:t>Характеристики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0"/>
          <p:cNvSpPr/>
          <p:nvPr/>
        </p:nvSpPr>
        <p:spPr>
          <a:xfrm>
            <a:off x="4860000" y="1051560"/>
            <a:ext cx="428400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Тип: проекционный прибор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Увеличение: &lt; 1 (уменьшение)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Изображение: действительное, перевёрнутое, уменьшенное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288D1"/>
                </a:solidFill>
                <a:effectLst/>
                <a:uFillTx/>
                <a:latin typeface="Calibri"/>
                <a:ea typeface="Calibri"/>
              </a:rPr>
              <a:t>Основной параметр: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фокусное расстояние объектива (определяет угол поля зрения и масштаб)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288D1"/>
                </a:solidFill>
                <a:effectLst/>
                <a:uFillTx/>
                <a:latin typeface="Calibri"/>
                <a:ea typeface="Calibri"/>
              </a:rPr>
              <a:t>Диафрагма: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регулировка количества света + влияние на глубину резкости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11"/>
          <p:cNvSpPr/>
          <p:nvPr/>
        </p:nvSpPr>
        <p:spPr>
          <a:xfrm>
            <a:off x="365760" y="4160520"/>
            <a:ext cx="8412120" cy="776880"/>
          </a:xfrm>
          <a:solidFill>
            <a:srgbClr val="FFFFFF"/>
          </a:solidFill>
          <a:ln w="6350">
            <a:solidFill>
              <a:srgbClr val="E0E0E0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0" name=""/>
          <p:cNvPicPr/>
          <p:nvPr/>
        </p:nvPicPr>
        <p:blipFill>
          <a:blip r:embed="rId1"/>
          <a:stretch/>
        </p:blipFill>
        <p:spPr>
          <a:xfrm>
            <a:off x="5040000" y="3060000"/>
            <a:ext cx="4585680" cy="252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0"/>
          <p:cNvSpPr/>
          <p:nvPr/>
        </p:nvSpPr>
        <p:spPr>
          <a:xfrm>
            <a:off x="0" y="0"/>
            <a:ext cx="9143640" cy="776880"/>
          </a:xfrm>
          <a:solidFill>
            <a:srgbClr val="1A3C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"/>
          <p:cNvSpPr/>
          <p:nvPr/>
        </p:nvSpPr>
        <p:spPr>
          <a:xfrm>
            <a:off x="457200" y="9144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00000"/>
                </a:solidFill>
                <a:effectLst/>
                <a:uFillTx/>
                <a:latin typeface="Georgia"/>
                <a:ea typeface="Georgia"/>
              </a:rPr>
              <a:t>ПРОЕК</a:t>
            </a:r>
            <a:r>
              <a:rPr lang="en-US" sz="2600" b="1" u="none" strike="noStrike">
                <a:solidFill>
                  <a:srgbClr val="000000"/>
                </a:solidFill>
                <a:effectLst/>
                <a:uFillTx/>
                <a:latin typeface="Georgia"/>
                <a:ea typeface="Georgia"/>
              </a:rPr>
              <a:t>ЦИОН</a:t>
            </a:r>
            <a:r>
              <a:rPr lang="en-US" sz="2600" b="1" u="none" strike="noStrike">
                <a:solidFill>
                  <a:srgbClr val="000000"/>
                </a:solidFill>
                <a:effectLst/>
                <a:uFillTx/>
                <a:latin typeface="Georgia"/>
                <a:ea typeface="Georgia"/>
              </a:rPr>
              <a:t>НЫЙ </a:t>
            </a:r>
            <a:r>
              <a:rPr lang="en-US" sz="2600" b="1" u="none" strike="noStrike">
                <a:solidFill>
                  <a:srgbClr val="000000"/>
                </a:solidFill>
                <a:effectLst/>
                <a:uFillTx/>
                <a:latin typeface="Georgia"/>
                <a:ea typeface="Georgia"/>
              </a:rPr>
              <a:t>АППАР</a:t>
            </a:r>
            <a:r>
              <a:rPr lang="en-US" sz="2600" b="1" u="none" strike="noStrike">
                <a:solidFill>
                  <a:srgbClr val="000000"/>
                </a:solidFill>
                <a:effectLst/>
                <a:uFillTx/>
                <a:latin typeface="Georgia"/>
                <a:ea typeface="Georgia"/>
              </a:rPr>
              <a:t>АТ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2"/>
          <p:cNvSpPr/>
          <p:nvPr/>
        </p:nvSpPr>
        <p:spPr>
          <a:xfrm>
            <a:off x="0" y="777240"/>
            <a:ext cx="9143640" cy="36360"/>
          </a:xfrm>
          <a:solidFill>
            <a:srgbClr val="0288D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640" rIns="90000" bIns="-864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5"/>
          <p:cNvSpPr/>
          <p:nvPr/>
        </p:nvSpPr>
        <p:spPr>
          <a:xfrm>
            <a:off x="365760" y="1554480"/>
            <a:ext cx="5028840" cy="1828440"/>
          </a:xfrm>
          <a:solidFill>
            <a:srgbClr val="FFFFFF"/>
          </a:solidFill>
          <a:ln w="6350">
            <a:solidFill>
              <a:srgbClr val="E0E0E0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6"/>
          <p:cNvSpPr/>
          <p:nvPr/>
        </p:nvSpPr>
        <p:spPr>
          <a:xfrm>
            <a:off x="468360" y="58032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3C5E"/>
                </a:solidFill>
                <a:effectLst/>
                <a:uFillTx/>
                <a:latin typeface="Georgia"/>
                <a:ea typeface="Georgia"/>
              </a:rPr>
              <a:t>Устройство и принцип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7"/>
          <p:cNvSpPr/>
          <p:nvPr/>
        </p:nvSpPr>
        <p:spPr>
          <a:xfrm>
            <a:off x="376920" y="1060200"/>
            <a:ext cx="466308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65100"/>
                </a:solidFill>
                <a:effectLst/>
                <a:uFillTx/>
                <a:latin typeface="Calibri"/>
                <a:ea typeface="Calibri"/>
              </a:rPr>
              <a:t>Состав: 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источник света 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(лампа), 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конденсор 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(равномерное 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освещение), 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проекционный 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объектив.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endParaRPr lang="ru-RU" sz="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endParaRPr lang="ru-RU" sz="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Слайд (объект) 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помещается 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между 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конденсором и 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объективом на 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расстоянии F &lt; d 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&lt; 2F.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endParaRPr lang="ru-RU" sz="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endParaRPr lang="ru-RU" sz="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Объектив 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создаёт 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действительное, 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перевёрнутое и 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увеличенное 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изображение на 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удалённом 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экране.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8"/>
          <p:cNvSpPr/>
          <p:nvPr/>
        </p:nvSpPr>
        <p:spPr>
          <a:xfrm>
            <a:off x="5577840" y="1554480"/>
            <a:ext cx="3200040" cy="1828440"/>
          </a:xfrm>
          <a:solidFill>
            <a:srgbClr val="FFFFFF"/>
          </a:solidFill>
          <a:ln w="6350">
            <a:solidFill>
              <a:srgbClr val="E0E0E0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9"/>
          <p:cNvSpPr/>
          <p:nvPr/>
        </p:nvSpPr>
        <p:spPr>
          <a:xfrm>
            <a:off x="5714280" y="58032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3C5E"/>
                </a:solidFill>
                <a:effectLst/>
                <a:uFillTx/>
                <a:latin typeface="Georgia"/>
                <a:ea typeface="Georgia"/>
              </a:rPr>
              <a:t>Характеристики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0"/>
          <p:cNvSpPr/>
          <p:nvPr/>
        </p:nvSpPr>
        <p:spPr>
          <a:xfrm>
            <a:off x="5534280" y="1060200"/>
            <a:ext cx="292572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Тип: проекционный прибор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Увеличение: &gt; 1 (десятки раз)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Изображение: действительное,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перевёрнутое, увеличенное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Положение предмета: F &lt; d &lt; 2F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Основные параметры: мощность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лампы, F объектива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11"/>
          <p:cNvSpPr/>
          <p:nvPr/>
        </p:nvSpPr>
        <p:spPr>
          <a:xfrm>
            <a:off x="365760" y="3611880"/>
            <a:ext cx="8412120" cy="1325520"/>
          </a:xfrm>
          <a:solidFill>
            <a:srgbClr val="FFFFFF"/>
          </a:solidFill>
          <a:ln w="6350">
            <a:solidFill>
              <a:srgbClr val="E0E0E0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2"/>
          <p:cNvSpPr/>
          <p:nvPr/>
        </p:nvSpPr>
        <p:spPr>
          <a:xfrm>
            <a:off x="453960" y="270000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3C5E"/>
                </a:solidFill>
                <a:effectLst/>
                <a:uFillTx/>
                <a:latin typeface="Georgia"/>
                <a:ea typeface="Georgia"/>
              </a:rPr>
              <a:t>Фотоаппарат и проектор – обратные задачи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62" name="Table 0"/>
          <p:cNvGraphicFramePr/>
          <p:nvPr/>
        </p:nvGraphicFramePr>
        <p:xfrm>
          <a:off x="457560" y="3251520"/>
          <a:ext cx="4042440" cy="1458720"/>
        </p:xfrm>
        <a:graphic>
          <a:graphicData uri="http://schemas.openxmlformats.org/drawingml/2006/table">
            <a:tbl>
              <a:tblPr/>
              <a:tblGrid>
                <a:gridCol w="1010880"/>
                <a:gridCol w="1516320"/>
                <a:gridCol w="1515240"/>
              </a:tblGrid>
              <a:tr h="291600">
                <a:tc>
                  <a:txBody>
                    <a:bodyPr anchor="t">
                      <a:noAutofit/>
                    </a:bodyPr>
                    <a:p>
                      <a:endParaRPr lang="en-US" sz="11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Фотоаппарат</a:t>
                      </a:r>
                      <a:endParaRPr lang="ru-RU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Проектор</a:t>
                      </a:r>
                      <a:endParaRPr lang="ru-RU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1565C0"/>
                    </a:solidFill>
                  </a:tcPr>
                </a:tc>
              </a:tr>
              <a:tr h="6177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Задача</a:t>
                      </a:r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Уменьшить далёкий объект до размера матрицы</a:t>
                      </a:r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Увеличить маленький слайд до размера экрана</a:t>
                      </a:r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</a:tr>
              <a:tr h="2746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Расстояние</a:t>
                      </a:r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d ≫ F</a:t>
                      </a:r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F &lt; d &lt; 2F</a:t>
                      </a:r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</a:tr>
              <a:tr h="275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Увеличение</a:t>
                      </a:r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Г &lt; 1</a:t>
                      </a:r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Г &gt; 1</a:t>
                      </a:r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63" name=""/>
          <p:cNvPicPr/>
          <p:nvPr/>
        </p:nvPicPr>
        <p:blipFill>
          <a:blip r:embed="rId1"/>
          <a:stretch/>
        </p:blipFill>
        <p:spPr>
          <a:xfrm>
            <a:off x="4680000" y="2542320"/>
            <a:ext cx="4715280" cy="2601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0"/>
          <p:cNvSpPr/>
          <p:nvPr/>
        </p:nvSpPr>
        <p:spPr>
          <a:xfrm>
            <a:off x="0" y="0"/>
            <a:ext cx="9143640" cy="776880"/>
          </a:xfrm>
          <a:solidFill>
            <a:srgbClr val="1A3C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"/>
          <p:cNvSpPr/>
          <p:nvPr/>
        </p:nvSpPr>
        <p:spPr>
          <a:xfrm>
            <a:off x="457200" y="9144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00000"/>
                </a:solidFill>
                <a:effectLst/>
                <a:uFillTx/>
                <a:latin typeface="Georgia"/>
                <a:ea typeface="Georgia"/>
              </a:rPr>
              <a:t>СРАВН</a:t>
            </a:r>
            <a:r>
              <a:rPr lang="en-US" sz="2600" b="1" u="none" strike="noStrike">
                <a:solidFill>
                  <a:srgbClr val="000000"/>
                </a:solidFill>
                <a:effectLst/>
                <a:uFillTx/>
                <a:latin typeface="Georgia"/>
                <a:ea typeface="Georgia"/>
              </a:rPr>
              <a:t>ИТЕЛЬ</a:t>
            </a:r>
            <a:r>
              <a:rPr lang="en-US" sz="2600" b="1" u="none" strike="noStrike">
                <a:solidFill>
                  <a:srgbClr val="000000"/>
                </a:solidFill>
                <a:effectLst/>
                <a:uFillTx/>
                <a:latin typeface="Georgia"/>
                <a:ea typeface="Georgia"/>
              </a:rPr>
              <a:t>НАЯ </a:t>
            </a:r>
            <a:r>
              <a:rPr lang="en-US" sz="2600" b="1" u="none" strike="noStrike">
                <a:solidFill>
                  <a:srgbClr val="000000"/>
                </a:solidFill>
                <a:effectLst/>
                <a:uFillTx/>
                <a:latin typeface="Georgia"/>
                <a:ea typeface="Georgia"/>
              </a:rPr>
              <a:t>ТАБЛИ</a:t>
            </a:r>
            <a:r>
              <a:rPr lang="en-US" sz="2600" b="1" u="none" strike="noStrike">
                <a:solidFill>
                  <a:srgbClr val="000000"/>
                </a:solidFill>
                <a:effectLst/>
                <a:uFillTx/>
                <a:latin typeface="Georgia"/>
                <a:ea typeface="Georgia"/>
              </a:rPr>
              <a:t>ЦА </a:t>
            </a:r>
            <a:r>
              <a:rPr lang="en-US" sz="2600" b="1" u="none" strike="noStrike">
                <a:solidFill>
                  <a:srgbClr val="000000"/>
                </a:solidFill>
                <a:effectLst/>
                <a:uFillTx/>
                <a:latin typeface="Georgia"/>
                <a:ea typeface="Georgia"/>
              </a:rPr>
              <a:t>ХАРАК</a:t>
            </a:r>
            <a:r>
              <a:rPr lang="en-US" sz="2600" b="1" u="none" strike="noStrike">
                <a:solidFill>
                  <a:srgbClr val="000000"/>
                </a:solidFill>
                <a:effectLst/>
                <a:uFillTx/>
                <a:latin typeface="Georgia"/>
                <a:ea typeface="Georgia"/>
              </a:rPr>
              <a:t>ТЕРИСТ</a:t>
            </a:r>
            <a:r>
              <a:rPr lang="en-US" sz="2600" b="1" u="none" strike="noStrike">
                <a:solidFill>
                  <a:srgbClr val="000000"/>
                </a:solidFill>
                <a:effectLst/>
                <a:uFillTx/>
                <a:latin typeface="Georgia"/>
                <a:ea typeface="Georgia"/>
              </a:rPr>
              <a:t>ИК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2"/>
          <p:cNvSpPr/>
          <p:nvPr/>
        </p:nvSpPr>
        <p:spPr>
          <a:xfrm>
            <a:off x="0" y="777240"/>
            <a:ext cx="9143640" cy="36360"/>
          </a:xfrm>
          <a:solidFill>
            <a:srgbClr val="0288D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640" rIns="90000" bIns="-864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7" name="Image 0" descr="preencoded.png"/>
          <p:cNvPicPr/>
          <p:nvPr/>
        </p:nvPicPr>
        <p:blipFill>
          <a:blip r:embed="rId1"/>
          <a:stretch/>
        </p:blipFill>
        <p:spPr>
          <a:xfrm>
            <a:off x="457200" y="68544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8" name="Text 4"/>
          <p:cNvSpPr/>
          <p:nvPr/>
        </p:nvSpPr>
        <p:spPr>
          <a:xfrm>
            <a:off x="868680" y="68544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Продукт проекта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69" name="Table 0"/>
          <p:cNvGraphicFramePr/>
          <p:nvPr/>
        </p:nvGraphicFramePr>
        <p:xfrm>
          <a:off x="274320" y="1325880"/>
          <a:ext cx="8595000" cy="3247200"/>
        </p:xfrm>
        <a:graphic>
          <a:graphicData uri="http://schemas.openxmlformats.org/drawingml/2006/table">
            <a:tbl>
              <a:tblPr/>
              <a:tblGrid>
                <a:gridCol w="1463040"/>
                <a:gridCol w="1188720"/>
                <a:gridCol w="1371600"/>
                <a:gridCol w="1554480"/>
                <a:gridCol w="1463040"/>
                <a:gridCol w="1554480"/>
              </a:tblGrid>
              <a:tr h="32004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Характеристика</a:t>
                      </a:r>
                      <a:endParaRPr lang="ru-RU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BBBBBB"/>
                      </a:solidFill>
                      <a:prstDash val="solid"/>
                    </a:lnL>
                    <a:lnR w="6480">
                      <a:solidFill>
                        <a:srgbClr val="BBBBBB"/>
                      </a:solidFill>
                      <a:prstDash val="solid"/>
                    </a:lnR>
                    <a:lnT w="6480">
                      <a:solidFill>
                        <a:srgbClr val="BBBBBB"/>
                      </a:solidFill>
                      <a:prstDash val="solid"/>
                    </a:lnT>
                    <a:lnB w="6480">
                      <a:solidFill>
                        <a:srgbClr val="BBBBBB"/>
                      </a:solidFill>
                      <a:prstDash val="soli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Лупа</a:t>
                      </a:r>
                      <a:endParaRPr lang="ru-RU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BBBBBB"/>
                      </a:solidFill>
                      <a:prstDash val="solid"/>
                    </a:lnL>
                    <a:lnR w="6480">
                      <a:solidFill>
                        <a:srgbClr val="BBBBBB"/>
                      </a:solidFill>
                      <a:prstDash val="solid"/>
                    </a:lnR>
                    <a:lnT w="6480">
                      <a:solidFill>
                        <a:srgbClr val="BBBBBB"/>
                      </a:solidFill>
                      <a:prstDash val="solid"/>
                    </a:lnT>
                    <a:lnB w="6480">
                      <a:solidFill>
                        <a:srgbClr val="BBBBBB"/>
                      </a:solidFill>
                      <a:prstDash val="soli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Микроскоп</a:t>
                      </a:r>
                      <a:endParaRPr lang="ru-RU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BBBBBB"/>
                      </a:solidFill>
                      <a:prstDash val="solid"/>
                    </a:lnL>
                    <a:lnR w="6480">
                      <a:solidFill>
                        <a:srgbClr val="BBBBBB"/>
                      </a:solidFill>
                      <a:prstDash val="solid"/>
                    </a:lnR>
                    <a:lnT w="6480">
                      <a:solidFill>
                        <a:srgbClr val="BBBBBB"/>
                      </a:solidFill>
                      <a:prstDash val="solid"/>
                    </a:lnT>
                    <a:lnB w="6480">
                      <a:solidFill>
                        <a:srgbClr val="BBBBBB"/>
                      </a:solidFill>
                      <a:prstDash val="soli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Телескоп</a:t>
                      </a:r>
                      <a:endParaRPr lang="ru-RU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BBBBBB"/>
                      </a:solidFill>
                      <a:prstDash val="solid"/>
                    </a:lnL>
                    <a:lnR w="6480">
                      <a:solidFill>
                        <a:srgbClr val="BBBBBB"/>
                      </a:solidFill>
                      <a:prstDash val="solid"/>
                    </a:lnR>
                    <a:lnT w="6480">
                      <a:solidFill>
                        <a:srgbClr val="BBBBBB"/>
                      </a:solidFill>
                      <a:prstDash val="solid"/>
                    </a:lnT>
                    <a:lnB w="6480">
                      <a:solidFill>
                        <a:srgbClr val="BBBBBB"/>
                      </a:solidFill>
                      <a:prstDash val="soli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Фотоаппарат</a:t>
                      </a:r>
                      <a:endParaRPr lang="ru-RU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BBBBBB"/>
                      </a:solidFill>
                      <a:prstDash val="solid"/>
                    </a:lnL>
                    <a:lnR w="6480">
                      <a:solidFill>
                        <a:srgbClr val="BBBBBB"/>
                      </a:solidFill>
                      <a:prstDash val="solid"/>
                    </a:lnR>
                    <a:lnT w="6480">
                      <a:solidFill>
                        <a:srgbClr val="BBBBBB"/>
                      </a:solidFill>
                      <a:prstDash val="solid"/>
                    </a:lnT>
                    <a:lnB w="6480">
                      <a:solidFill>
                        <a:srgbClr val="BBBBBB"/>
                      </a:solidFill>
                      <a:prstDash val="soli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Проектор</a:t>
                      </a:r>
                      <a:endParaRPr lang="ru-RU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BBBBBB"/>
                      </a:solidFill>
                      <a:prstDash val="solid"/>
                    </a:lnL>
                    <a:lnR w="6480">
                      <a:solidFill>
                        <a:srgbClr val="BBBBBB"/>
                      </a:solidFill>
                      <a:prstDash val="solid"/>
                    </a:lnR>
                    <a:lnT w="6480">
                      <a:solidFill>
                        <a:srgbClr val="BBBBBB"/>
                      </a:solidFill>
                      <a:prstDash val="solid"/>
                    </a:lnT>
                    <a:lnB w="6480">
                      <a:solidFill>
                        <a:srgbClr val="BBBBBB"/>
                      </a:solidFill>
                      <a:prstDash val="solid"/>
                    </a:lnB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1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Тип прибора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BBBBBB"/>
                      </a:solidFill>
                      <a:prstDash val="solid"/>
                    </a:lnL>
                    <a:lnR w="6480">
                      <a:solidFill>
                        <a:srgbClr val="BBBBBB"/>
                      </a:solidFill>
                      <a:prstDash val="solid"/>
                    </a:lnR>
                    <a:lnT w="6480">
                      <a:solidFill>
                        <a:srgbClr val="BBBBBB"/>
                      </a:solidFill>
                      <a:prstDash val="solid"/>
                    </a:lnT>
                    <a:lnB w="6480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Визуальный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BBBBBB"/>
                      </a:solidFill>
                      <a:prstDash val="solid"/>
                    </a:lnL>
                    <a:lnR w="6480">
                      <a:solidFill>
                        <a:srgbClr val="BBBBBB"/>
                      </a:solidFill>
                      <a:prstDash val="solid"/>
                    </a:lnR>
                    <a:lnT w="6480">
                      <a:solidFill>
                        <a:srgbClr val="BBBBBB"/>
                      </a:solidFill>
                      <a:prstDash val="solid"/>
                    </a:lnT>
                    <a:lnB w="6480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Визуальный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BBBBBB"/>
                      </a:solidFill>
                      <a:prstDash val="solid"/>
                    </a:lnL>
                    <a:lnR w="6480">
                      <a:solidFill>
                        <a:srgbClr val="BBBBBB"/>
                      </a:solidFill>
                      <a:prstDash val="solid"/>
                    </a:lnR>
                    <a:lnT w="6480">
                      <a:solidFill>
                        <a:srgbClr val="BBBBBB"/>
                      </a:solidFill>
                      <a:prstDash val="solid"/>
                    </a:lnT>
                    <a:lnB w="6480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Визуальный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BBBBBB"/>
                      </a:solidFill>
                      <a:prstDash val="solid"/>
                    </a:lnL>
                    <a:lnR w="6480">
                      <a:solidFill>
                        <a:srgbClr val="BBBBBB"/>
                      </a:solidFill>
                      <a:prstDash val="solid"/>
                    </a:lnR>
                    <a:lnT w="6480">
                      <a:solidFill>
                        <a:srgbClr val="BBBBBB"/>
                      </a:solidFill>
                      <a:prstDash val="solid"/>
                    </a:lnT>
                    <a:lnB w="6480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Проекционный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BBBBBB"/>
                      </a:solidFill>
                      <a:prstDash val="solid"/>
                    </a:lnL>
                    <a:lnR w="6480">
                      <a:solidFill>
                        <a:srgbClr val="BBBBBB"/>
                      </a:solidFill>
                      <a:prstDash val="solid"/>
                    </a:lnR>
                    <a:lnT w="6480">
                      <a:solidFill>
                        <a:srgbClr val="BBBBBB"/>
                      </a:solidFill>
                      <a:prstDash val="solid"/>
                    </a:lnT>
                    <a:lnB w="6480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Проекционный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BBBBBB"/>
                      </a:solidFill>
                      <a:prstDash val="solid"/>
                    </a:lnL>
                    <a:lnR w="6480">
                      <a:solidFill>
                        <a:srgbClr val="BBBBBB"/>
                      </a:solidFill>
                      <a:prstDash val="solid"/>
                    </a:lnR>
                    <a:lnT w="6480">
                      <a:solidFill>
                        <a:srgbClr val="BBBBBB"/>
                      </a:solidFill>
                      <a:prstDash val="solid"/>
                    </a:lnT>
                    <a:lnB w="6480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1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Оптические элементы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BBBBBB"/>
                      </a:solidFill>
                      <a:prstDash val="solid"/>
                    </a:lnL>
                    <a:lnR w="6480">
                      <a:solidFill>
                        <a:srgbClr val="BBBBBB"/>
                      </a:solidFill>
                      <a:prstDash val="solid"/>
                    </a:lnR>
                    <a:lnT w="6480">
                      <a:solidFill>
                        <a:srgbClr val="BBBBBB"/>
                      </a:solidFill>
                      <a:prstDash val="solid"/>
                    </a:lnT>
                    <a:lnB w="6480">
                      <a:solidFill>
                        <a:srgbClr val="BBBBBB"/>
                      </a:solidFill>
                      <a:prstDash val="soli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1 собирающая линза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BBBBBB"/>
                      </a:solidFill>
                      <a:prstDash val="solid"/>
                    </a:lnL>
                    <a:lnR w="6480">
                      <a:solidFill>
                        <a:srgbClr val="BBBBBB"/>
                      </a:solidFill>
                      <a:prstDash val="solid"/>
                    </a:lnR>
                    <a:lnT w="6480">
                      <a:solidFill>
                        <a:srgbClr val="BBBBBB"/>
                      </a:solidFill>
                      <a:prstDash val="solid"/>
                    </a:lnT>
                    <a:lnB w="6480">
                      <a:solidFill>
                        <a:srgbClr val="BBBBBB"/>
                      </a:solidFill>
                      <a:prstDash val="soli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Объектив + окуляр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BBBBBB"/>
                      </a:solidFill>
                      <a:prstDash val="solid"/>
                    </a:lnL>
                    <a:lnR w="6480">
                      <a:solidFill>
                        <a:srgbClr val="BBBBBB"/>
                      </a:solidFill>
                      <a:prstDash val="solid"/>
                    </a:lnR>
                    <a:lnT w="6480">
                      <a:solidFill>
                        <a:srgbClr val="BBBBBB"/>
                      </a:solidFill>
                      <a:prstDash val="solid"/>
                    </a:lnT>
                    <a:lnB w="6480">
                      <a:solidFill>
                        <a:srgbClr val="BBBBBB"/>
                      </a:solidFill>
                      <a:prstDash val="soli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Объектив + окуляр (линзы или зеркало+линза)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BBBBBB"/>
                      </a:solidFill>
                      <a:prstDash val="solid"/>
                    </a:lnL>
                    <a:lnR w="6480">
                      <a:solidFill>
                        <a:srgbClr val="BBBBBB"/>
                      </a:solidFill>
                      <a:prstDash val="solid"/>
                    </a:lnR>
                    <a:lnT w="6480">
                      <a:solidFill>
                        <a:srgbClr val="BBBBBB"/>
                      </a:solidFill>
                      <a:prstDash val="solid"/>
                    </a:lnT>
                    <a:lnB w="6480">
                      <a:solidFill>
                        <a:srgbClr val="BBBBBB"/>
                      </a:solidFill>
                      <a:prstDash val="soli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Система линз + матрица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BBBBBB"/>
                      </a:solidFill>
                      <a:prstDash val="solid"/>
                    </a:lnL>
                    <a:lnR w="6480">
                      <a:solidFill>
                        <a:srgbClr val="BBBBBB"/>
                      </a:solidFill>
                      <a:prstDash val="solid"/>
                    </a:lnR>
                    <a:lnT w="6480">
                      <a:solidFill>
                        <a:srgbClr val="BBBBBB"/>
                      </a:solidFill>
                      <a:prstDash val="solid"/>
                    </a:lnT>
                    <a:lnB w="6480">
                      <a:solidFill>
                        <a:srgbClr val="BBBBBB"/>
                      </a:solidFill>
                      <a:prstDash val="soli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Конденсор + объектив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BBBBBB"/>
                      </a:solidFill>
                      <a:prstDash val="solid"/>
                    </a:lnL>
                    <a:lnR w="6480">
                      <a:solidFill>
                        <a:srgbClr val="BBBBBB"/>
                      </a:solidFill>
                      <a:prstDash val="solid"/>
                    </a:lnR>
                    <a:lnT w="6480">
                      <a:solidFill>
                        <a:srgbClr val="BBBBBB"/>
                      </a:solidFill>
                      <a:prstDash val="solid"/>
                    </a:lnT>
                    <a:lnB w="6480">
                      <a:solidFill>
                        <a:srgbClr val="BBBBBB"/>
                      </a:solidFill>
                      <a:prstDash val="solid"/>
                    </a:lnB>
                    <a:solidFill>
                      <a:srgbClr val="E8F0FE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1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Тип изображения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BBBBBB"/>
                      </a:solidFill>
                      <a:prstDash val="solid"/>
                    </a:lnL>
                    <a:lnR w="6480">
                      <a:solidFill>
                        <a:srgbClr val="BBBBBB"/>
                      </a:solidFill>
                      <a:prstDash val="solid"/>
                    </a:lnR>
                    <a:lnT w="6480">
                      <a:solidFill>
                        <a:srgbClr val="BBBBBB"/>
                      </a:solidFill>
                      <a:prstDash val="solid"/>
                    </a:lnT>
                    <a:lnB w="6480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Мнимое, прямое, увелич.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BBBBBB"/>
                      </a:solidFill>
                      <a:prstDash val="solid"/>
                    </a:lnL>
                    <a:lnR w="6480">
                      <a:solidFill>
                        <a:srgbClr val="BBBBBB"/>
                      </a:solidFill>
                      <a:prstDash val="solid"/>
                    </a:lnR>
                    <a:lnT w="6480">
                      <a:solidFill>
                        <a:srgbClr val="BBBBBB"/>
                      </a:solidFill>
                      <a:prstDash val="solid"/>
                    </a:lnT>
                    <a:lnB w="6480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Мнимое, перевёрн., увелич.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BBBBBB"/>
                      </a:solidFill>
                      <a:prstDash val="solid"/>
                    </a:lnL>
                    <a:lnR w="6480">
                      <a:solidFill>
                        <a:srgbClr val="BBBBBB"/>
                      </a:solidFill>
                      <a:prstDash val="solid"/>
                    </a:lnR>
                    <a:lnT w="6480">
                      <a:solidFill>
                        <a:srgbClr val="BBBBBB"/>
                      </a:solidFill>
                      <a:prstDash val="solid"/>
                    </a:lnT>
                    <a:lnB w="6480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Мнимое, перевёрн., увелич.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BBBBBB"/>
                      </a:solidFill>
                      <a:prstDash val="solid"/>
                    </a:lnL>
                    <a:lnR w="6480">
                      <a:solidFill>
                        <a:srgbClr val="BBBBBB"/>
                      </a:solidFill>
                      <a:prstDash val="solid"/>
                    </a:lnR>
                    <a:lnT w="6480">
                      <a:solidFill>
                        <a:srgbClr val="BBBBBB"/>
                      </a:solidFill>
                      <a:prstDash val="solid"/>
                    </a:lnT>
                    <a:lnB w="6480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Действит., перевёрн., уменьш.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BBBBBB"/>
                      </a:solidFill>
                      <a:prstDash val="solid"/>
                    </a:lnL>
                    <a:lnR w="6480">
                      <a:solidFill>
                        <a:srgbClr val="BBBBBB"/>
                      </a:solidFill>
                      <a:prstDash val="solid"/>
                    </a:lnR>
                    <a:lnT w="6480">
                      <a:solidFill>
                        <a:srgbClr val="BBBBBB"/>
                      </a:solidFill>
                      <a:prstDash val="solid"/>
                    </a:lnT>
                    <a:lnB w="6480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Действит., перевёрн., увелич.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BBBBBB"/>
                      </a:solidFill>
                      <a:prstDash val="solid"/>
                    </a:lnL>
                    <a:lnR w="6480">
                      <a:solidFill>
                        <a:srgbClr val="BBBBBB"/>
                      </a:solidFill>
                      <a:prstDash val="solid"/>
                    </a:lnR>
                    <a:lnT w="6480">
                      <a:solidFill>
                        <a:srgbClr val="BBBBBB"/>
                      </a:solidFill>
                      <a:prstDash val="solid"/>
                    </a:lnT>
                    <a:lnB w="6480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1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Увеличение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BBBBBB"/>
                      </a:solidFill>
                      <a:prstDash val="solid"/>
                    </a:lnL>
                    <a:lnR w="6480">
                      <a:solidFill>
                        <a:srgbClr val="BBBBBB"/>
                      </a:solidFill>
                      <a:prstDash val="solid"/>
                    </a:lnR>
                    <a:lnT w="6480">
                      <a:solidFill>
                        <a:srgbClr val="BBBBBB"/>
                      </a:solidFill>
                      <a:prstDash val="solid"/>
                    </a:lnT>
                    <a:lnB w="6480">
                      <a:solidFill>
                        <a:srgbClr val="BBBBBB"/>
                      </a:solidFill>
                      <a:prstDash val="soli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2–10×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BBBBBB"/>
                      </a:solidFill>
                      <a:prstDash val="solid"/>
                    </a:lnL>
                    <a:lnR w="6480">
                      <a:solidFill>
                        <a:srgbClr val="BBBBBB"/>
                      </a:solidFill>
                      <a:prstDash val="solid"/>
                    </a:lnR>
                    <a:lnT w="6480">
                      <a:solidFill>
                        <a:srgbClr val="BBBBBB"/>
                      </a:solidFill>
                      <a:prstDash val="solid"/>
                    </a:lnT>
                    <a:lnB w="6480">
                      <a:solidFill>
                        <a:srgbClr val="BBBBBB"/>
                      </a:solidFill>
                      <a:prstDash val="soli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20–2000×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BBBBBB"/>
                      </a:solidFill>
                      <a:prstDash val="solid"/>
                    </a:lnL>
                    <a:lnR w="6480">
                      <a:solidFill>
                        <a:srgbClr val="BBBBBB"/>
                      </a:solidFill>
                      <a:prstDash val="solid"/>
                    </a:lnR>
                    <a:lnT w="6480">
                      <a:solidFill>
                        <a:srgbClr val="BBBBBB"/>
                      </a:solidFill>
                      <a:prstDash val="solid"/>
                    </a:lnT>
                    <a:lnB w="6480">
                      <a:solidFill>
                        <a:srgbClr val="BBBBBB"/>
                      </a:solidFill>
                      <a:prstDash val="soli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20–50× (учебные)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BBBBBB"/>
                      </a:solidFill>
                      <a:prstDash val="solid"/>
                    </a:lnL>
                    <a:lnR w="6480">
                      <a:solidFill>
                        <a:srgbClr val="BBBBBB"/>
                      </a:solidFill>
                      <a:prstDash val="solid"/>
                    </a:lnR>
                    <a:lnT w="6480">
                      <a:solidFill>
                        <a:srgbClr val="BBBBBB"/>
                      </a:solidFill>
                      <a:prstDash val="solid"/>
                    </a:lnT>
                    <a:lnB w="6480">
                      <a:solidFill>
                        <a:srgbClr val="BBBBBB"/>
                      </a:solidFill>
                      <a:prstDash val="soli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&lt; 1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BBBBBB"/>
                      </a:solidFill>
                      <a:prstDash val="solid"/>
                    </a:lnL>
                    <a:lnR w="6480">
                      <a:solidFill>
                        <a:srgbClr val="BBBBBB"/>
                      </a:solidFill>
                      <a:prstDash val="solid"/>
                    </a:lnR>
                    <a:lnT w="6480">
                      <a:solidFill>
                        <a:srgbClr val="BBBBBB"/>
                      </a:solidFill>
                      <a:prstDash val="solid"/>
                    </a:lnT>
                    <a:lnB w="6480">
                      <a:solidFill>
                        <a:srgbClr val="BBBBBB"/>
                      </a:solidFill>
                      <a:prstDash val="soli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&gt; 1 (десятки раз)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BBBBBB"/>
                      </a:solidFill>
                      <a:prstDash val="solid"/>
                    </a:lnL>
                    <a:lnR w="6480">
                      <a:solidFill>
                        <a:srgbClr val="BBBBBB"/>
                      </a:solidFill>
                      <a:prstDash val="solid"/>
                    </a:lnR>
                    <a:lnT w="6480">
                      <a:solidFill>
                        <a:srgbClr val="BBBBBB"/>
                      </a:solidFill>
                      <a:prstDash val="solid"/>
                    </a:lnT>
                    <a:lnB w="6480">
                      <a:solidFill>
                        <a:srgbClr val="BBBBBB"/>
                      </a:solidFill>
                      <a:prstDash val="solid"/>
                    </a:lnB>
                    <a:solidFill>
                      <a:srgbClr val="E8F0FE"/>
                    </a:solidFill>
                  </a:tcPr>
                </a:tc>
              </a:tr>
              <a:tr h="4114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1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Расположение предмета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BBBBBB"/>
                      </a:solidFill>
                      <a:prstDash val="solid"/>
                    </a:lnL>
                    <a:lnR w="6480">
                      <a:solidFill>
                        <a:srgbClr val="BBBBBB"/>
                      </a:solidFill>
                      <a:prstDash val="solid"/>
                    </a:lnR>
                    <a:lnT w="6480">
                      <a:solidFill>
                        <a:srgbClr val="BBBBBB"/>
                      </a:solidFill>
                      <a:prstDash val="solid"/>
                    </a:lnT>
                    <a:lnB w="6480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d &lt; F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BBBBBB"/>
                      </a:solidFill>
                      <a:prstDash val="solid"/>
                    </a:lnL>
                    <a:lnR w="6480">
                      <a:solidFill>
                        <a:srgbClr val="BBBBBB"/>
                      </a:solidFill>
                      <a:prstDash val="solid"/>
                    </a:lnR>
                    <a:lnT w="6480">
                      <a:solidFill>
                        <a:srgbClr val="BBBBBB"/>
                      </a:solidFill>
                      <a:prstDash val="solid"/>
                    </a:lnT>
                    <a:lnB w="6480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BBBBBB"/>
                      </a:solidFill>
                      <a:prstDash val="solid"/>
                    </a:lnL>
                    <a:lnR w="6480">
                      <a:solidFill>
                        <a:srgbClr val="BBBBBB"/>
                      </a:solidFill>
                      <a:prstDash val="solid"/>
                    </a:lnR>
                    <a:lnT w="6480">
                      <a:solidFill>
                        <a:srgbClr val="BBBBBB"/>
                      </a:solidFill>
                      <a:prstDash val="solid"/>
                    </a:lnT>
                    <a:lnB w="6480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d → ∞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BBBBBB"/>
                      </a:solidFill>
                      <a:prstDash val="solid"/>
                    </a:lnL>
                    <a:lnR w="6480">
                      <a:solidFill>
                        <a:srgbClr val="BBBBBB"/>
                      </a:solidFill>
                      <a:prstDash val="solid"/>
                    </a:lnR>
                    <a:lnT w="6480">
                      <a:solidFill>
                        <a:srgbClr val="BBBBBB"/>
                      </a:solidFill>
                      <a:prstDash val="solid"/>
                    </a:lnT>
                    <a:lnB w="6480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d ≫ F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BBBBBB"/>
                      </a:solidFill>
                      <a:prstDash val="solid"/>
                    </a:lnL>
                    <a:lnR w="6480">
                      <a:solidFill>
                        <a:srgbClr val="BBBBBB"/>
                      </a:solidFill>
                      <a:prstDash val="solid"/>
                    </a:lnR>
                    <a:lnT w="6480">
                      <a:solidFill>
                        <a:srgbClr val="BBBBBB"/>
                      </a:solidFill>
                      <a:prstDash val="solid"/>
                    </a:lnT>
                    <a:lnB w="6480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F &lt; d &lt; 2F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BBBBBB"/>
                      </a:solidFill>
                      <a:prstDash val="solid"/>
                    </a:lnL>
                    <a:lnR w="6480">
                      <a:solidFill>
                        <a:srgbClr val="BBBBBB"/>
                      </a:solidFill>
                      <a:prstDash val="solid"/>
                    </a:lnR>
                    <a:lnT w="6480">
                      <a:solidFill>
                        <a:srgbClr val="BBBBBB"/>
                      </a:solidFill>
                      <a:prstDash val="solid"/>
                    </a:lnT>
                    <a:lnB w="6480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1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Основной параметр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BBBBBB"/>
                      </a:solidFill>
                      <a:prstDash val="solid"/>
                    </a:lnL>
                    <a:lnR w="6480">
                      <a:solidFill>
                        <a:srgbClr val="BBBBBB"/>
                      </a:solidFill>
                      <a:prstDash val="solid"/>
                    </a:lnR>
                    <a:lnT w="6480">
                      <a:solidFill>
                        <a:srgbClr val="BBBBBB"/>
                      </a:solidFill>
                      <a:prstDash val="solid"/>
                    </a:lnT>
                    <a:lnB w="6480">
                      <a:solidFill>
                        <a:srgbClr val="BBBBBB"/>
                      </a:solidFill>
                      <a:prstDash val="soli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F линзы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BBBBBB"/>
                      </a:solidFill>
                      <a:prstDash val="solid"/>
                    </a:lnL>
                    <a:lnR w="6480">
                      <a:solidFill>
                        <a:srgbClr val="BBBBBB"/>
                      </a:solidFill>
                      <a:prstDash val="solid"/>
                    </a:lnR>
                    <a:lnT w="6480">
                      <a:solidFill>
                        <a:srgbClr val="BBBBBB"/>
                      </a:solidFill>
                      <a:prstDash val="solid"/>
                    </a:lnT>
                    <a:lnB w="6480">
                      <a:solidFill>
                        <a:srgbClr val="BBBBBB"/>
                      </a:solidFill>
                      <a:prstDash val="soli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BBBBBB"/>
                      </a:solidFill>
                      <a:prstDash val="solid"/>
                    </a:lnL>
                    <a:lnR w="6480">
                      <a:solidFill>
                        <a:srgbClr val="BBBBBB"/>
                      </a:solidFill>
                      <a:prstDash val="solid"/>
                    </a:lnR>
                    <a:lnT w="6480">
                      <a:solidFill>
                        <a:srgbClr val="BBBBBB"/>
                      </a:solidFill>
                      <a:prstDash val="solid"/>
                    </a:lnT>
                    <a:lnB w="6480">
                      <a:solidFill>
                        <a:srgbClr val="BBBBBB"/>
                      </a:solidFill>
                      <a:prstDash val="soli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Диаметр и F_об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BBBBBB"/>
                      </a:solidFill>
                      <a:prstDash val="solid"/>
                    </a:lnL>
                    <a:lnR w="6480">
                      <a:solidFill>
                        <a:srgbClr val="BBBBBB"/>
                      </a:solidFill>
                      <a:prstDash val="solid"/>
                    </a:lnR>
                    <a:lnT w="6480">
                      <a:solidFill>
                        <a:srgbClr val="BBBBBB"/>
                      </a:solidFill>
                      <a:prstDash val="solid"/>
                    </a:lnT>
                    <a:lnB w="6480">
                      <a:solidFill>
                        <a:srgbClr val="BBBBBB"/>
                      </a:solidFill>
                      <a:prstDash val="soli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F объектива, светосила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BBBBBB"/>
                      </a:solidFill>
                      <a:prstDash val="solid"/>
                    </a:lnL>
                    <a:lnR w="6480">
                      <a:solidFill>
                        <a:srgbClr val="BBBBBB"/>
                      </a:solidFill>
                      <a:prstDash val="solid"/>
                    </a:lnR>
                    <a:lnT w="6480">
                      <a:solidFill>
                        <a:srgbClr val="BBBBBB"/>
                      </a:solidFill>
                      <a:prstDash val="solid"/>
                    </a:lnT>
                    <a:lnB w="6480">
                      <a:solidFill>
                        <a:srgbClr val="BBBBBB"/>
                      </a:solidFill>
                      <a:prstDash val="soli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Мощность лампы, F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BBBBBB"/>
                      </a:solidFill>
                      <a:prstDash val="solid"/>
                    </a:lnL>
                    <a:lnR w="6480">
                      <a:solidFill>
                        <a:srgbClr val="BBBBBB"/>
                      </a:solidFill>
                      <a:prstDash val="solid"/>
                    </a:lnR>
                    <a:lnT w="6480">
                      <a:solidFill>
                        <a:srgbClr val="BBBBBB"/>
                      </a:solidFill>
                      <a:prstDash val="solid"/>
                    </a:lnT>
                    <a:lnB w="6480">
                      <a:solidFill>
                        <a:srgbClr val="BBBBBB"/>
                      </a:solidFill>
                      <a:prstDash val="solid"/>
                    </a:lnB>
                    <a:solidFill>
                      <a:srgbClr val="E8F0FE"/>
                    </a:solidFill>
                  </a:tcPr>
                </a:tc>
              </a:tr>
              <a:tr h="4114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1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Назначение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BBBBBB"/>
                      </a:solidFill>
                      <a:prstDash val="solid"/>
                    </a:lnL>
                    <a:lnR w="6480">
                      <a:solidFill>
                        <a:srgbClr val="BBBBBB"/>
                      </a:solidFill>
                      <a:prstDash val="solid"/>
                    </a:lnR>
                    <a:lnT w="6480">
                      <a:solidFill>
                        <a:srgbClr val="BBBBBB"/>
                      </a:solidFill>
                      <a:prstDash val="solid"/>
                    </a:lnT>
                    <a:lnB w="6480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Мелкие объекты вблизи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BBBBBB"/>
                      </a:solidFill>
                      <a:prstDash val="solid"/>
                    </a:lnL>
                    <a:lnR w="6480">
                      <a:solidFill>
                        <a:srgbClr val="BBBBBB"/>
                      </a:solidFill>
                      <a:prstDash val="solid"/>
                    </a:lnR>
                    <a:lnT w="6480">
                      <a:solidFill>
                        <a:srgbClr val="BBBBBB"/>
                      </a:solidFill>
                      <a:prstDash val="solid"/>
                    </a:lnT>
                    <a:lnB w="6480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Микроструктура объектов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BBBBBB"/>
                      </a:solidFill>
                      <a:prstDash val="solid"/>
                    </a:lnL>
                    <a:lnR w="6480">
                      <a:solidFill>
                        <a:srgbClr val="BBBBBB"/>
                      </a:solidFill>
                      <a:prstDash val="solid"/>
                    </a:lnR>
                    <a:lnT w="6480">
                      <a:solidFill>
                        <a:srgbClr val="BBBBBB"/>
                      </a:solidFill>
                      <a:prstDash val="solid"/>
                    </a:lnT>
                    <a:lnB w="6480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Удалённые объекты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BBBBBB"/>
                      </a:solidFill>
                      <a:prstDash val="solid"/>
                    </a:lnL>
                    <a:lnR w="6480">
                      <a:solidFill>
                        <a:srgbClr val="BBBBBB"/>
                      </a:solidFill>
                      <a:prstDash val="solid"/>
                    </a:lnR>
                    <a:lnT w="6480">
                      <a:solidFill>
                        <a:srgbClr val="BBBBBB"/>
                      </a:solidFill>
                      <a:prstDash val="solid"/>
                    </a:lnT>
                    <a:lnB w="6480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Фиксация изображения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BBBBBB"/>
                      </a:solidFill>
                      <a:prstDash val="solid"/>
                    </a:lnL>
                    <a:lnR w="6480">
                      <a:solidFill>
                        <a:srgbClr val="BBBBBB"/>
                      </a:solidFill>
                      <a:prstDash val="solid"/>
                    </a:lnR>
                    <a:lnT w="6480">
                      <a:solidFill>
                        <a:srgbClr val="BBBBBB"/>
                      </a:solidFill>
                      <a:prstDash val="solid"/>
                    </a:lnT>
                    <a:lnB w="6480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Демонстрация на экране</a:t>
                      </a:r>
                      <a:endParaRPr lang="ru-RU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BBBBBB"/>
                      </a:solidFill>
                      <a:prstDash val="solid"/>
                    </a:lnL>
                    <a:lnR w="6480">
                      <a:solidFill>
                        <a:srgbClr val="BBBBBB"/>
                      </a:solidFill>
                      <a:prstDash val="solid"/>
                    </a:lnR>
                    <a:lnT w="6480">
                      <a:solidFill>
                        <a:srgbClr val="BBBBBB"/>
                      </a:solidFill>
                      <a:prstDash val="solid"/>
                    </a:lnT>
                    <a:lnB w="6480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mc:AlternateContent>
        <mc:Choice xmlns:a14="http://schemas.microsoft.com/office/drawing/2010/main" Requires="a14">
          <p:sp>
            <p:nvSpPr>
              <p:cNvPr id="170" name=""/>
              <p:cNvSpPr txBox="1"/>
              <p:nvPr/>
            </p:nvSpPr>
            <p:spPr>
              <a:xfrm>
                <a:off x="3240000" y="3420000"/>
                <a:ext cx="816840" cy="1908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F</m:t>
                        </m:r>
                      </m:e>
                      <m:sub>
                        <m:r>
                          <m:t xml:space="preserve">об</m:t>
                        </m:r>
                      </m:sub>
                    </m:sSub>
                    <m:r>
                      <m:t xml:space="preserve">&lt;</m:t>
                    </m:r>
                    <m:r>
                      <m:t xml:space="preserve">d</m:t>
                    </m:r>
                    <m:r>
                      <m:t xml:space="preserve">&lt;</m:t>
                    </m:r>
                    <m:r>
                      <m:t xml:space="preserve">2</m:t>
                    </m:r>
                    <m:sSub>
                      <m:e>
                        <m:r>
                          <m:t xml:space="preserve">F</m:t>
                        </m:r>
                      </m:e>
                      <m:sub>
                        <m:r>
                          <m:t xml:space="preserve">об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170" name=""/>
              <p:cNvSpPr txBox="1"/>
              <p:nvPr/>
            </p:nvSpPr>
            <p:spPr>
              <a:xfrm>
                <a:off x="3240000" y="3420000"/>
                <a:ext cx="816840" cy="1908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171" name=""/>
              <p:cNvSpPr txBox="1"/>
              <p:nvPr/>
            </p:nvSpPr>
            <p:spPr>
              <a:xfrm>
                <a:off x="3240000" y="3780000"/>
                <a:ext cx="659520" cy="1908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F</m:t>
                        </m:r>
                      </m:e>
                      <m:sub>
                        <m:r>
                          <m:t xml:space="preserve">об</m:t>
                        </m:r>
                      </m:sub>
                    </m:sSub>
                    <m:r>
                      <m:t xml:space="preserve">,</m:t>
                    </m:r>
                    <m:sSub>
                      <m:e>
                        <m:r>
                          <m:t xml:space="preserve">F</m:t>
                        </m:r>
                      </m:e>
                      <m:sub>
                        <m:r>
                          <m:t xml:space="preserve">ок</m:t>
                        </m:r>
                      </m:sub>
                    </m:sSub>
                    <m:r>
                      <m:t xml:space="preserve">,</m:t>
                    </m:r>
                    <m:r>
                      <m:t xml:space="preserve">L</m:t>
                    </m:r>
                  </m:oMath>
                </a14:m>
              </a:p>
            </p:txBody>
          </p:sp>
        </mc:Choice>
        <mc:Fallback>
          <p:sp>
            <p:nvSpPr>
              <p:cNvPr id="171" name=""/>
              <p:cNvSpPr txBox="1"/>
              <p:nvPr/>
            </p:nvSpPr>
            <p:spPr>
              <a:xfrm>
                <a:off x="3240000" y="3780000"/>
                <a:ext cx="659520" cy="1908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hape 0"/>
          <p:cNvSpPr/>
          <p:nvPr/>
        </p:nvSpPr>
        <p:spPr>
          <a:xfrm>
            <a:off x="0" y="0"/>
            <a:ext cx="9143640" cy="776880"/>
          </a:xfrm>
          <a:solidFill>
            <a:srgbClr val="1A3C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"/>
          <p:cNvSpPr/>
          <p:nvPr/>
        </p:nvSpPr>
        <p:spPr>
          <a:xfrm>
            <a:off x="457200" y="45144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00000"/>
                </a:solidFill>
                <a:effectLst/>
                <a:uFillTx/>
                <a:latin typeface="Georgia"/>
                <a:ea typeface="Georgia"/>
              </a:rPr>
              <a:t>АНАЛИЗ ПРИЧИН РАЗЛИЧИЙ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2"/>
          <p:cNvSpPr/>
          <p:nvPr/>
        </p:nvSpPr>
        <p:spPr>
          <a:xfrm>
            <a:off x="0" y="777240"/>
            <a:ext cx="9143640" cy="36360"/>
          </a:xfrm>
          <a:solidFill>
            <a:srgbClr val="0288D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640" rIns="90000" bIns="-864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5"/>
          <p:cNvSpPr/>
          <p:nvPr/>
        </p:nvSpPr>
        <p:spPr>
          <a:xfrm>
            <a:off x="365760" y="1508760"/>
            <a:ext cx="8412120" cy="776880"/>
          </a:xfrm>
          <a:solidFill>
            <a:srgbClr val="FFFFFF"/>
          </a:solidFill>
          <a:ln w="6350">
            <a:solidFill>
              <a:srgbClr val="E0E0E0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6"/>
          <p:cNvSpPr/>
          <p:nvPr/>
        </p:nvSpPr>
        <p:spPr>
          <a:xfrm>
            <a:off x="365760" y="1508760"/>
            <a:ext cx="63720" cy="776880"/>
          </a:xfrm>
          <a:solidFill>
            <a:srgbClr val="0288D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7"/>
          <p:cNvSpPr/>
          <p:nvPr/>
        </p:nvSpPr>
        <p:spPr>
          <a:xfrm>
            <a:off x="594360" y="1176120"/>
            <a:ext cx="7954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288D1"/>
                </a:solidFill>
                <a:effectLst/>
                <a:uFillTx/>
                <a:latin typeface="Georgia"/>
                <a:ea typeface="Georgia"/>
              </a:rPr>
              <a:t>Увеличение и число оптических элементов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8"/>
          <p:cNvSpPr/>
          <p:nvPr/>
        </p:nvSpPr>
        <p:spPr>
          <a:xfrm>
            <a:off x="594360" y="1423080"/>
            <a:ext cx="7954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Лупа (1 линза) –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до 10×.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Микроскоп и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телескоп (2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линзы) –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двухступенчатая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схема,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увеличение до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2000×. Формула: 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9"/>
          <p:cNvSpPr/>
          <p:nvPr/>
        </p:nvSpPr>
        <p:spPr>
          <a:xfrm>
            <a:off x="365760" y="2377440"/>
            <a:ext cx="8412120" cy="776880"/>
          </a:xfrm>
          <a:solidFill>
            <a:srgbClr val="FFFFFF"/>
          </a:solidFill>
          <a:ln w="6350">
            <a:solidFill>
              <a:srgbClr val="E0E0E0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10"/>
          <p:cNvSpPr/>
          <p:nvPr/>
        </p:nvSpPr>
        <p:spPr>
          <a:xfrm>
            <a:off x="365760" y="2377440"/>
            <a:ext cx="63720" cy="776880"/>
          </a:xfrm>
          <a:solidFill>
            <a:srgbClr val="2E7D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1"/>
          <p:cNvSpPr/>
          <p:nvPr/>
        </p:nvSpPr>
        <p:spPr>
          <a:xfrm>
            <a:off x="594360" y="2044800"/>
            <a:ext cx="7954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E7D32"/>
                </a:solidFill>
                <a:effectLst/>
                <a:uFillTx/>
                <a:latin typeface="Georgia"/>
                <a:ea typeface="Georgia"/>
              </a:rPr>
              <a:t>Микроскоп и телескоп: одинаковая схема – разные задачи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12"/>
          <p:cNvSpPr/>
          <p:nvPr/>
        </p:nvSpPr>
        <p:spPr>
          <a:xfrm>
            <a:off x="594360" y="2291760"/>
            <a:ext cx="7954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Оба из объектива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и окуляра, но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различаются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расположением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предмета.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Микроскоп: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объект вблизи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короткофокусного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объектива →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большое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линейное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увеличение.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Телескоп: объект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на ∞ →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увеличение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углового размера.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13"/>
          <p:cNvSpPr/>
          <p:nvPr/>
        </p:nvSpPr>
        <p:spPr>
          <a:xfrm>
            <a:off x="365760" y="3246120"/>
            <a:ext cx="8412120" cy="776880"/>
          </a:xfrm>
          <a:solidFill>
            <a:srgbClr val="FFFFFF"/>
          </a:solidFill>
          <a:ln w="6350">
            <a:solidFill>
              <a:srgbClr val="E0E0E0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14"/>
          <p:cNvSpPr/>
          <p:nvPr/>
        </p:nvSpPr>
        <p:spPr>
          <a:xfrm>
            <a:off x="365760" y="3246120"/>
            <a:ext cx="63720" cy="776880"/>
          </a:xfrm>
          <a:solidFill>
            <a:srgbClr val="E651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5"/>
          <p:cNvSpPr/>
          <p:nvPr/>
        </p:nvSpPr>
        <p:spPr>
          <a:xfrm>
            <a:off x="594360" y="2913480"/>
            <a:ext cx="7954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65100"/>
                </a:solidFill>
                <a:effectLst/>
                <a:uFillTx/>
                <a:latin typeface="Georgia"/>
                <a:ea typeface="Georgia"/>
              </a:rPr>
              <a:t>Проекционные vs визуальные: тип изображения определяется задачей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6"/>
          <p:cNvSpPr/>
          <p:nvPr/>
        </p:nvSpPr>
        <p:spPr>
          <a:xfrm>
            <a:off x="594360" y="3160440"/>
            <a:ext cx="7954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Визуальные формируют мнимое изображение (для глаза). Проекционные – действительное (на матрице/экране). Это определяет: предмет должен быть за фокусом.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17"/>
          <p:cNvSpPr/>
          <p:nvPr/>
        </p:nvSpPr>
        <p:spPr>
          <a:xfrm>
            <a:off x="365760" y="4114800"/>
            <a:ext cx="8412120" cy="776880"/>
          </a:xfrm>
          <a:solidFill>
            <a:srgbClr val="FFFFFF"/>
          </a:solidFill>
          <a:ln w="6350">
            <a:solidFill>
              <a:srgbClr val="E0E0E0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18"/>
          <p:cNvSpPr/>
          <p:nvPr/>
        </p:nvSpPr>
        <p:spPr>
          <a:xfrm>
            <a:off x="365760" y="4114800"/>
            <a:ext cx="63720" cy="776880"/>
          </a:xfrm>
          <a:solidFill>
            <a:srgbClr val="1A3C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19"/>
          <p:cNvSpPr/>
          <p:nvPr/>
        </p:nvSpPr>
        <p:spPr>
          <a:xfrm>
            <a:off x="594360" y="3782160"/>
            <a:ext cx="7954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A3C5E"/>
                </a:solidFill>
                <a:effectLst/>
                <a:uFillTx/>
                <a:latin typeface="Georgia"/>
                <a:ea typeface="Georgia"/>
              </a:rPr>
              <a:t>Фотоаппарат и проектор: обратные задачи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20"/>
          <p:cNvSpPr/>
          <p:nvPr/>
        </p:nvSpPr>
        <p:spPr>
          <a:xfrm>
            <a:off x="594360" y="4029120"/>
            <a:ext cx="7954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Фотоаппарат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уменьшает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далёкий объект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до матрицы (d ≫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F, Г &lt; 1). Проектор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увеличивает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слайд до экрана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(F &lt; d &lt; 2F, Г &gt; 1).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Обе задачи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решаются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собирающей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линзой.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91" name=""/>
              <p:cNvSpPr txBox="1"/>
              <p:nvPr/>
            </p:nvSpPr>
            <p:spPr>
              <a:xfrm>
                <a:off x="1373760" y="1689120"/>
                <a:ext cx="786240" cy="1908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Г</m:t>
                    </m:r>
                    <m:r>
                      <m:t xml:space="preserve">=</m:t>
                    </m:r>
                    <m:sSub>
                      <m:e>
                        <m:r>
                          <m:t xml:space="preserve">Г</m:t>
                        </m:r>
                      </m:e>
                      <m:sub>
                        <m:r>
                          <m:t xml:space="preserve">об</m:t>
                        </m:r>
                      </m:sub>
                    </m:sSub>
                    <m:r>
                      <m:t xml:space="preserve">×</m:t>
                    </m:r>
                    <m:sSub>
                      <m:e>
                        <m:r>
                          <m:t xml:space="preserve">Г</m:t>
                        </m:r>
                      </m:e>
                      <m:sub>
                        <m:r>
                          <m:t xml:space="preserve">ок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191" name=""/>
              <p:cNvSpPr txBox="1"/>
              <p:nvPr/>
            </p:nvSpPr>
            <p:spPr>
              <a:xfrm>
                <a:off x="1373760" y="1689120"/>
                <a:ext cx="786240" cy="19080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Shape 0"/>
          <p:cNvSpPr/>
          <p:nvPr/>
        </p:nvSpPr>
        <p:spPr>
          <a:xfrm>
            <a:off x="0" y="0"/>
            <a:ext cx="9143640" cy="776880"/>
          </a:xfrm>
          <a:solidFill>
            <a:srgbClr val="1A3C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1"/>
          <p:cNvSpPr/>
          <p:nvPr/>
        </p:nvSpPr>
        <p:spPr>
          <a:xfrm>
            <a:off x="457200" y="9144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00000"/>
                </a:solidFill>
                <a:effectLst/>
                <a:uFillTx/>
                <a:latin typeface="Georgia"/>
                <a:ea typeface="Georgia"/>
              </a:rPr>
              <a:t>ОБЩИ</a:t>
            </a:r>
            <a:r>
              <a:rPr lang="en-US" sz="2600" b="1" u="none" strike="noStrike">
                <a:solidFill>
                  <a:srgbClr val="000000"/>
                </a:solidFill>
                <a:effectLst/>
                <a:uFillTx/>
                <a:latin typeface="Georgia"/>
                <a:ea typeface="Georgia"/>
              </a:rPr>
              <a:t>Й </a:t>
            </a:r>
            <a:r>
              <a:rPr lang="en-US" sz="2600" b="1" u="none" strike="noStrike">
                <a:solidFill>
                  <a:srgbClr val="000000"/>
                </a:solidFill>
                <a:effectLst/>
                <a:uFillTx/>
                <a:latin typeface="Georgia"/>
                <a:ea typeface="Georgia"/>
              </a:rPr>
              <a:t>ВЫВОД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2"/>
          <p:cNvSpPr/>
          <p:nvPr/>
        </p:nvSpPr>
        <p:spPr>
          <a:xfrm>
            <a:off x="0" y="777240"/>
            <a:ext cx="9143640" cy="36360"/>
          </a:xfrm>
          <a:solidFill>
            <a:srgbClr val="0288D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640" rIns="90000" bIns="-864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4"/>
          <p:cNvSpPr/>
          <p:nvPr/>
        </p:nvSpPr>
        <p:spPr>
          <a:xfrm>
            <a:off x="365760" y="1005840"/>
            <a:ext cx="8412120" cy="1188360"/>
          </a:xfrm>
          <a:solidFill>
            <a:srgbClr val="FFFFFF"/>
          </a:solidFill>
          <a:ln w="6350">
            <a:solidFill>
              <a:srgbClr val="E0E0E0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5"/>
          <p:cNvSpPr/>
          <p:nvPr/>
        </p:nvSpPr>
        <p:spPr>
          <a:xfrm>
            <a:off x="365760" y="1005840"/>
            <a:ext cx="8412120" cy="36360"/>
          </a:xfrm>
          <a:solidFill>
            <a:srgbClr val="2E7D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640" rIns="90000" bIns="-864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6"/>
          <p:cNvSpPr/>
          <p:nvPr/>
        </p:nvSpPr>
        <p:spPr>
          <a:xfrm>
            <a:off x="548640" y="737280"/>
            <a:ext cx="8046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3C5E"/>
                </a:solidFill>
                <a:effectLst/>
                <a:uFillTx/>
                <a:latin typeface="Georgia"/>
                <a:ea typeface="Georgia"/>
              </a:rPr>
              <a:t>Сравнительный анализ подтверждает выдвинутую гипотезу: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7"/>
          <p:cNvSpPr/>
          <p:nvPr/>
        </p:nvSpPr>
        <p:spPr>
          <a:xfrm>
            <a:off x="548640" y="1103040"/>
            <a:ext cx="8046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характеристики оптического прибора – тип изображения, увеличение, конструктивная сложность – определяются его назначением. Приборы, решающие различные задачи, различаются не случайно, а закономерно.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8"/>
          <p:cNvSpPr/>
          <p:nvPr/>
        </p:nvSpPr>
        <p:spPr>
          <a:xfrm>
            <a:off x="365760" y="2377440"/>
            <a:ext cx="8412120" cy="2468520"/>
          </a:xfrm>
          <a:solidFill>
            <a:srgbClr val="FFFFFF"/>
          </a:solidFill>
          <a:ln w="6350">
            <a:solidFill>
              <a:srgbClr val="E0E0E0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9"/>
          <p:cNvSpPr/>
          <p:nvPr/>
        </p:nvSpPr>
        <p:spPr>
          <a:xfrm>
            <a:off x="554400" y="206316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E7D32"/>
                </a:solidFill>
                <a:effectLst/>
                <a:uFillTx/>
                <a:latin typeface="Georgia"/>
                <a:ea typeface="Georgia"/>
              </a:rPr>
              <a:t>Результаты работы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10"/>
          <p:cNvSpPr/>
          <p:nvPr/>
        </p:nvSpPr>
        <p:spPr>
          <a:xfrm>
            <a:off x="594360" y="2880360"/>
            <a:ext cx="200880" cy="200880"/>
          </a:xfrm>
          <a:solidFill>
            <a:srgbClr val="2E7D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11"/>
          <p:cNvSpPr/>
          <p:nvPr/>
        </p:nvSpPr>
        <p:spPr>
          <a:xfrm>
            <a:off x="234360" y="2520360"/>
            <a:ext cx="200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ru-RU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12"/>
          <p:cNvSpPr/>
          <p:nvPr/>
        </p:nvSpPr>
        <p:spPr>
          <a:xfrm>
            <a:off x="554400" y="2474640"/>
            <a:ext cx="7680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Рассмотрены физические основы работы оптических приборов: законы отражения и преломления, свойства линз, формула тонкой линзы.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13"/>
          <p:cNvSpPr/>
          <p:nvPr/>
        </p:nvSpPr>
        <p:spPr>
          <a:xfrm>
            <a:off x="594360" y="3264480"/>
            <a:ext cx="200880" cy="200880"/>
          </a:xfrm>
          <a:solidFill>
            <a:srgbClr val="2E7D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14"/>
          <p:cNvSpPr/>
          <p:nvPr/>
        </p:nvSpPr>
        <p:spPr>
          <a:xfrm>
            <a:off x="234360" y="2904480"/>
            <a:ext cx="200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ru-RU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5"/>
          <p:cNvSpPr/>
          <p:nvPr/>
        </p:nvSpPr>
        <p:spPr>
          <a:xfrm>
            <a:off x="554400" y="2858760"/>
            <a:ext cx="7680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Для каждого из пяти приборов описаны устройство, ход лучей и ключевые характеристики.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16"/>
          <p:cNvSpPr/>
          <p:nvPr/>
        </p:nvSpPr>
        <p:spPr>
          <a:xfrm>
            <a:off x="594360" y="3648600"/>
            <a:ext cx="200880" cy="200880"/>
          </a:xfrm>
          <a:solidFill>
            <a:srgbClr val="2E7D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17"/>
          <p:cNvSpPr/>
          <p:nvPr/>
        </p:nvSpPr>
        <p:spPr>
          <a:xfrm>
            <a:off x="234360" y="3288600"/>
            <a:ext cx="200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ru-RU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18"/>
          <p:cNvSpPr/>
          <p:nvPr/>
        </p:nvSpPr>
        <p:spPr>
          <a:xfrm>
            <a:off x="554400" y="3242880"/>
            <a:ext cx="7680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Составлена сравнительная таблица, систематизирующая данные о приборах.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19"/>
          <p:cNvSpPr/>
          <p:nvPr/>
        </p:nvSpPr>
        <p:spPr>
          <a:xfrm>
            <a:off x="594360" y="4032360"/>
            <a:ext cx="200880" cy="200880"/>
          </a:xfrm>
          <a:solidFill>
            <a:srgbClr val="2E7D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20"/>
          <p:cNvSpPr/>
          <p:nvPr/>
        </p:nvSpPr>
        <p:spPr>
          <a:xfrm>
            <a:off x="234360" y="3672360"/>
            <a:ext cx="200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ru-RU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21"/>
          <p:cNvSpPr/>
          <p:nvPr/>
        </p:nvSpPr>
        <p:spPr>
          <a:xfrm>
            <a:off x="554400" y="3626640"/>
            <a:ext cx="7680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Проведён анализ причин различий, установлена связь между конструкцией прибора и его назначением.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22"/>
          <p:cNvSpPr/>
          <p:nvPr/>
        </p:nvSpPr>
        <p:spPr>
          <a:xfrm>
            <a:off x="594360" y="4416480"/>
            <a:ext cx="200880" cy="200880"/>
          </a:xfrm>
          <a:solidFill>
            <a:srgbClr val="2E7D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23"/>
          <p:cNvSpPr/>
          <p:nvPr/>
        </p:nvSpPr>
        <p:spPr>
          <a:xfrm>
            <a:off x="234360" y="4056480"/>
            <a:ext cx="200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ru-RU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24"/>
          <p:cNvSpPr/>
          <p:nvPr/>
        </p:nvSpPr>
        <p:spPr>
          <a:xfrm>
            <a:off x="554400" y="4010760"/>
            <a:ext cx="7680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Гипотеза подтверждена: каждая конструктивная особенность обусловлена физической задачей.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Shape 0"/>
          <p:cNvSpPr/>
          <p:nvPr/>
        </p:nvSpPr>
        <p:spPr>
          <a:xfrm>
            <a:off x="0" y="0"/>
            <a:ext cx="9143640" cy="776880"/>
          </a:xfrm>
          <a:solidFill>
            <a:srgbClr val="1A3C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1"/>
          <p:cNvSpPr/>
          <p:nvPr/>
        </p:nvSpPr>
        <p:spPr>
          <a:xfrm>
            <a:off x="457200" y="45144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00000"/>
                </a:solidFill>
                <a:effectLst/>
                <a:uFillTx/>
                <a:latin typeface="Georgia"/>
                <a:ea typeface="Georgia"/>
              </a:rPr>
              <a:t>СПИСОК ЛИТЕРАТУРЫ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2"/>
          <p:cNvSpPr/>
          <p:nvPr/>
        </p:nvSpPr>
        <p:spPr>
          <a:xfrm>
            <a:off x="0" y="777240"/>
            <a:ext cx="9143640" cy="36360"/>
          </a:xfrm>
          <a:solidFill>
            <a:srgbClr val="0288D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640" rIns="90000" bIns="-864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4"/>
          <p:cNvSpPr/>
          <p:nvPr/>
        </p:nvSpPr>
        <p:spPr>
          <a:xfrm>
            <a:off x="365760" y="1463040"/>
            <a:ext cx="8412120" cy="3200040"/>
          </a:xfrm>
          <a:solidFill>
            <a:srgbClr val="FFFFFF"/>
          </a:solidFill>
          <a:ln w="6350">
            <a:solidFill>
              <a:srgbClr val="E0E0E0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5"/>
          <p:cNvSpPr/>
          <p:nvPr/>
        </p:nvSpPr>
        <p:spPr>
          <a:xfrm>
            <a:off x="640080" y="124020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1. Мякишев Г.Я., 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Буховцев Б.Б., 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Сотский Н.Н. 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Физика. 11 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класс: учебник 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для 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общеобразовате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льных 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организаций – 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М.: 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Просвещение, 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2023.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6"/>
          <p:cNvSpPr/>
          <p:nvPr/>
        </p:nvSpPr>
        <p:spPr>
          <a:xfrm>
            <a:off x="640080" y="1743120"/>
            <a:ext cx="7863840" cy="360"/>
          </a:xfrm>
          <a:prstGeom prst="line">
            <a:avLst/>
          </a:prstGeom>
          <a:ln w="6350">
            <a:solidFill>
              <a:srgbClr val="E0E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7"/>
          <p:cNvSpPr/>
          <p:nvPr/>
        </p:nvSpPr>
        <p:spPr>
          <a:xfrm>
            <a:off x="640080" y="178884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2. Савельев И.В. Курс общей физики: в 3 т. Т. 2. Электричество и магнетизм. Волны. Оптика – СПб.: Лань, 2019.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8"/>
          <p:cNvSpPr/>
          <p:nvPr/>
        </p:nvSpPr>
        <p:spPr>
          <a:xfrm>
            <a:off x="640080" y="2291760"/>
            <a:ext cx="7863840" cy="360"/>
          </a:xfrm>
          <a:prstGeom prst="line">
            <a:avLst/>
          </a:prstGeom>
          <a:ln w="6350">
            <a:solidFill>
              <a:srgbClr val="E0E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9"/>
          <p:cNvSpPr/>
          <p:nvPr/>
        </p:nvSpPr>
        <p:spPr>
          <a:xfrm>
            <a:off x="640080" y="233748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3. 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Ландсбер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г Г.С. 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Оптика – 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М.: 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ФИЗМАТ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ЛИТ, 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2017.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10"/>
          <p:cNvSpPr/>
          <p:nvPr/>
        </p:nvSpPr>
        <p:spPr>
          <a:xfrm>
            <a:off x="640080" y="2840400"/>
            <a:ext cx="7863840" cy="360"/>
          </a:xfrm>
          <a:prstGeom prst="line">
            <a:avLst/>
          </a:prstGeom>
          <a:ln w="6350">
            <a:solidFill>
              <a:srgbClr val="E0E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11"/>
          <p:cNvSpPr/>
          <p:nvPr/>
        </p:nvSpPr>
        <p:spPr>
          <a:xfrm>
            <a:off x="640080" y="288612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4. Сивухин Д.В. Общий курс физики: в 5 т. Т. 4. Оптика – М.: ФИЗМАТЛИТ, 2005.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12"/>
          <p:cNvSpPr/>
          <p:nvPr/>
        </p:nvSpPr>
        <p:spPr>
          <a:xfrm>
            <a:off x="640080" y="3389040"/>
            <a:ext cx="7863840" cy="360"/>
          </a:xfrm>
          <a:prstGeom prst="line">
            <a:avLst/>
          </a:prstGeom>
          <a:ln w="6350">
            <a:solidFill>
              <a:srgbClr val="E0E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13"/>
          <p:cNvSpPr/>
          <p:nvPr/>
        </p:nvSpPr>
        <p:spPr>
          <a:xfrm>
            <a:off x="640080" y="343476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5. Трофимова Т.И. Курс физики – М.: Академия, 2006.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Shape 0"/>
          <p:cNvSpPr/>
          <p:nvPr/>
        </p:nvSpPr>
        <p:spPr>
          <a:xfrm>
            <a:off x="0" y="0"/>
            <a:ext cx="9143640" cy="109440"/>
          </a:xfrm>
          <a:solidFill>
            <a:srgbClr val="0288D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1"/>
          <p:cNvSpPr/>
          <p:nvPr/>
        </p:nvSpPr>
        <p:spPr>
          <a:xfrm>
            <a:off x="0" y="5033880"/>
            <a:ext cx="9143640" cy="109440"/>
          </a:xfrm>
          <a:solidFill>
            <a:srgbClr val="0288D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2"/>
          <p:cNvSpPr/>
          <p:nvPr/>
        </p:nvSpPr>
        <p:spPr>
          <a:xfrm>
            <a:off x="457200" y="914400"/>
            <a:ext cx="82292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СПАСИБО ЗА ВНИМАНИЕ!</a:t>
            </a:r>
            <a:endParaRPr lang="ru-RU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3"/>
          <p:cNvSpPr/>
          <p:nvPr/>
        </p:nvSpPr>
        <p:spPr>
          <a:xfrm>
            <a:off x="914400" y="2377440"/>
            <a:ext cx="7314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288D1"/>
                </a:solidFill>
                <a:effectLst/>
                <a:uFillTx/>
                <a:latin typeface="Calibri"/>
                <a:ea typeface="Calibri"/>
              </a:rPr>
              <a:t>Оптические приборы: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288D1"/>
                </a:solidFill>
                <a:effectLst/>
                <a:uFillTx/>
                <a:latin typeface="Calibri"/>
                <a:ea typeface="Calibri"/>
              </a:rPr>
              <a:t>устройство и принцип действия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4"/>
          <p:cNvSpPr/>
          <p:nvPr/>
        </p:nvSpPr>
        <p:spPr>
          <a:xfrm>
            <a:off x="2286000" y="3383280"/>
            <a:ext cx="4571640" cy="1096920"/>
          </a:xfrm>
          <a:solidFill>
            <a:srgbClr val="FFFFFF"/>
          </a:solidFill>
          <a:ln w="6350">
            <a:solidFill>
              <a:srgbClr val="E0E0E0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5"/>
          <p:cNvSpPr/>
          <p:nvPr/>
        </p:nvSpPr>
        <p:spPr>
          <a:xfrm>
            <a:off x="2468880" y="3474720"/>
            <a:ext cx="42058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XXXXXXX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XXXXXXX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Руководитель: XXXXXXX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LibreOffice/26.2.3.2$Linux_X86_64 LibreOffice_project/7d74455cffae7a589951233f185ae0303c082020</Application>
  <AppVersion>15.0000</AppVersion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2026-05-19T19:10:58Z</dcterms:created>
  <dc:creator/>
  <dc:description/>
  <dc:language>ru-RU</dc:language>
  <cp:lastModifiedBy/>
  <dcterms:modified xsi:type="dcterms:W3CDTF">2026-05-19T23:44:41Z</dcterms:modified>
  <cp:revision>3</cp:revision>
  <dc:subject>PptxGenJS Presentation</dc:subject>
  <dc:title>Оптические приборы: устройство и принцип действия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17</vt:i4>
  </property>
  <property fmtid="{D5CDD505-2E9C-101B-9397-08002B2CF9AE}" pid="3" name="PresentationFormat">
    <vt:lpwstr>On-screen Show (16:9)</vt:lpwstr>
  </property>
  <property fmtid="{D5CDD505-2E9C-101B-9397-08002B2CF9AE}" pid="4" name="Slides">
    <vt:i4>17</vt:i4>
  </property>
</Properties>
</file>